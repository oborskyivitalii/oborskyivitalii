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d47567c07bb4e08" /><Relationship Type="http://schemas.openxmlformats.org/officeDocument/2006/relationships/extended-properties" Target="/docProps/app.xml" Id="Rb7fadf0974124d86" /><Relationship Type="http://schemas.openxmlformats.org/officeDocument/2006/relationships/officeDocument" Target="/ppt/presentation.xml" Id="R2ed83644920a4589" /></Relationships>
</file>

<file path=ppt/presentation.xml><?xml version="1.0" encoding="utf-8"?>
<p:presentation xmlns:p="http://schemas.openxmlformats.org/presentationml/2006/main">
  <p:sldMasterIdLst>
    <p:sldMasterId xmlns:r="http://schemas.openxmlformats.org/officeDocument/2006/relationships" id="2147483648" r:id="R77d7b5f966ea40dc"/>
  </p:sldMasterIdLst>
  <p:notesMasterIdLst>
    <p:notesMasterId xmlns:r="http://schemas.openxmlformats.org/officeDocument/2006/relationships" r:id="R04be28827726481a"/>
  </p:notesMasterIdLst>
  <p:sldIdLst>
    <p:sldId xmlns:r="http://schemas.openxmlformats.org/officeDocument/2006/relationships" id="256" r:id="R0a677aadf31148fa"/>
    <p:sldId xmlns:r="http://schemas.openxmlformats.org/officeDocument/2006/relationships" id="258" r:id="R5338469d95fb48be"/>
    <p:sldId xmlns:r="http://schemas.openxmlformats.org/officeDocument/2006/relationships" id="259" r:id="Rd1d5f3c465534863"/>
    <p:sldId xmlns:r="http://schemas.openxmlformats.org/officeDocument/2006/relationships" id="260" r:id="Rce2d980faf6d45bf"/>
    <p:sldId xmlns:r="http://schemas.openxmlformats.org/officeDocument/2006/relationships" id="262" r:id="R89e1b67663e344ec"/>
    <p:sldId xmlns:r="http://schemas.openxmlformats.org/officeDocument/2006/relationships" id="264" r:id="R04a012f9c3284cc7"/>
    <p:sldId xmlns:r="http://schemas.openxmlformats.org/officeDocument/2006/relationships" id="265" r:id="Rc34af7d18bda4cfd"/>
    <p:sldId xmlns:r="http://schemas.openxmlformats.org/officeDocument/2006/relationships" id="267" r:id="Rada2458896764b16"/>
    <p:sldId xmlns:r="http://schemas.openxmlformats.org/officeDocument/2006/relationships" id="268" r:id="R6bbac3830afc4e6f"/>
    <p:sldId xmlns:r="http://schemas.openxmlformats.org/officeDocument/2006/relationships" id="269" r:id="R84612743f64d4346"/>
    <p:sldId xmlns:r="http://schemas.openxmlformats.org/officeDocument/2006/relationships" id="270" r:id="R54571d04add44e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Relationships xmlns="http://schemas.openxmlformats.org/package/2006/relationships"><Relationship Type="http://schemas.openxmlformats.org/officeDocument/2006/relationships/theme" Target="/ppt/theme/theme1.xml" Id="R77bbd972e71e43b3" /><Relationship Type="http://schemas.openxmlformats.org/officeDocument/2006/relationships/slideMaster" Target="/ppt/slideMasters/slideMaster1.xml" Id="R77d7b5f966ea40dc" /><Relationship Type="http://schemas.openxmlformats.org/officeDocument/2006/relationships/notesMaster" Target="/ppt/notesMasters/notesMaster1.xml" Id="R04be28827726481a" /><Relationship Type="http://schemas.openxmlformats.org/officeDocument/2006/relationships/presProps" Target="/ppt/presProps.xml" Id="R66fd29477c784a39" /><Relationship Type="http://schemas.openxmlformats.org/officeDocument/2006/relationships/tableStyles" Target="/ppt/tableStyles.xml" Id="R4a5fa1262d48497b" /><Relationship Type="http://schemas.openxmlformats.org/officeDocument/2006/relationships/slide" Target="/ppt/slides/slide1.xml" Id="R0a677aadf31148fa" /><Relationship Type="http://schemas.openxmlformats.org/officeDocument/2006/relationships/slide" Target="/ppt/slides/slide2.xml" Id="R5338469d95fb48be" /><Relationship Type="http://schemas.openxmlformats.org/officeDocument/2006/relationships/slide" Target="/ppt/slides/slide3.xml" Id="Rd1d5f3c465534863" /><Relationship Type="http://schemas.openxmlformats.org/officeDocument/2006/relationships/slide" Target="/ppt/slides/slide4.xml" Id="Rce2d980faf6d45bf" /><Relationship Type="http://schemas.openxmlformats.org/officeDocument/2006/relationships/slide" Target="/ppt/slides/slide5.xml" Id="R89e1b67663e344ec" /><Relationship Type="http://schemas.openxmlformats.org/officeDocument/2006/relationships/slide" Target="/ppt/slides/slide6.xml" Id="R04a012f9c3284cc7" /><Relationship Type="http://schemas.openxmlformats.org/officeDocument/2006/relationships/slide" Target="/ppt/slides/slide7.xml" Id="Rc34af7d18bda4cfd" /><Relationship Type="http://schemas.openxmlformats.org/officeDocument/2006/relationships/slide" Target="/ppt/slides/slide8.xml" Id="Rada2458896764b16" /><Relationship Type="http://schemas.openxmlformats.org/officeDocument/2006/relationships/slide" Target="/ppt/slides/slide9.xml" Id="R6bbac3830afc4e6f" /><Relationship Type="http://schemas.openxmlformats.org/officeDocument/2006/relationships/slide" Target="/ppt/slides/slide10.xml" Id="R84612743f64d4346" /><Relationship Type="http://schemas.openxmlformats.org/officeDocument/2006/relationships/slide" Target="/ppt/slides/slide11.xml" Id="R54571d04add44e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3ee3d1321c40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Relationships xmlns="http://schemas.openxmlformats.org/package/2006/relationships"><Relationship Type="http://schemas.openxmlformats.org/officeDocument/2006/relationships/slide" Target="/ppt/slides/slide1.xml" Id="Rf23342000dda424a" /><Relationship Type="http://schemas.openxmlformats.org/officeDocument/2006/relationships/notesMaster" Target="/ppt/notesMasters/notesMaster1.xml" Id="R54557875293e4e9f" /></Relationships>
</file>

<file path=ppt/notesSlides/_rels/notesSlide2.xml.rels><?xml version="1.0" encoding="utf-8"?><Relationships xmlns="http://schemas.openxmlformats.org/package/2006/relationships"><Relationship Type="http://schemas.openxmlformats.org/officeDocument/2006/relationships/slide" Target="/ppt/slides/slide2.xml" Id="R2f440f6fbe0c43d2" /><Relationship Type="http://schemas.openxmlformats.org/officeDocument/2006/relationships/notesMaster" Target="/ppt/notesMasters/notesMaster1.xml" Id="R07ecf341b56741df" /></Relationships>
</file>

<file path=ppt/notesSlides/_rels/notesSlide3.xml.rels><?xml version="1.0" encoding="utf-8"?><Relationships xmlns="http://schemas.openxmlformats.org/package/2006/relationships"><Relationship Type="http://schemas.openxmlformats.org/officeDocument/2006/relationships/slide" Target="/ppt/slides/slide3.xml" Id="Rb0a1e7ffcc3445cf" /><Relationship Type="http://schemas.openxmlformats.org/officeDocument/2006/relationships/notesMaster" Target="/ppt/notesMasters/notesMaster1.xml" Id="R029e595928f74738" /></Relationships>
</file>

<file path=ppt/notesSlides/_rels/notesSlide4.xml.rels><?xml version="1.0" encoding="utf-8"?><Relationships xmlns="http://schemas.openxmlformats.org/package/2006/relationships"><Relationship Type="http://schemas.openxmlformats.org/officeDocument/2006/relationships/slide" Target="/ppt/slides/slide4.xml" Id="Rafbe2f1a325349dc" /><Relationship Type="http://schemas.openxmlformats.org/officeDocument/2006/relationships/notesMaster" Target="/ppt/notesMasters/notesMaster1.xml" Id="R0d131d9b244f42de" /></Relationships>
</file>

<file path=ppt/notesSlides/_rels/notesSlide5.xml.rels><?xml version="1.0" encoding="utf-8"?><Relationships xmlns="http://schemas.openxmlformats.org/package/2006/relationships"><Relationship Type="http://schemas.openxmlformats.org/officeDocument/2006/relationships/slide" Target="/ppt/slides/slide5.xml" Id="R56503d3713724474" /><Relationship Type="http://schemas.openxmlformats.org/officeDocument/2006/relationships/notesMaster" Target="/ppt/notesMasters/notesMaster1.xml" Id="R0ce6b1201c644d8f" /></Relationships>
</file>

<file path=ppt/notesSlides/_rels/notesSlide6.xml.rels><?xml version="1.0" encoding="utf-8"?><Relationships xmlns="http://schemas.openxmlformats.org/package/2006/relationships"><Relationship Type="http://schemas.openxmlformats.org/officeDocument/2006/relationships/slide" Target="/ppt/slides/slide6.xml" Id="Ra89dc6f09bbe4fca" /><Relationship Type="http://schemas.openxmlformats.org/officeDocument/2006/relationships/notesMaster" Target="/ppt/notesMasters/notesMaster1.xml" Id="R6c456551dfbb405f" /></Relationships>
</file>

<file path=ppt/notesSlides/_rels/notesSlide7.xml.rels><?xml version="1.0" encoding="utf-8"?><Relationships xmlns="http://schemas.openxmlformats.org/package/2006/relationships"><Relationship Type="http://schemas.openxmlformats.org/officeDocument/2006/relationships/slide" Target="/ppt/slides/slide7.xml" Id="R68031c908ee34d62" /><Relationship Type="http://schemas.openxmlformats.org/officeDocument/2006/relationships/notesMaster" Target="/ppt/notesMasters/notesMaster1.xml" Id="R8128552bbe2d4c4a" /></Relationships>
</file>

<file path=ppt/notesSlides/_rels/notesSlide8.xml.rels><?xml version="1.0" encoding="utf-8"?><Relationships xmlns="http://schemas.openxmlformats.org/package/2006/relationships"><Relationship Type="http://schemas.openxmlformats.org/officeDocument/2006/relationships/slide" Target="/ppt/slides/slide8.xml" Id="R3227d2f56fc64b94" /><Relationship Type="http://schemas.openxmlformats.org/officeDocument/2006/relationships/notesMaster" Target="/ppt/notesMasters/notesMaster1.xml" Id="R4b5d9708fa0f44fc" /></Relationships>
</file>

<file path=ppt/notesSlides/_rels/notesSlide9.xml.rels><?xml version="1.0" encoding="utf-8"?><Relationships xmlns="http://schemas.openxmlformats.org/package/2006/relationships"><Relationship Type="http://schemas.openxmlformats.org/officeDocument/2006/relationships/slide" Target="/ppt/slides/slide9.xml" Id="Rfabde8af863a4d3d" /><Relationship Type="http://schemas.openxmlformats.org/officeDocument/2006/relationships/notesMaster" Target="/ppt/notesMasters/notesMaster1.xml" Id="R2a70af3203c34bf8" /></Relationships>
</file>

<file path=ppt/notesSlides/_rels/notesSlide10.xml.rels><?xml version="1.0" encoding="utf-8"?><Relationships xmlns="http://schemas.openxmlformats.org/package/2006/relationships"><Relationship Type="http://schemas.openxmlformats.org/officeDocument/2006/relationships/slide" Target="/ppt/slides/slide10.xml" Id="R0d10c7fd7e9a42c3" /><Relationship Type="http://schemas.openxmlformats.org/officeDocument/2006/relationships/notesMaster" Target="/ppt/notesMasters/notesMaster1.xml" Id="R64066f08f4dc4018" /></Relationships>
</file>

<file path=ppt/notesSlides/_rels/notesSlide11.xml.rels><?xml version="1.0" encoding="utf-8"?><Relationships xmlns="http://schemas.openxmlformats.org/package/2006/relationships"><Relationship Type="http://schemas.openxmlformats.org/officeDocument/2006/relationships/slide" Target="/ppt/slides/slide11.xml" Id="R8340529930f9404b" /><Relationship Type="http://schemas.openxmlformats.org/officeDocument/2006/relationships/notesMaster" Target="/ppt/notesMasters/notesMaster1.xml" Id="R538e7c1951d540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AI Changes the Delivery System and the Product Itself</a:t>
            </a:r>
          </a:p>
          <a:p xmlns:a="http://schemas.openxmlformats.org/drawingml/2006/main">
            <a:r>
              <a:rPr lang="en-GB"/>
              <a:t/>
            </a:r>
          </a:p>
          <a:p xmlns:a="http://schemas.openxmlformats.org/drawingml/2006/main">
            <a:r>
              <a:rPr lang="en-GB"/>
              <a:t>**00:00–01:30 · PMDay source slide 1**</a:t>
            </a:r>
          </a:p>
          <a:p xmlns:a="http://schemas.openxmlformats.org/drawingml/2006/main">
            <a:r>
              <a:rPr lang="en-GB"/>
              <a:t/>
            </a:r>
          </a:p>
          <a:p xmlns:a="http://schemas.openxmlformats.org/drawingml/2006/main">
            <a:r>
              <a:rPr lang="en-GB"/>
              <a:t>We have a familiar way of talking about a new technology: what can it do for us?</a:t>
            </a:r>
          </a:p>
          <a:p xmlns:a="http://schemas.openxmlformats.org/drawingml/2006/main">
            <a:r>
              <a:rPr lang="en-GB"/>
              <a:t/>
            </a:r>
          </a:p>
          <a:p xmlns:a="http://schemas.openxmlformats.org/drawingml/2006/main">
            <a:r>
              <a:rPr lang="en-GB"/>
              <a:t>With AI, I think we need a second question: what kinds of judgment are we now willing to delegate?</a:t>
            </a:r>
          </a:p>
          <a:p xmlns:a="http://schemas.openxmlformats.org/drawingml/2006/main">
            <a:r>
              <a:rPr lang="en-GB"/>
              <a:t/>
            </a:r>
          </a:p>
          <a:p xmlns:a="http://schemas.openxmlformats.org/drawingml/2006/main">
            <a:r>
              <a:rPr lang="en-GB"/>
              <a:t>We delegate memory to written records, and calculation to machines. With language models, we can also delegate parts of interpretation: turning an intention into a design, choosing an implementation, assessing an answer.</a:t>
            </a:r>
          </a:p>
          <a:p xmlns:a="http://schemas.openxmlformats.org/drawingml/2006/main">
            <a:r>
              <a:rPr lang="en-GB"/>
              <a:t/>
            </a:r>
          </a:p>
          <a:p xmlns:a="http://schemas.openxmlformats.org/drawingml/2006/main">
            <a:r>
              <a:rPr lang="en-GB"/>
              <a:t>By “thinking,” I mean this cognitive work: interpretation and judgment. I am not making a claim about consciousness.</a:t>
            </a:r>
          </a:p>
          <a:p xmlns:a="http://schemas.openxmlformats.org/drawingml/2006/main">
            <a:r>
              <a:rPr lang="en-GB"/>
              <a:t/>
            </a:r>
          </a:p>
          <a:p xmlns:a="http://schemas.openxmlformats.org/drawingml/2006/main">
            <a:r>
              <a:rPr lang="en-GB"/>
              <a:t>That shift has two consequences for software engineering. AI changes how we build software. It also changes what we build, when model judgment becomes part of the product itself.</a:t>
            </a:r>
          </a:p>
          <a:p xmlns:a="http://schemas.openxmlformats.org/drawingml/2006/main">
            <a:r>
              <a:rPr lang="en-GB"/>
              <a:t/>
            </a:r>
          </a:p>
          <a:p xmlns:a="http://schemas.openxmlformats.org/drawingml/2006/main">
            <a:r>
              <a:rPr lang="en-GB"/>
              <a:t>Today I want to connect those two changes through one question: when we move cognitive work into a machine, what else must move so that the whole system remains understandable, accountable and operable?</a:t>
            </a:r>
          </a:p>
          <a:p xmlns:a="http://schemas.openxmlformats.org/drawingml/2006/main">
            <a:r>
              <a:rPr lang="en-GB"/>
              <a:t/>
            </a:r>
          </a:p>
          <a:p xmlns:a="http://schemas.openxmlformats.org/drawingml/2006/main">
            <a:r>
              <a:rPr lang="en-GB"/>
              <a:t>[Pause. Move to the delivery flow.]</a:t>
            </a:r>
          </a:p>
          <a:p xmlns:a="http://schemas.openxmlformats.org/drawingml/2006/main">
            <a:r>
              <a:rPr lang="en-GB"/>
              <a:t/>
            </a:r>
          </a:p>
          <a:p xmlns:a="http://schemas.openxmlformats.org/drawingml/2006/main">
            <a:r>
              <a:rPr lang="en-GB"/>
              <a:t>### Preparation sources</a:t>
            </a:r>
          </a:p>
          <a:p xmlns:a="http://schemas.openxmlformats.org/drawingml/2006/main">
            <a:r>
              <a:rPr lang="en-GB"/>
              <a:t/>
            </a:r>
          </a:p>
          <a:p xmlns:a="http://schemas.openxmlformats.org/drawingml/2006/main">
            <a:r>
              <a:rPr lang="en-GB"/>
              <a:t>- Source presentation: https://github.com/UncertaintyArchitectureGroup/uncertainty-architecture/blob/22639d311d5fb46a23f3d5cdd819800dbe1169d9/assets/presentations/pmday-2026/README.md</a:t>
            </a:r>
          </a:p>
          <a:p xmlns:a="http://schemas.openxmlformats.org/drawingml/2006/main">
            <a:r>
              <a:rPr lang="en-GB"/>
              <a:t>- Cover illustration: OpenAI imagegen, 21 September 2026, retained from PMDay v35.</a:t>
            </a:r>
          </a:p>
          <a:p xmlns:a="http://schemas.openxmlformats.org/drawingml/2006/main">
            <a:r>
              <a:rPr lang="en-GB"/>
              <a:t>- Artwork provenance: https://github.com/UncertaintyArchitectureGroup/uncertainty-architecture/blob/22639d311d5fb46a23f3d5cdd819800dbe1169d9/assets/presentations/pmday-2026/artwork/PROVENANCE.md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We Accelerated a Step. Not the System.</a:t>
            </a:r>
          </a:p>
          <a:p xmlns:a="http://schemas.openxmlformats.org/drawingml/2006/main">
            <a:r>
              <a:rPr lang="en-GB"/>
              <a:t/>
            </a:r>
          </a:p>
          <a:p xmlns:a="http://schemas.openxmlformats.org/drawingml/2006/main">
            <a:r>
              <a:rPr lang="en-GB"/>
              <a:t>**01:30–03:30 · PMDay source slide 3**</a:t>
            </a:r>
          </a:p>
          <a:p xmlns:a="http://schemas.openxmlformats.org/drawingml/2006/main">
            <a:r>
              <a:rPr lang="en-GB"/>
              <a:t/>
            </a:r>
          </a:p>
          <a:p xmlns:a="http://schemas.openxmlformats.org/drawingml/2006/main">
            <a:r>
              <a:rPr lang="en-GB"/>
              <a:t>Look at a familiar delivery flow: intent, design, code, review, test, integration, deployment and operation.</a:t>
            </a:r>
          </a:p>
          <a:p xmlns:a="http://schemas.openxmlformats.org/drawingml/2006/main">
            <a:r>
              <a:rPr lang="en-GB"/>
              <a:t/>
            </a:r>
          </a:p>
          <a:p xmlns:a="http://schemas.openxmlformats.org/drawingml/2006/main">
            <a:r>
              <a:rPr lang="en-GB"/>
              <a:t>Now imagine a team that can produce eight comparable changes a week, review eight and integrate eight. Suppose AI raises its coding capacity to one hundred, while review and integration remain at eight.</a:t>
            </a:r>
          </a:p>
          <a:p xmlns:a="http://schemas.openxmlformats.org/drawingml/2006/main">
            <a:r>
              <a:rPr lang="en-GB"/>
              <a:t/>
            </a:r>
          </a:p>
          <a:p xmlns:a="http://schemas.openxmlformats.org/drawingml/2006/main">
            <a:r>
              <a:rPr lang="en-GB"/>
              <a:t>This is an illustration, not a productivity forecast. We are assuming comparable changes, fixed downstream capacity and a team that keeps pushing work into the system.</a:t>
            </a:r>
          </a:p>
          <a:p xmlns:a="http://schemas.openxmlformats.org/drawingml/2006/main">
            <a:r>
              <a:rPr lang="en-GB"/>
              <a:t/>
            </a:r>
          </a:p>
          <a:p xmlns:a="http://schemas.openxmlformats.org/drawingml/2006/main">
            <a:r>
              <a:rPr lang="en-GB"/>
              <a:t>Under those assumptions, another ninety-two changes accumulate each week. We have increased production at one step. We have also increased the queue.</a:t>
            </a:r>
          </a:p>
          <a:p xmlns:a="http://schemas.openxmlformats.org/drawingml/2006/main">
            <a:r>
              <a:rPr lang="en-GB"/>
              <a:t/>
            </a:r>
          </a:p>
          <a:p xmlns:a="http://schemas.openxmlformats.org/drawingml/2006/main">
            <a:r>
              <a:rPr lang="en-GB"/>
              <a:t>The visible result may look impressive: more code, more commits, more activity. The system-level result depends on what happens to those changes next.</a:t>
            </a:r>
          </a:p>
          <a:p xmlns:a="http://schemas.openxmlformats.org/drawingml/2006/main">
            <a:r>
              <a:rPr lang="en-GB"/>
              <a:t/>
            </a:r>
          </a:p>
          <a:p xmlns:a="http://schemas.openxmlformats.org/drawingml/2006/main">
            <a:r>
              <a:rPr lang="en-GB"/>
              <a:t>AI can help with review, testing and operations too. But adopting it at one stage does not automatically create the right capacity at every other stage.</a:t>
            </a:r>
          </a:p>
          <a:p xmlns:a="http://schemas.openxmlformats.org/drawingml/2006/main">
            <a:r>
              <a:rPr lang="en-GB"/>
              <a:t/>
            </a:r>
          </a:p>
          <a:p xmlns:a="http://schemas.openxmlformats.org/drawingml/2006/main">
            <a:r>
              <a:rPr lang="en-GB"/>
              <a:t>So the question is not only how much faster an individual task became. Where did the constraint move? What happened to waiting, rework and the ability to understand what we are shipping?</a:t>
            </a:r>
          </a:p>
          <a:p xmlns:a="http://schemas.openxmlformats.org/drawingml/2006/main">
            <a:r>
              <a:rPr lang="en-GB"/>
              <a:t/>
            </a:r>
          </a:p>
          <a:p xmlns:a="http://schemas.openxmlformats.org/drawingml/2006/main">
            <a:r>
              <a:rPr lang="en-GB"/>
              <a:t>That is the distinction I want to keep in mind when we look at the evidence.</a:t>
            </a:r>
          </a:p>
          <a:p xmlns:a="http://schemas.openxmlformats.org/drawingml/2006/main">
            <a:r>
              <a:rPr lang="en-GB"/>
              <a:t/>
            </a:r>
          </a:p>
          <a:p xmlns:a="http://schemas.openxmlformats.org/drawingml/2006/main">
            <a:r>
              <a:rPr lang="en-GB"/>
              <a:t>### Preparation sources</a:t>
            </a:r>
          </a:p>
          <a:p xmlns:a="http://schemas.openxmlformats.org/drawingml/2006/main">
            <a:r>
              <a:rPr lang="en-GB"/>
              <a:t/>
            </a:r>
          </a:p>
          <a:p xmlns:a="http://schemas.openxmlformats.org/drawingml/2006/main">
            <a:r>
              <a:rPr lang="en-GB"/>
              <a:t>- Source presentation: https://github.com/UncertaintyArchitectureGroup/uncertainty-architecture/blob/22639d311d5fb46a23f3d5cdd819800dbe1169d9/assets/presentations/pmday-2026/README.md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The Evidence Is Already Messy</a:t>
            </a:r>
          </a:p>
          <a:p xmlns:a="http://schemas.openxmlformats.org/drawingml/2006/main">
            <a:r>
              <a:rPr lang="en-GB"/>
              <a:t/>
            </a:r>
          </a:p>
          <a:p xmlns:a="http://schemas.openxmlformats.org/drawingml/2006/main">
            <a:r>
              <a:rPr lang="en-GB"/>
              <a:t>**03:30–08:00 · PMDay source slide 4**</a:t>
            </a:r>
          </a:p>
          <a:p xmlns:a="http://schemas.openxmlformats.org/drawingml/2006/main">
            <a:r>
              <a:rPr lang="en-GB"/>
              <a:t/>
            </a:r>
          </a:p>
          <a:p xmlns:a="http://schemas.openxmlformats.org/drawingml/2006/main">
            <a:r>
              <a:rPr lang="en-GB"/>
              <a:t>[Keep this slide visible throughout the evidence section. Point to each study as you discuss its outcome.]</a:t>
            </a:r>
          </a:p>
          <a:p xmlns:a="http://schemas.openxmlformats.org/drawingml/2006/main">
            <a:r>
              <a:rPr lang="en-GB"/>
              <a:t/>
            </a:r>
          </a:p>
          <a:p xmlns:a="http://schemas.openxmlformats.org/drawingml/2006/main">
            <a:r>
              <a:rPr lang="en-GB"/>
              <a:t>There is a lot on this slide. I have kept it together because these studies measure different outcomes. Treating every number as the same thing called “productivity” would hide the most interesting part.</a:t>
            </a:r>
          </a:p>
          <a:p xmlns:a="http://schemas.openxmlformats.org/drawingml/2006/main">
            <a:r>
              <a:rPr lang="en-GB"/>
              <a:t/>
            </a:r>
          </a:p>
          <a:p xmlns:a="http://schemas.openxmlformats.org/drawingml/2006/main">
            <a:r>
              <a:rPr lang="en-GB"/>
              <a:t>Start with the [NBER working paper](https://www.nber.org/papers/w35275), revised in September. It covers more than five hundred thousand GitHub developers. Its rounded cumulative summary across three generations of coding tools shows twenty-five-point-five times the changed lines of code and three-point-four times the commits. The available release estimates give a cumulative figure of one-point-three times; the asynchronous-agent release effect was not separately estimated.</a:t>
            </a:r>
          </a:p>
          <a:p xmlns:a="http://schemas.openxmlformats.org/drawingml/2006/main">
            <a:r>
              <a:rPr lang="en-GB"/>
              <a:t/>
            </a:r>
          </a:p>
          <a:p xmlns:a="http://schemas.openxmlformats.org/drawingml/2006/main">
            <a:r>
              <a:rPr lang="en-GB"/>
              <a:t>Changed lines means additions plus deletions. These are cumulative study estimates, not a promise that any developer will now write twenty-five times more useful code. These figures cannot give us a precise code-to-value conversion rate.</a:t>
            </a:r>
          </a:p>
          <a:p xmlns:a="http://schemas.openxmlformats.org/drawingml/2006/main">
            <a:r>
              <a:rPr lang="en-GB"/>
              <a:t/>
            </a:r>
          </a:p>
          <a:p xmlns:a="http://schemas.openxmlformats.org/drawingml/2006/main">
            <a:r>
              <a:rPr lang="en-GB"/>
              <a:t>The same paper looks at new applications in four marketplaces. Two examples are shown here. Among the young cohorts it examines, the share of new iOS apps with fewer than ten ratings rises from about seventy-eight to eighty-seven percent. For Chrome extensions, the share with fewer than ten downloads rises from nineteen to thirty-three percent.</a:t>
            </a:r>
          </a:p>
          <a:p xmlns:a="http://schemas.openxmlformats.org/drawingml/2006/main">
            <a:r>
              <a:rPr lang="en-GB"/>
              <a:t/>
            </a:r>
          </a:p>
          <a:p xmlns:a="http://schemas.openxmlformats.org/drawingml/2006/main">
            <a:r>
              <a:rPr lang="en-GB"/>
              <a:t>Those are adoption proxies during the first three months. They raise questions about what happens after production; they do not tell us the lifetime value of those applications.</a:t>
            </a:r>
          </a:p>
          <a:p xmlns:a="http://schemas.openxmlformats.org/drawingml/2006/main">
            <a:r>
              <a:rPr lang="en-GB"/>
              <a:t/>
            </a:r>
          </a:p>
          <a:p xmlns:a="http://schemas.openxmlformats.org/drawingml/2006/main">
            <a:r>
              <a:rPr lang="en-GB"/>
              <a:t>Now [DORA](https://dora.dev/research/2025/dora-report/). In its 2025 survey, more than eighty percent of respondents report improved productivity, and fifty-nine percent report better code quality. These are shares of people reporting an improvement, not the size of the improvement. Higher AI adoption is associated with both greater delivery throughput and greater delivery instability: failed production changes and unplanned fixes. This is a survey association, not proof that AI caused either outcome.</a:t>
            </a:r>
          </a:p>
          <a:p xmlns:a="http://schemas.openxmlformats.org/drawingml/2006/main">
            <a:r>
              <a:rPr lang="en-GB"/>
              <a:t/>
            </a:r>
          </a:p>
          <a:p xmlns:a="http://schemas.openxmlformats.org/drawingml/2006/main">
            <a:r>
              <a:rPr lang="en-GB"/>
              <a:t>[GitClear](https://www.gitclear.com/the_ai_code_quality_maintainability_gap) shows another kind of signal: moved code and copy-paste as shares of changed lines. The two report editions use different samples. These are separate snapshots, not a comparable trend or a causal estimate. They motivate a question about maintainability that we would need to examine in our own codebase.</a:t>
            </a:r>
          </a:p>
          <a:p xmlns:a="http://schemas.openxmlformats.org/drawingml/2006/main">
            <a:r>
              <a:rPr lang="en-GB"/>
              <a:t/>
            </a:r>
          </a:p>
          <a:p xmlns:a="http://schemas.openxmlformats.org/drawingml/2006/main">
            <a:r>
              <a:rPr lang="en-GB"/>
              <a:t>The [METR survey](https://metr.org/blog/2026-05-11-ai-usage-survey/) of three hundred and forty-nine technical workers reports self-assessed work value with AI at around one-point-four to two times their estimated work value without AI, using medians from three questions. That is positive evidence about perceived value, rather than an objectively measured delivery multiplier.</a:t>
            </a:r>
          </a:p>
          <a:p xmlns:a="http://schemas.openxmlformats.org/drawingml/2006/main">
            <a:r>
              <a:rPr lang="en-GB"/>
              <a:t/>
            </a:r>
          </a:p>
          <a:p xmlns:a="http://schemas.openxmlformats.org/drawingml/2006/main">
            <a:r>
              <a:rPr lang="en-GB"/>
              <a:t>And [Agarwal’s repository study](https://arxiv.org/html/2601.13597v2) reports increases in cognitive complexity after agent adoption, against matched controls: about thirty-five percent for agent-first repositories, and forty-three percent for repositories with prior AI-IDE use. That is a code metric. It does not directly measure how much longer a reviewer needs.</a:t>
            </a:r>
          </a:p>
          <a:p xmlns:a="http://schemas.openxmlformats.org/drawingml/2006/main">
            <a:r>
              <a:rPr lang="en-GB"/>
              <a:t/>
            </a:r>
          </a:p>
          <a:p xmlns:a="http://schemas.openxmlformats.org/drawingml/2006/main">
            <a:r>
              <a:rPr lang="en-GB"/>
              <a:t>There are gains here, and there are signs of pressure elsewhere. These findings do not establish one universal effect of AI on every team.</a:t>
            </a:r>
          </a:p>
          <a:p xmlns:a="http://schemas.openxmlformats.org/drawingml/2006/main">
            <a:r>
              <a:rPr lang="en-GB"/>
              <a:t/>
            </a:r>
          </a:p>
          <a:p xmlns:a="http://schemas.openxmlformats.org/drawingml/2006/main">
            <a:r>
              <a:rPr lang="en-GB"/>
              <a:t>My reading is that we should examine how the capacities of the whole delivery system fit together. The studies do not directly measure the comprehension gap I am about to describe. They give us reasons to investigate it.</a:t>
            </a:r>
          </a:p>
          <a:p xmlns:a="http://schemas.openxmlformats.org/drawingml/2006/main">
            <a:r>
              <a:rPr lang="en-GB"/>
              <a:t/>
            </a:r>
          </a:p>
          <a:p xmlns:a="http://schemas.openxmlformats.org/drawingml/2006/main">
            <a:r>
              <a:rPr lang="en-GB"/>
              <a:t>### Preparation sources</a:t>
            </a:r>
          </a:p>
          <a:p xmlns:a="http://schemas.openxmlformats.org/drawingml/2006/main">
            <a:r>
              <a:rPr lang="en-GB"/>
              <a:t/>
            </a:r>
          </a:p>
          <a:p xmlns:a="http://schemas.openxmlformats.org/drawingml/2006/main">
            <a:r>
              <a:rPr lang="en-GB"/>
              <a:t>- Source presentation: https://github.com/UncertaintyArchitectureGroup/uncertainty-architecture/blob/22639d311d5fb46a23f3d5cdd819800dbe1169d9/assets/presentations/pmday-2026/README.md</a:t>
            </a:r>
          </a:p>
          <a:p xmlns:a="http://schemas.openxmlformats.org/drawingml/2006/main">
            <a:r>
              <a:rPr lang="en-GB"/>
              <a:t>- Evidence and limitations: https://github.com/UncertaintyArchitectureGroup/uncertainty-architecture/blob/22639d311d5fb46a23f3d5cdd819800dbe1169d9/assets/presentations/pmday-2026/EVIDENCE.md</a:t>
            </a:r>
          </a:p>
          <a:p xmlns:a="http://schemas.openxmlformats.org/drawingml/2006/main">
            <a:r>
              <a:rPr lang="en-GB"/>
              <a:t>- https://www.nber.org/papers/w35275</a:t>
            </a:r>
          </a:p>
          <a:p xmlns:a="http://schemas.openxmlformats.org/drawingml/2006/main">
            <a:r>
              <a:rPr lang="en-GB"/>
              <a:t>- https://dora.dev/research/2025/dora-report/</a:t>
            </a:r>
          </a:p>
          <a:p xmlns:a="http://schemas.openxmlformats.org/drawingml/2006/main">
            <a:r>
              <a:rPr lang="en-GB"/>
              <a:t>- https://gitclear-public.s3.us-west-2.amazonaws.com/GitClear-AI-Copilot-Code-Quality-2025.pdf</a:t>
            </a:r>
          </a:p>
          <a:p xmlns:a="http://schemas.openxmlformats.org/drawingml/2006/main">
            <a:r>
              <a:rPr lang="en-GB"/>
              <a:t>- https://www.gitclear.com/blog/annual_ai_code_quality_research_2026_diff_digest_git_ai_diff_viewer</a:t>
            </a:r>
          </a:p>
          <a:p xmlns:a="http://schemas.openxmlformats.org/drawingml/2006/main">
            <a:r>
              <a:rPr lang="en-GB"/>
              <a:t>- https://metr.org/blog/2026-05-11-ai-usage-survey/</a:t>
            </a:r>
          </a:p>
          <a:p xmlns:a="http://schemas.openxmlformats.org/drawingml/2006/main">
            <a:r>
              <a:rPr lang="en-GB"/>
              <a:t>- https://arxiv.org/html/2601.13597v2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The New Scarcity Is Human Comprehension</a:t>
            </a:r>
          </a:p>
          <a:p xmlns:a="http://schemas.openxmlformats.org/drawingml/2006/main">
            <a:r>
              <a:rPr lang="en-GB"/>
              <a:t/>
            </a:r>
          </a:p>
          <a:p xmlns:a="http://schemas.openxmlformats.org/drawingml/2006/main">
            <a:r>
              <a:rPr lang="en-GB"/>
              <a:t>**08:00–10:30 · PMDay source slide 5**</a:t>
            </a:r>
          </a:p>
          <a:p xmlns:a="http://schemas.openxmlformats.org/drawingml/2006/main">
            <a:r>
              <a:rPr lang="en-GB"/>
              <a:t/>
            </a:r>
          </a:p>
          <a:p xmlns:a="http://schemas.openxmlformats.org/drawingml/2006/main">
            <a:r>
              <a:rPr lang="en-GB"/>
              <a:t>Imagine that changes arrive faster than people can develop a useful understanding of them.</a:t>
            </a:r>
          </a:p>
          <a:p xmlns:a="http://schemas.openxmlformats.org/drawingml/2006/main">
            <a:r>
              <a:rPr lang="en-GB"/>
              <a:t/>
            </a:r>
          </a:p>
          <a:p xmlns:a="http://schemas.openxmlformats.org/drawingml/2006/main">
            <a:r>
              <a:rPr lang="en-GB"/>
              <a:t>The gap is not simply unread code. It can include design assumptions nobody has examined, dependencies nobody can explain, and operational behaviour nobody knows how to diagnose.</a:t>
            </a:r>
          </a:p>
          <a:p xmlns:a="http://schemas.openxmlformats.org/drawingml/2006/main">
            <a:r>
              <a:rPr lang="en-GB"/>
              <a:t/>
            </a:r>
          </a:p>
          <a:p xmlns:a="http://schemas.openxmlformats.org/drawingml/2006/main">
            <a:r>
              <a:rPr lang="en-GB"/>
              <a:t>The relationship shown here is an illustrative hypothesis, not a curve measured by the studies on the previous slide.</a:t>
            </a:r>
          </a:p>
          <a:p xmlns:a="http://schemas.openxmlformats.org/drawingml/2006/main">
            <a:r>
              <a:rPr lang="en-GB"/>
              <a:t/>
            </a:r>
          </a:p>
          <a:p xmlns:a="http://schemas.openxmlformats.org/drawingml/2006/main">
            <a:r>
              <a:rPr lang="en-GB"/>
              <a:t>AI may also help us understand a system. The question is whether that understanding is sufficient, available to the right people, and usable when it matters.</a:t>
            </a:r>
          </a:p>
          <a:p xmlns:a="http://schemas.openxmlformats.org/drawingml/2006/main">
            <a:r>
              <a:rPr lang="en-GB"/>
              <a:t/>
            </a:r>
          </a:p>
          <a:p xmlns:a="http://schemas.openxmlformats.org/drawingml/2006/main">
            <a:r>
              <a:rPr lang="en-GB"/>
              <a:t>You do not need every engineer to memorise every line. You do need enough understanding distributed across the team to challenge a change, recognise a failure and restore the service.</a:t>
            </a:r>
          </a:p>
          <a:p xmlns:a="http://schemas.openxmlformats.org/drawingml/2006/main">
            <a:r>
              <a:rPr lang="en-GB"/>
              <a:t/>
            </a:r>
          </a:p>
          <a:p xmlns:a="http://schemas.openxmlformats.org/drawingml/2006/main">
            <a:r>
              <a:rPr lang="en-GB"/>
              <a:t>Imagine an incident. The model proposes a recovery action, but cannot explain the failure in a way the team can validate. Or the tool is unavailable. Or its proposed fix creates another problem.</a:t>
            </a:r>
          </a:p>
          <a:p xmlns:a="http://schemas.openxmlformats.org/drawingml/2006/main">
            <a:r>
              <a:rPr lang="en-GB"/>
              <a:t/>
            </a:r>
          </a:p>
          <a:p xmlns:a="http://schemas.openxmlformats.org/drawingml/2006/main">
            <a:r>
              <a:rPr lang="en-GB"/>
              <a:t>At that point, someone still has to make a decision and recover the system.</a:t>
            </a:r>
          </a:p>
          <a:p xmlns:a="http://schemas.openxmlformats.org/drawingml/2006/main">
            <a:r>
              <a:rPr lang="en-GB"/>
              <a:t/>
            </a:r>
          </a:p>
          <a:p xmlns:a="http://schemas.openxmlformats.org/drawingml/2006/main">
            <a:r>
              <a:rPr lang="en-GB"/>
              <a:t>So “a human is responsible” is incomplete. Does that person have the evidence, expertise, authority and time to act?</a:t>
            </a:r>
          </a:p>
          <a:p xmlns:a="http://schemas.openxmlformats.org/drawingml/2006/main">
            <a:r>
              <a:rPr lang="en-GB"/>
              <a:t/>
            </a:r>
          </a:p>
          <a:p xmlns:a="http://schemas.openxmlformats.org/drawingml/2006/main">
            <a:r>
              <a:rPr lang="en-GB"/>
              <a:t>This is why comprehension belongs in a conversation about delivery capacity. It affects how much change the team can responsibly absorb, and whether ownership remains real after the code has been produced.</a:t>
            </a:r>
          </a:p>
          <a:p xmlns:a="http://schemas.openxmlformats.org/drawingml/2006/main">
            <a:r>
              <a:rPr lang="en-GB"/>
              <a:t/>
            </a:r>
          </a:p>
          <a:p xmlns:a="http://schemas.openxmlformats.org/drawingml/2006/main">
            <a:r>
              <a:rPr lang="en-GB"/>
              <a:t>[Pause on the recovery question before moving to the central thesis.]</a:t>
            </a:r>
          </a:p>
          <a:p xmlns:a="http://schemas.openxmlformats.org/drawingml/2006/main">
            <a:r>
              <a:rPr lang="en-GB"/>
              <a:t/>
            </a:r>
          </a:p>
          <a:p xmlns:a="http://schemas.openxmlformats.org/drawingml/2006/main">
            <a:r>
              <a:rPr lang="en-GB"/>
              <a:t>### Preparation sources</a:t>
            </a:r>
          </a:p>
          <a:p xmlns:a="http://schemas.openxmlformats.org/drawingml/2006/main">
            <a:r>
              <a:rPr lang="en-GB"/>
              <a:t/>
            </a:r>
          </a:p>
          <a:p xmlns:a="http://schemas.openxmlformats.org/drawingml/2006/main">
            <a:r>
              <a:rPr lang="en-GB"/>
              <a:t>- Source presentation: https://github.com/UncertaintyArchitectureGroup/uncertainty-architecture/blob/22639d311d5fb46a23f3d5cdd819800dbe1169d9/assets/presentations/pmday-2026/README.md</a:t>
            </a:r>
          </a:p>
          <a:p xmlns:a="http://schemas.openxmlformats.org/drawingml/2006/main">
            <a:r>
              <a:rPr lang="en-GB"/>
              <a:t>- Additional source contribution: PMDay slide 6 supplies the recovery consequence and incident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We Are Searching for a New SDLC Equilibrium</a:t>
            </a:r>
          </a:p>
          <a:p xmlns:a="http://schemas.openxmlformats.org/drawingml/2006/main">
            <a:r>
              <a:rPr lang="en-GB"/>
              <a:t/>
            </a:r>
          </a:p>
          <a:p xmlns:a="http://schemas.openxmlformats.org/drawingml/2006/main">
            <a:r>
              <a:rPr lang="en-GB"/>
              <a:t>**10:30–12:30 · PMDay source slide 7**</a:t>
            </a:r>
          </a:p>
          <a:p xmlns:a="http://schemas.openxmlformats.org/drawingml/2006/main">
            <a:r>
              <a:rPr lang="en-GB"/>
              <a:t/>
            </a:r>
          </a:p>
          <a:p xmlns:a="http://schemas.openxmlformats.org/drawingml/2006/main">
            <a:r>
              <a:rPr lang="en-GB"/>
              <a:t>Here is my diagnosis: the SDLC is out of balance wherever the capacity we have added no longer fits the capacity we have to validate, integrate, understand and operate its output.</a:t>
            </a:r>
          </a:p>
          <a:p xmlns:a="http://schemas.openxmlformats.org/drawingml/2006/main">
            <a:r>
              <a:rPr lang="en-GB"/>
              <a:t/>
            </a:r>
          </a:p>
          <a:p xmlns:a="http://schemas.openxmlformats.org/drawingml/2006/main">
            <a:r>
              <a:rPr lang="en-GB"/>
              <a:t>That will look different across teams. The constraint may be review, integration, product decisions or recovery expertise. We should not assume that it is always the same stage.</a:t>
            </a:r>
          </a:p>
          <a:p xmlns:a="http://schemas.openxmlformats.org/drawingml/2006/main">
            <a:r>
              <a:rPr lang="en-GB"/>
              <a:t/>
            </a:r>
          </a:p>
          <a:p xmlns:a="http://schemas.openxmlformats.org/drawingml/2006/main">
            <a:r>
              <a:rPr lang="en-GB"/>
              <a:t>The industry is searching for a new equilibrium. Proposed approaches make different bets about where understanding should live, what can be delegated, and how errors will be detected and corrected.</a:t>
            </a:r>
          </a:p>
          <a:p xmlns:a="http://schemas.openxmlformats.org/drawingml/2006/main">
            <a:r>
              <a:rPr lang="en-GB"/>
              <a:t/>
            </a:r>
          </a:p>
          <a:p xmlns:a="http://schemas.openxmlformats.org/drawingml/2006/main">
            <a:r>
              <a:rPr lang="en-GB"/>
              <a:t>Some are already useful in particular settings. What we do not have is a demonstrated final recipe that settles those questions for every team and product.</a:t>
            </a:r>
          </a:p>
          <a:p xmlns:a="http://schemas.openxmlformats.org/drawingml/2006/main">
            <a:r>
              <a:rPr lang="en-GB"/>
              <a:t/>
            </a:r>
          </a:p>
          <a:p xmlns:a="http://schemas.openxmlformats.org/drawingml/2006/main">
            <a:r>
              <a:rPr lang="en-GB"/>
              <a:t>I would treat a proposed operating model as a hypothesis: under these conditions, this change should improve the whole system, through this mechanism.</a:t>
            </a:r>
          </a:p>
          <a:p xmlns:a="http://schemas.openxmlformats.org/drawingml/2006/main">
            <a:r>
              <a:rPr lang="en-GB"/>
              <a:t/>
            </a:r>
          </a:p>
          <a:p xmlns:a="http://schemas.openxmlformats.org/drawingml/2006/main">
            <a:r>
              <a:rPr lang="en-GB"/>
              <a:t>Then we can ask whether it actually does. Faster generation may be valuable. So may clearer specifications or better automated review. Their value depends on what happens to flow, quality, comprehension and recovery together.</a:t>
            </a:r>
          </a:p>
          <a:p xmlns:a="http://schemas.openxmlformats.org/drawingml/2006/main">
            <a:r>
              <a:rPr lang="en-GB"/>
              <a:t/>
            </a:r>
          </a:p>
          <a:p xmlns:a="http://schemas.openxmlformats.org/drawingml/2006/main">
            <a:r>
              <a:rPr lang="en-GB"/>
              <a:t>That is the first shift: model judgment enters the work of building software.</a:t>
            </a:r>
          </a:p>
          <a:p xmlns:a="http://schemas.openxmlformats.org/drawingml/2006/main">
            <a:r>
              <a:rPr lang="en-GB"/>
              <a:t/>
            </a:r>
          </a:p>
          <a:p xmlns:a="http://schemas.openxmlformats.org/drawingml/2006/main">
            <a:r>
              <a:rPr lang="en-GB"/>
              <a:t>The second shift makes the same question even more direct. What happens when model judgment becomes part of the software we ship?</a:t>
            </a:r>
          </a:p>
          <a:p xmlns:a="http://schemas.openxmlformats.org/drawingml/2006/main">
            <a:r>
              <a:rPr lang="en-GB"/>
              <a:t/>
            </a:r>
          </a:p>
          <a:p xmlns:a="http://schemas.openxmlformats.org/drawingml/2006/main">
            <a:r>
              <a:rPr lang="en-GB"/>
              <a:t>### Preparation sources</a:t>
            </a:r>
          </a:p>
          <a:p xmlns:a="http://schemas.openxmlformats.org/drawingml/2006/main">
            <a:r>
              <a:rPr lang="en-GB"/>
              <a:t/>
            </a:r>
          </a:p>
          <a:p xmlns:a="http://schemas.openxmlformats.org/drawingml/2006/main">
            <a:r>
              <a:rPr lang="en-GB"/>
              <a:t>- Source presentation: https://github.com/UncertaintyArchitectureGroup/uncertainty-architecture/blob/22639d311d5fb46a23f3d5cdd819800dbe1169d9/assets/presentations/pmday-2026/README.md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When Software Starts Thinking</a:t>
            </a:r>
          </a:p>
          <a:p xmlns:a="http://schemas.openxmlformats.org/drawingml/2006/main">
            <a:r>
              <a:rPr lang="en-GB"/>
              <a:t/>
            </a:r>
          </a:p>
          <a:p xmlns:a="http://schemas.openxmlformats.org/drawingml/2006/main">
            <a:r>
              <a:rPr lang="en-GB"/>
              <a:t>**12:30–14:00 · PMDay source slide 9**</a:t>
            </a:r>
          </a:p>
          <a:p xmlns:a="http://schemas.openxmlformats.org/drawingml/2006/main">
            <a:r>
              <a:rPr lang="en-GB"/>
              <a:t/>
            </a:r>
          </a:p>
          <a:p xmlns:a="http://schemas.openxmlformats.org/drawingml/2006/main">
            <a:r>
              <a:rPr lang="en-GB"/>
              <a:t>Consider an IT assistant that helps someone recover access to a service.</a:t>
            </a:r>
          </a:p>
          <a:p xmlns:a="http://schemas.openxmlformats.org/drawingml/2006/main">
            <a:r>
              <a:rPr lang="en-GB"/>
              <a:t/>
            </a:r>
          </a:p>
          <a:p xmlns:a="http://schemas.openxmlformats.org/drawingml/2006/main">
            <a:r>
              <a:rPr lang="en-GB"/>
              <a:t>In a conventional flow, we define the decision rules and implement them. With a model, some interpretation of the request and selection of the response happens at runtime.</a:t>
            </a:r>
          </a:p>
          <a:p xmlns:a="http://schemas.openxmlformats.org/drawingml/2006/main">
            <a:r>
              <a:rPr lang="en-GB"/>
              <a:t/>
            </a:r>
          </a:p>
          <a:p xmlns:a="http://schemas.openxmlformats.org/drawingml/2006/main">
            <a:r>
              <a:rPr lang="en-GB"/>
              <a:t>I use “Thinking System” for a system in which consequential runtime behaviour depends partly on this model judgment.</a:t>
            </a:r>
          </a:p>
          <a:p xmlns:a="http://schemas.openxmlformats.org/drawingml/2006/main">
            <a:r>
              <a:rPr lang="en-GB"/>
              <a:t/>
            </a:r>
          </a:p>
          <a:p xmlns:a="http://schemas.openxmlformats.org/drawingml/2006/main">
            <a:r>
              <a:rPr lang="en-GB"/>
              <a:t>Now “help the user recover access” is not a sufficient description of acceptable behaviour. The assistant may answer using approved guidance, ask for clarification, or escalate. It must not disclose information that the user is not authorised to see.</a:t>
            </a:r>
          </a:p>
          <a:p xmlns:a="http://schemas.openxmlformats.org/drawingml/2006/main">
            <a:r>
              <a:rPr lang="en-GB"/>
              <a:t/>
            </a:r>
          </a:p>
          <a:p xmlns:a="http://schemas.openxmlformats.org/drawingml/2006/main">
            <a:r>
              <a:rPr lang="en-GB"/>
              <a:t>We still need deterministic requirements, permissions and ordinary software tests. We also need to describe the space of acceptable behaviour and the consequences of leaving it.</a:t>
            </a:r>
          </a:p>
          <a:p xmlns:a="http://schemas.openxmlformats.org/drawingml/2006/main">
            <a:r>
              <a:rPr lang="en-GB"/>
              <a:t/>
            </a:r>
          </a:p>
          <a:p xmlns:a="http://schemas.openxmlformats.org/drawingml/2006/main">
            <a:r>
              <a:rPr lang="en-GB"/>
              <a:t>The product now relies on judgments we cannot fully assess by reading a fixed list of implementation branches. That changes what evidence we need before trusting it with a responsibility.</a:t>
            </a:r>
          </a:p>
          <a:p xmlns:a="http://schemas.openxmlformats.org/drawingml/2006/main">
            <a:r>
              <a:rPr lang="en-GB"/>
              <a:t/>
            </a:r>
          </a:p>
          <a:p xmlns:a="http://schemas.openxmlformats.org/drawingml/2006/main">
            <a:r>
              <a:rPr lang="en-GB"/>
              <a:t>### Preparation sources</a:t>
            </a:r>
          </a:p>
          <a:p xmlns:a="http://schemas.openxmlformats.org/drawingml/2006/main">
            <a:r>
              <a:rPr lang="en-GB"/>
              <a:t/>
            </a:r>
          </a:p>
          <a:p xmlns:a="http://schemas.openxmlformats.org/drawingml/2006/main">
            <a:r>
              <a:rPr lang="en-GB"/>
              <a:t>- Source presentation: https://github.com/UncertaintyArchitectureGroup/uncertainty-architecture/blob/22639d311d5fb46a23f3d5cdd819800dbe1169d9/assets/presentations/pmday-2026/README.md</a:t>
            </a:r>
          </a:p>
          <a:p xmlns:a="http://schemas.openxmlformats.org/drawingml/2006/main">
            <a:r>
              <a:rPr lang="en-GB"/>
              <a:t>- Additional source contribution: PMDay slide 8 supplies the Thinking System definition; slide 9 supplies the acceptable-behaviour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Evidence Changes the Release Decision</a:t>
            </a:r>
          </a:p>
          <a:p xmlns:a="http://schemas.openxmlformats.org/drawingml/2006/main">
            <a:r>
              <a:rPr lang="en-GB"/>
              <a:t/>
            </a:r>
          </a:p>
          <a:p xmlns:a="http://schemas.openxmlformats.org/drawingml/2006/main">
            <a:r>
              <a:rPr lang="en-GB"/>
              <a:t>**14:00–16:00 · PMDay source slide 10**</a:t>
            </a:r>
          </a:p>
          <a:p xmlns:a="http://schemas.openxmlformats.org/drawingml/2006/main">
            <a:r>
              <a:rPr lang="en-GB"/>
              <a:t/>
            </a:r>
          </a:p>
          <a:p xmlns:a="http://schemas.openxmlformats.org/drawingml/2006/main">
            <a:r>
              <a:rPr lang="en-GB"/>
              <a:t>Suppose we evaluate that assistant on two hundred cases. This is an illustrative example, not a real benchmark or a recommended sample size.</a:t>
            </a:r>
          </a:p>
          <a:p xmlns:a="http://schemas.openxmlformats.org/drawingml/2006/main">
            <a:r>
              <a:rPr lang="en-GB"/>
              <a:t/>
            </a:r>
          </a:p>
          <a:p xmlns:a="http://schemas.openxmlformats.org/drawingml/2006/main">
            <a:r>
              <a:rPr lang="en-GB"/>
              <a:t>One hundred and ninety-six responses are acceptable. Three contain incorrect recovery steps. One discloses private information.</a:t>
            </a:r>
          </a:p>
          <a:p xmlns:a="http://schemas.openxmlformats.org/drawingml/2006/main">
            <a:r>
              <a:rPr lang="en-GB"/>
              <a:t/>
            </a:r>
          </a:p>
          <a:p xmlns:a="http://schemas.openxmlformats.org/drawingml/2006/main">
            <a:r>
              <a:rPr lang="en-GB"/>
              <a:t>A summary can say “ninety-eight percent acceptable.” Yet that number alone cannot decide whether the assistant is ready. If our release conditions prohibit that disclosure, the observed breach blocks release even though the aggregate score looks good.</a:t>
            </a:r>
          </a:p>
          <a:p xmlns:a="http://schemas.openxmlformats.org/drawingml/2006/main">
            <a:r>
              <a:rPr lang="en-GB"/>
              <a:t/>
            </a:r>
          </a:p>
          <a:p xmlns:a="http://schemas.openxmlformats.org/drawingml/2006/main">
            <a:r>
              <a:rPr lang="en-GB"/>
              <a:t>Different evidence also answers different questions. A curated set of difficult cases can test known failure modes. A representative sample can help estimate how frequently outcomes occur in the population it represents. Repeating a few convenient examples does not achieve both.</a:t>
            </a:r>
          </a:p>
          <a:p xmlns:a="http://schemas.openxmlformats.org/drawingml/2006/main">
            <a:r>
              <a:rPr lang="en-GB"/>
              <a:t/>
            </a:r>
          </a:p>
          <a:p xmlns:a="http://schemas.openxmlformats.org/drawingml/2006/main">
            <a:r>
              <a:rPr lang="en-GB"/>
              <a:t>The engineering question becomes: acceptable for which responsibility, in which situations, with what uncertainty, and with which controls available?</a:t>
            </a:r>
          </a:p>
          <a:p xmlns:a="http://schemas.openxmlformats.org/drawingml/2006/main">
            <a:r>
              <a:rPr lang="en-GB"/>
              <a:t/>
            </a:r>
          </a:p>
          <a:p xmlns:a="http://schemas.openxmlformats.org/drawingml/2006/main">
            <a:r>
              <a:rPr lang="en-GB"/>
              <a:t>This does not make release a purely statistical decision. The release decision has to connect the evidence, the agreed limits and the authority to accept the remaining risk. Readiness includes the relevant configuration, evidence, approved scope and a response capability that can actually operate.</a:t>
            </a:r>
          </a:p>
          <a:p xmlns:a="http://schemas.openxmlformats.org/drawingml/2006/main">
            <a:r>
              <a:rPr lang="en-GB"/>
              <a:t/>
            </a:r>
          </a:p>
          <a:p xmlns:a="http://schemas.openxmlformats.org/drawingml/2006/main">
            <a:r>
              <a:rPr lang="en-GB"/>
              <a:t>And the conditions can change. A new model, new knowledge or broader permissions can change the behaviour we are relying on. We need to know which previous conclusions still apply.</a:t>
            </a:r>
          </a:p>
          <a:p xmlns:a="http://schemas.openxmlformats.org/drawingml/2006/main">
            <a:r>
              <a:rPr lang="en-GB"/>
              <a:t/>
            </a:r>
          </a:p>
          <a:p xmlns:a="http://schemas.openxmlformats.org/drawingml/2006/main">
            <a:r>
              <a:rPr lang="en-GB"/>
              <a:t>We have now moved from implementing a feature to establishing the conditions under which a delegated judgment is usable.</a:t>
            </a:r>
          </a:p>
          <a:p xmlns:a="http://schemas.openxmlformats.org/drawingml/2006/main">
            <a:r>
              <a:rPr lang="en-GB"/>
              <a:t/>
            </a:r>
          </a:p>
          <a:p xmlns:a="http://schemas.openxmlformats.org/drawingml/2006/main">
            <a:r>
              <a:rPr lang="en-GB"/>
              <a:t>### Preparation sources</a:t>
            </a:r>
          </a:p>
          <a:p xmlns:a="http://schemas.openxmlformats.org/drawingml/2006/main">
            <a:r>
              <a:rPr lang="en-GB"/>
              <a:t/>
            </a:r>
          </a:p>
          <a:p xmlns:a="http://schemas.openxmlformats.org/drawingml/2006/main">
            <a:r>
              <a:rPr lang="en-GB"/>
              <a:t>- Source presentation: https://github.com/UncertaintyArchitectureGroup/uncertainty-architecture/blob/22639d311d5fb46a23f3d5cdd819800dbe1169d9/assets/presentations/pmday-2026/README.md</a:t>
            </a:r>
          </a:p>
          <a:p xmlns:a="http://schemas.openxmlformats.org/drawingml/2006/main">
            <a:r>
              <a:rPr lang="en-GB"/>
              <a:t>- Additional source contribution: PMDay slide 11 supplies the readiness and release framing. The mathematical interval is retained in the optional Q&amp;A reference below, outside the main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Control Is a Sociotechnical Capability</a:t>
            </a:r>
          </a:p>
          <a:p xmlns:a="http://schemas.openxmlformats.org/drawingml/2006/main">
            <a:r>
              <a:rPr lang="en-GB"/>
              <a:t/>
            </a:r>
          </a:p>
          <a:p xmlns:a="http://schemas.openxmlformats.org/drawingml/2006/main">
            <a:r>
              <a:rPr lang="en-GB"/>
              <a:t>**16:00–18:00 · PMDay source slide 12**</a:t>
            </a:r>
          </a:p>
          <a:p xmlns:a="http://schemas.openxmlformats.org/drawingml/2006/main">
            <a:r>
              <a:rPr lang="en-GB"/>
              <a:t/>
            </a:r>
          </a:p>
          <a:p xmlns:a="http://schemas.openxmlformats.org/drawingml/2006/main">
            <a:r>
              <a:rPr lang="en-GB"/>
              <a:t>Suppose our answer is to put a human in the loop. What does that mean in the actual system?</a:t>
            </a:r>
          </a:p>
          <a:p xmlns:a="http://schemas.openxmlformats.org/drawingml/2006/main">
            <a:r>
              <a:rPr lang="en-GB"/>
              <a:t/>
            </a:r>
          </a:p>
          <a:p xmlns:a="http://schemas.openxmlformats.org/drawingml/2006/main">
            <a:r>
              <a:rPr lang="en-GB"/>
              <a:t>For the access assistant, a reviewer must see enough evidence, understand the request, have authority to reject it, and act before an unauthorised disclosure occurs. After disclosure, a rollback cannot make the information unknown again.</a:t>
            </a:r>
          </a:p>
          <a:p xmlns:a="http://schemas.openxmlformats.org/drawingml/2006/main">
            <a:r>
              <a:rPr lang="en-GB"/>
              <a:t/>
            </a:r>
          </a:p>
          <a:p xmlns:a="http://schemas.openxmlformats.org/drawingml/2006/main">
            <a:r>
              <a:rPr lang="en-GB"/>
              <a:t>If requests arrive faster than people can review them, the diagram still contains a human. The effective control may already be gone.</a:t>
            </a:r>
          </a:p>
          <a:p xmlns:a="http://schemas.openxmlformats.org/drawingml/2006/main">
            <a:r>
              <a:rPr lang="en-GB"/>
              <a:t/>
            </a:r>
          </a:p>
          <a:p xmlns:a="http://schemas.openxmlformats.org/drawingml/2006/main">
            <a:r>
              <a:rPr lang="en-GB"/>
              <a:t>An automated semantic check can be wrong or unavailable. A separate permission check, and any required approval, determine what the system may disclose or do. They do not by themselves establish that every permitted response is correct.</a:t>
            </a:r>
          </a:p>
          <a:p xmlns:a="http://schemas.openxmlformats.org/drawingml/2006/main">
            <a:r>
              <a:rPr lang="en-GB"/>
              <a:t/>
            </a:r>
          </a:p>
          <a:p xmlns:a="http://schemas.openxmlformats.org/drawingml/2006/main">
            <a:r>
              <a:rPr lang="en-GB"/>
              <a:t>The control loop must also work: observe outcomes, compare them with agreed limits, intervene through an authorised control path, and verify the effect. Telemetry alone does not tell us whether a response was correct.</a:t>
            </a:r>
          </a:p>
          <a:p xmlns:a="http://schemas.openxmlformats.org/drawingml/2006/main">
            <a:r>
              <a:rPr lang="en-GB"/>
              <a:t/>
            </a:r>
          </a:p>
          <a:p xmlns:a="http://schemas.openxmlformats.org/drawingml/2006/main">
            <a:r>
              <a:rPr lang="en-GB"/>
              <a:t>So control depends on technical mechanisms and on people’s expertise, decision rights, availability and response time. It also depends on whether those parts remain available within the service’s cost and latency limits.</a:t>
            </a:r>
          </a:p>
          <a:p xmlns:a="http://schemas.openxmlformats.org/drawingml/2006/main">
            <a:r>
              <a:rPr lang="en-GB"/>
              <a:t/>
            </a:r>
          </a:p>
          <a:p xmlns:a="http://schemas.openxmlformats.org/drawingml/2006/main">
            <a:r>
              <a:rPr lang="en-GB"/>
              <a:t>These are dependencies in the system we are designing. If a required response capability does not exist, we have to change the design, narrow the delegated responsibility, or reject that particular AI path.</a:t>
            </a:r>
          </a:p>
          <a:p xmlns:a="http://schemas.openxmlformats.org/drawingml/2006/main">
            <a:r>
              <a:rPr lang="en-GB"/>
              <a:t/>
            </a:r>
          </a:p>
          <a:p xmlns:a="http://schemas.openxmlformats.org/drawingml/2006/main">
            <a:r>
              <a:rPr lang="en-GB"/>
              <a:t>“More autonomy” is therefore not a complete engineering objective. The useful question is how much delegation the complete system can support under the conditions in which it will operate.</a:t>
            </a:r>
          </a:p>
          <a:p xmlns:a="http://schemas.openxmlformats.org/drawingml/2006/main">
            <a:r>
              <a:rPr lang="en-GB"/>
              <a:t/>
            </a:r>
          </a:p>
          <a:p xmlns:a="http://schemas.openxmlformats.org/drawingml/2006/main">
            <a:r>
              <a:rPr lang="en-GB"/>
              <a:t>### Preparation sources</a:t>
            </a:r>
          </a:p>
          <a:p xmlns:a="http://schemas.openxmlformats.org/drawingml/2006/main">
            <a:r>
              <a:rPr lang="en-GB"/>
              <a:t/>
            </a:r>
          </a:p>
          <a:p xmlns:a="http://schemas.openxmlformats.org/drawingml/2006/main">
            <a:r>
              <a:rPr lang="en-GB"/>
              <a:t>- Source presentation: https://github.com/UncertaintyArchitectureGroup/uncertainty-architecture/blob/22639d311d5fb46a23f3d5cdd819800dbe1169d9/assets/presentations/pmday-2026/README.md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The Roles Move With the System</a:t>
            </a:r>
          </a:p>
          <a:p xmlns:a="http://schemas.openxmlformats.org/drawingml/2006/main">
            <a:r>
              <a:rPr lang="en-GB"/>
              <a:t/>
            </a:r>
          </a:p>
          <a:p xmlns:a="http://schemas.openxmlformats.org/drawingml/2006/main">
            <a:r>
              <a:rPr lang="en-GB"/>
              <a:t>**18:00–20:30 · PMDay source slide 13**</a:t>
            </a:r>
          </a:p>
          <a:p xmlns:a="http://schemas.openxmlformats.org/drawingml/2006/main">
            <a:r>
              <a:rPr lang="en-GB"/>
              <a:t/>
            </a:r>
          </a:p>
          <a:p xmlns:a="http://schemas.openxmlformats.org/drawingml/2006/main">
            <a:r>
              <a:rPr lang="en-GB"/>
              <a:t>Now connect the two shifts.</a:t>
            </a:r>
          </a:p>
          <a:p xmlns:a="http://schemas.openxmlformats.org/drawingml/2006/main">
            <a:r>
              <a:rPr lang="en-GB"/>
              <a:t/>
            </a:r>
          </a:p>
          <a:p xmlns:a="http://schemas.openxmlformats.org/drawingml/2006/main">
            <a:r>
              <a:rPr lang="en-GB"/>
              <a:t>In development, we delegate judgments that shape the software. In the product, we delegate judgments that shape its behaviour. In both cases, we are redistributing cognitive work.</a:t>
            </a:r>
          </a:p>
          <a:p xmlns:a="http://schemas.openxmlformats.org/drawingml/2006/main">
            <a:r>
              <a:rPr lang="en-GB"/>
              <a:t/>
            </a:r>
          </a:p>
          <a:p xmlns:a="http://schemas.openxmlformats.org/drawingml/2006/main">
            <a:r>
              <a:rPr lang="en-GB"/>
              <a:t>Software engineering was already sociotechnical. People, organisations and technical systems have always depended on one another. AI changes the distribution of work within that relationship.</a:t>
            </a:r>
          </a:p>
          <a:p xmlns:a="http://schemas.openxmlformats.org/drawingml/2006/main">
            <a:r>
              <a:rPr lang="en-GB"/>
              <a:t/>
            </a:r>
          </a:p>
          <a:p xmlns:a="http://schemas.openxmlformats.org/drawingml/2006/main">
            <a:r>
              <a:rPr lang="en-GB"/>
              <a:t>When I say “sociotechnical stack,” I mean the models and tools, the engineering workflow, the human expertise, the decision rights and the operational capacity that together make the system work.</a:t>
            </a:r>
          </a:p>
          <a:p xmlns:a="http://schemas.openxmlformats.org/drawingml/2006/main">
            <a:r>
              <a:rPr lang="en-GB"/>
              <a:t/>
            </a:r>
          </a:p>
          <a:p xmlns:a="http://schemas.openxmlformats.org/drawingml/2006/main">
            <a:r>
              <a:rPr lang="en-GB"/>
              <a:t>Think about a developer who uses AI to introduce a technology the team has never operated. The implementation may work in a demonstration. But the ability to review it and recover it is still missing. That is a delivery dependency, even though the code already exists.</a:t>
            </a:r>
          </a:p>
          <a:p xmlns:a="http://schemas.openxmlformats.org/drawingml/2006/main">
            <a:r>
              <a:rPr lang="en-GB"/>
              <a:t/>
            </a:r>
          </a:p>
          <a:p xmlns:a="http://schemas.openxmlformats.org/drawingml/2006/main">
            <a:r>
              <a:rPr lang="en-GB"/>
              <a:t>Or take our assistant. The model may be capable enough, while access to domain experts is too limited to evaluate its decisions. The constraint has moved to a part of the organisation that a model benchmark cannot see.</a:t>
            </a:r>
          </a:p>
          <a:p xmlns:a="http://schemas.openxmlformats.org/drawingml/2006/main">
            <a:r>
              <a:rPr lang="en-GB"/>
              <a:t/>
            </a:r>
          </a:p>
          <a:p xmlns:a="http://schemas.openxmlformats.org/drawingml/2006/main">
            <a:r>
              <a:rPr lang="en-GB"/>
              <a:t>The shared dependencies are knowledge, decision rights, time and capacity, and feedback. Learning and access to expertise belong in that picture too.</a:t>
            </a:r>
          </a:p>
          <a:p xmlns:a="http://schemas.openxmlformats.org/drawingml/2006/main">
            <a:r>
              <a:rPr lang="en-GB"/>
              <a:t/>
            </a:r>
          </a:p>
          <a:p xmlns:a="http://schemas.openxmlformats.org/drawingml/2006/main">
            <a:r>
              <a:rPr lang="en-GB"/>
              <a:t>This is why the operating model matters. Someone must define acceptable outcomes. Someone must produce and interpret evidence. Someone must have authority to make the decision. Someone must be able to intervene.</a:t>
            </a:r>
          </a:p>
          <a:p xmlns:a="http://schemas.openxmlformats.org/drawingml/2006/main">
            <a:r>
              <a:rPr lang="en-GB"/>
              <a:t/>
            </a:r>
          </a:p>
          <a:p xmlns:a="http://schemas.openxmlformats.org/drawingml/2006/main">
            <a:r>
              <a:rPr lang="en-GB"/>
              <a:t>Those responsibilities may sit in existing roles. The point is to make their dependencies and capacity visible, rather than assume that a new tool automatically supplies them.</a:t>
            </a:r>
          </a:p>
          <a:p xmlns:a="http://schemas.openxmlformats.org/drawingml/2006/main">
            <a:r>
              <a:rPr lang="en-GB"/>
              <a:t/>
            </a:r>
          </a:p>
          <a:p xmlns:a="http://schemas.openxmlformats.org/drawingml/2006/main">
            <a:r>
              <a:rPr lang="en-GB"/>
              <a:t>The balance we are searching for includes the people who build, judge, own and recover the system. A technical architecture that depends on capabilities the organisation cannot provide is still an incomplete design.</a:t>
            </a:r>
          </a:p>
          <a:p xmlns:a="http://schemas.openxmlformats.org/drawingml/2006/main">
            <a:r>
              <a:rPr lang="en-GB"/>
              <a:t/>
            </a:r>
          </a:p>
          <a:p xmlns:a="http://schemas.openxmlformats.org/drawingml/2006/main">
            <a:r>
              <a:rPr lang="en-GB"/>
              <a:t>### Preparation sources</a:t>
            </a:r>
          </a:p>
          <a:p xmlns:a="http://schemas.openxmlformats.org/drawingml/2006/main">
            <a:r>
              <a:rPr lang="en-GB"/>
              <a:t/>
            </a:r>
          </a:p>
          <a:p xmlns:a="http://schemas.openxmlformats.org/drawingml/2006/main">
            <a:r>
              <a:rPr lang="en-GB"/>
              <a:t>- Source presentation: https://github.com/UncertaintyArchitectureGroup/uncertainty-architecture/blob/22639d311d5fb46a23f3d5cdd819800dbe1169d9/assets/presentations/pmday-2026/README.md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Engineering Rigor Moves — It Doesn’t Disappear</a:t>
            </a:r>
          </a:p>
          <a:p xmlns:a="http://schemas.openxmlformats.org/drawingml/2006/main">
            <a:r>
              <a:rPr lang="en-GB"/>
              <a:t/>
            </a:r>
          </a:p>
          <a:p xmlns:a="http://schemas.openxmlformats.org/drawingml/2006/main">
            <a:r>
              <a:rPr lang="en-GB"/>
              <a:t>**20:30–23:00 · PMDay source slide 14**</a:t>
            </a:r>
          </a:p>
          <a:p xmlns:a="http://schemas.openxmlformats.org/drawingml/2006/main">
            <a:r>
              <a:rPr lang="en-GB"/>
              <a:t/>
            </a:r>
          </a:p>
          <a:p xmlns:a="http://schemas.openxmlformats.org/drawingml/2006/main">
            <a:r>
              <a:rPr lang="en-GB"/>
              <a:t>How do we work while that balance is still emerging?</a:t>
            </a:r>
          </a:p>
          <a:p xmlns:a="http://schemas.openxmlformats.org/drawingml/2006/main">
            <a:r>
              <a:rPr lang="en-GB"/>
              <a:t/>
            </a:r>
          </a:p>
          <a:p xmlns:a="http://schemas.openxmlformats.org/drawingml/2006/main">
            <a:r>
              <a:rPr lang="en-GB"/>
              <a:t>I use the laboratory as a metaphor: make the hypothesis explicit, run a bounded experiment with agreed limits, examine the evidence, and make a decision.</a:t>
            </a:r>
          </a:p>
          <a:p xmlns:a="http://schemas.openxmlformats.org/drawingml/2006/main">
            <a:r>
              <a:rPr lang="en-GB"/>
              <a:t/>
            </a:r>
          </a:p>
          <a:p xmlns:a="http://schemas.openxmlformats.org/drawingml/2006/main">
            <a:r>
              <a:rPr lang="en-GB"/>
              <a:t>Engineering already does this. AI makes it especially useful to be explicit about assumptions concerning delegated judgment and the human capacity around it.</a:t>
            </a:r>
          </a:p>
          <a:p xmlns:a="http://schemas.openxmlformats.org/drawingml/2006/main">
            <a:r>
              <a:rPr lang="en-GB"/>
              <a:t/>
            </a:r>
          </a:p>
          <a:p xmlns:a="http://schemas.openxmlformats.org/drawingml/2006/main">
            <a:r>
              <a:rPr lang="en-GB"/>
              <a:t>When someone proposes a new approach, I would ask four questions.</a:t>
            </a:r>
          </a:p>
          <a:p xmlns:a="http://schemas.openxmlformats.org/drawingml/2006/main">
            <a:r>
              <a:rPr lang="en-GB"/>
              <a:t/>
            </a:r>
          </a:p>
          <a:p xmlns:a="http://schemas.openxmlformats.org/drawingml/2006/main">
            <a:r>
              <a:rPr lang="en-GB"/>
              <a:t>Which imbalance does it address?</a:t>
            </a:r>
          </a:p>
          <a:p xmlns:a="http://schemas.openxmlformats.org/drawingml/2006/main">
            <a:r>
              <a:rPr lang="en-GB"/>
              <a:t/>
            </a:r>
          </a:p>
          <a:p xmlns:a="http://schemas.openxmlformats.org/drawingml/2006/main">
            <a:r>
              <a:rPr lang="en-GB"/>
              <a:t>By what mechanism should it improve the system?</a:t>
            </a:r>
          </a:p>
          <a:p xmlns:a="http://schemas.openxmlformats.org/drawingml/2006/main">
            <a:r>
              <a:rPr lang="en-GB"/>
              <a:t/>
            </a:r>
          </a:p>
          <a:p xmlns:a="http://schemas.openxmlformats.org/drawingml/2006/main">
            <a:r>
              <a:rPr lang="en-GB"/>
              <a:t>What results would demonstrate improvement at the level of the whole system?</a:t>
            </a:r>
          </a:p>
          <a:p xmlns:a="http://schemas.openxmlformats.org/drawingml/2006/main">
            <a:r>
              <a:rPr lang="en-GB"/>
              <a:t/>
            </a:r>
          </a:p>
          <a:p xmlns:a="http://schemas.openxmlformats.org/drawingml/2006/main">
            <a:r>
              <a:rPr lang="en-GB"/>
              <a:t>And what evidence would make us revise the hypothesis, or move the delegation boundary back?</a:t>
            </a:r>
          </a:p>
          <a:p xmlns:a="http://schemas.openxmlformats.org/drawingml/2006/main">
            <a:r>
              <a:rPr lang="en-GB"/>
              <a:t/>
            </a:r>
          </a:p>
          <a:p xmlns:a="http://schemas.openxmlformats.org/drawingml/2006/main">
            <a:r>
              <a:rPr lang="en-GB"/>
              <a:t>[Give the audience time to read the four questions.]</a:t>
            </a:r>
          </a:p>
          <a:p xmlns:a="http://schemas.openxmlformats.org/drawingml/2006/main">
            <a:r>
              <a:rPr lang="en-GB"/>
              <a:t/>
            </a:r>
          </a:p>
          <a:p xmlns:a="http://schemas.openxmlformats.org/drawingml/2006/main">
            <a:r>
              <a:rPr lang="en-GB"/>
              <a:t>An experiment should end in a decision: adopt, adapt, narrow the scope, investigate a remaining question, or stop. Laboratory mode is not an excuse to avoid committing. It is a way to make commitments supported by evidence.</a:t>
            </a:r>
          </a:p>
          <a:p xmlns:a="http://schemas.openxmlformats.org/drawingml/2006/main">
            <a:r>
              <a:rPr lang="en-GB"/>
              <a:t/>
            </a:r>
          </a:p>
          <a:p xmlns:a="http://schemas.openxmlformats.org/drawingml/2006/main">
            <a:r>
              <a:rPr lang="en-GB"/>
              <a:t>And production gives us further evidence. If a material assumption changes, we reopen the relevant question. We do not have to pretend that every earlier decision has become invalid.</a:t>
            </a:r>
          </a:p>
          <a:p xmlns:a="http://schemas.openxmlformats.org/drawingml/2006/main">
            <a:r>
              <a:rPr lang="en-GB"/>
              <a:t/>
            </a:r>
          </a:p>
          <a:p xmlns:a="http://schemas.openxmlformats.org/drawingml/2006/main">
            <a:r>
              <a:rPr lang="en-GB"/>
              <a:t>My conclusion is that AI has changed what we can delegate faster than we have settled how all the surrounding capabilities should fit together.</a:t>
            </a:r>
          </a:p>
          <a:p xmlns:a="http://schemas.openxmlformats.org/drawingml/2006/main">
            <a:r>
              <a:rPr lang="en-GB"/>
              <a:t/>
            </a:r>
          </a:p>
          <a:p xmlns:a="http://schemas.openxmlformats.org/drawingml/2006/main">
            <a:r>
              <a:rPr lang="en-GB"/>
              <a:t>That is the search for a new balance in the SDLC, and in the products it creates.</a:t>
            </a:r>
          </a:p>
          <a:p xmlns:a="http://schemas.openxmlformats.org/drawingml/2006/main">
            <a:r>
              <a:rPr lang="en-GB"/>
              <a:t/>
            </a:r>
          </a:p>
          <a:p xmlns:a="http://schemas.openxmlformats.org/drawingml/2006/main">
            <a:r>
              <a:rPr lang="en-GB"/>
              <a:t>The question I would leave with you is this: as your team delegates more cognitive work, is its capacity to understand, decide and recover keeping pace?</a:t>
            </a:r>
          </a:p>
          <a:p xmlns:a="http://schemas.openxmlformats.org/drawingml/2006/main">
            <a:r>
              <a:rPr lang="en-GB"/>
              <a:t/>
            </a:r>
          </a:p>
          <a:p xmlns:a="http://schemas.openxmlformats.org/drawingml/2006/main">
            <a:r>
              <a:rPr lang="en-GB"/>
              <a:t>More capability still requires engineering responsibility.</a:t>
            </a:r>
          </a:p>
          <a:p xmlns:a="http://schemas.openxmlformats.org/drawingml/2006/main">
            <a:r>
              <a:rPr lang="en-GB"/>
              <a:t/>
            </a:r>
          </a:p>
          <a:p xmlns:a="http://schemas.openxmlformats.org/drawingml/2006/main">
            <a:r>
              <a:rPr lang="en-GB"/>
              <a:t>### Preparation sources</a:t>
            </a:r>
          </a:p>
          <a:p xmlns:a="http://schemas.openxmlformats.org/drawingml/2006/main">
            <a:r>
              <a:rPr lang="en-GB"/>
              <a:t/>
            </a:r>
          </a:p>
          <a:p xmlns:a="http://schemas.openxmlformats.org/drawingml/2006/main">
            <a:r>
              <a:rPr lang="en-GB"/>
              <a:t>- Source presentation: https://github.com/UncertaintyArchitectureGroup/uncertainty-architecture/blob/22639d311d5fb46a23f3d5cdd819800dbe1169d9/assets/presentations/pmday-2026/README.md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lang="en-GB"/>
              <a:t>Continue the Conversation</a:t>
            </a:r>
          </a:p>
          <a:p xmlns:a="http://schemas.openxmlformats.org/drawingml/2006/main">
            <a:r>
              <a:rPr lang="en-GB"/>
              <a:t/>
            </a:r>
          </a:p>
          <a:p xmlns:a="http://schemas.openxmlformats.org/drawingml/2006/main">
            <a:r>
              <a:rPr lang="en-GB"/>
              <a:t>**23:00–28:00 · PMDay source slide 15**</a:t>
            </a:r>
          </a:p>
          <a:p xmlns:a="http://schemas.openxmlformats.org/drawingml/2006/main">
            <a:r>
              <a:rPr lang="en-GB"/>
              <a:t/>
            </a:r>
          </a:p>
          <a:p xmlns:a="http://schemas.openxmlformats.org/drawingml/2006/main">
            <a:r>
              <a:rPr lang="en-GB"/>
              <a:t>Thank you. The QR code takes you to my website, where you can find my research, articles and talks. I would be interested to hear where you see the balance shifting in your own systems.</a:t>
            </a:r>
          </a:p>
          <a:p xmlns:a="http://schemas.openxmlformats.org/drawingml/2006/main">
            <a:r>
              <a:rPr lang="en-GB"/>
              <a:t/>
            </a:r>
          </a:p>
          <a:p xmlns:a="http://schemas.openxmlformats.org/drawingml/2006/main">
            <a:r>
              <a:rPr lang="en-GB"/>
              <a:t>[Leave the single website QR visible during questions. Allow five minutes for discussion. Two further minutes remain as reserve.]</a:t>
            </a:r>
          </a:p>
          <a:p xmlns:a="http://schemas.openxmlformats.org/drawingml/2006/main">
            <a:r>
              <a:rPr lang="en-GB"/>
              <a:t/>
            </a:r>
          </a:p>
          <a:p xmlns:a="http://schemas.openxmlformats.org/drawingml/2006/main">
            <a:r>
              <a:rPr lang="en-GB"/>
              <a:t>### Preparation sources</a:t>
            </a:r>
          </a:p>
          <a:p xmlns:a="http://schemas.openxmlformats.org/drawingml/2006/main">
            <a:r>
              <a:rPr lang="en-GB"/>
              <a:t/>
            </a:r>
          </a:p>
          <a:p xmlns:a="http://schemas.openxmlformats.org/drawingml/2006/main">
            <a:r>
              <a:rPr lang="en-GB"/>
              <a:t>- Source presentation: https://github.com/UncertaintyArchitectureGroup/uncertainty-architecture/blob/22639d311d5fb46a23f3d5cdd819800dbe1169d9/assets/presentations/pmday-2026/README.md</a:t>
            </a:r>
          </a:p>
          <a:p xmlns:a="http://schemas.openxmlformats.org/drawingml/2006/main">
            <a:r>
              <a:rPr lang="en-GB"/>
              <a:t>- Single on-screen QR destination: https://vitaliioborskyi.ai/</a:t>
            </a:r>
          </a:p>
          <a:p xmlns:a="http://schemas.openxmlformats.org/drawingml/2006/main">
            <a:r>
              <a:rPr lang="en-GB"/>
              <a:t>- On-screen resource label: Research, articles, talks.</a:t>
            </a:r>
          </a:p>
          <a:p xmlns:a="http://schemas.openxmlformats.org/drawingml/2006/main">
            <a:r>
              <a:rPr lang="en-GB"/>
              <a:t/>
            </a:r>
          </a:p>
          <a:p xmlns:a="http://schemas.openxmlformats.org/drawingml/2006/main">
            <a:r>
              <a:rPr lang="en-GB"/>
              <a:t>### Optional Q&amp;A reference: evaluation uncertainty</a:t>
            </a:r>
          </a:p>
          <a:p xmlns:a="http://schemas.openxmlformats.org/drawingml/2006/main">
            <a:r>
              <a:rPr lang="en-GB"/>
              <a:t/>
            </a:r>
          </a:p>
          <a:p xmlns:a="http://schemas.openxmlformats.org/drawingml/2006/main">
            <a:r>
              <a:rPr lang="en-GB"/>
              <a:t>This reference is not part of the 23-minute narration and does not require another main slide.</a:t>
            </a:r>
          </a:p>
          <a:p xmlns:a="http://schemas.openxmlformats.org/drawingml/2006/main">
            <a:r>
              <a:rPr lang="en-GB"/>
              <a:t/>
            </a:r>
          </a:p>
          <a:p xmlns:a="http://schemas.openxmlformats.org/drawingml/2006/main">
            <a:r>
              <a:rPr lang="en-GB"/>
              <a:t>In the illustrative assistant example, four contract violations out of 200 evaluation units give an observed rate of 2%. The two-sided 95% Wilson interval is approximately 0.8%–5.0%, under the example's assumptions of independent, representative evaluation units from one stable target distribution.</a:t>
            </a:r>
          </a:p>
          <a:p xmlns:a="http://schemas.openxmlformats.org/drawingml/2006/main">
            <a:r>
              <a:rPr lang="en-GB"/>
              <a:t/>
            </a:r>
          </a:p>
          <a:p xmlns:a="http://schemas.openxmlformats.org/drawingml/2006/main">
            <a:r>
              <a:rPr lang="en-GB"/>
              <a:t>The interval describes sampling uncertainty under those assumptions. It is not a 95% probability that a particular future response is safe, and it does not guarantee behaviour after the model, context or target population changes. Repeating a few cases does not create 200 independent representative cases. Evaluator quality, coverage of relevant groups and the severity of consequences also matter.</a:t>
            </a:r>
          </a:p>
          <a:p xmlns:a="http://schemas.openxmlformats.org/drawingml/2006/main">
            <a:r>
              <a:rPr lang="en-GB"/>
              <a:t/>
            </a:r>
          </a:p>
          <a:p xmlns:a="http://schemas.openxmlformats.org/drawingml/2006/main">
            <a:r>
              <a:rPr lang="en-GB"/>
              <a:t>The observed privacy breach violates the example's approved prohibition, so it blocks release irrespective of the aggregate acceptance rate. A sample with no observed breach would not establish that a breach is impossible. The sample size of 200 is illustrative, not a universal evaluation requirement.</a:t>
            </a:r>
          </a:p>
          <a:p xmlns:a="http://schemas.openxmlformats.org/drawingml/2006/main">
            <a:r>
              <a:rPr lang="en-GB"/>
              <a:t/>
            </a:r>
          </a:p>
          <a:p xmlns:a="http://schemas.openxmlformats.org/drawingml/2006/main">
            <a:r>
              <a:rPr lang="en-GB"/>
              <a:t>Source: the retained PMDay v35 slide 10 and its source notes at the pinned presentation URL above. These figures are carried over from that reviewed example; no new empirical result is introduced.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b23cca79a646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4fe74d19b84a41" /><Relationship Type="http://schemas.openxmlformats.org/officeDocument/2006/relationships/slideLayout" Target="/ppt/slideLayouts/slideLayout1.xml" Id="R0e3a49f91d404705" /></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e3a49f91d404705"/>
  </p:sldLayoutIdLst>
  <p:txStyles>
    <p:titleStyle>
      <a:lvl1pPr algn="l">
        <a:lnSpc>
          <a:spcPct val="90000"/>
        </a:lnSpc>
        <a:spcBef>
          <a:spcPts val="0"/>
        </a:spcBef>
        <a:buNone/>
        <a:defRPr sz="4400">
          <a:solidFill>
            <a:schemeClr val="tx1"/>
          </a:solidFill>
          <a:latin typeface="Arial"/>
          <a:ea typeface="Arial"/>
          <a:cs typeface="Arial"/>
        </a:defRPr>
      </a:lvl1pPr>
    </p:titleStyle>
    <p:bodyStyle>
      <a:lvl1pPr marL="228600" indent="-228600" algn="l">
        <a:lnSpc>
          <a:spcPct val="90000"/>
        </a:lnSpc>
        <a:spcBef>
          <a:spcPts val="1000"/>
        </a:spcBef>
        <a:buChar char="•"/>
        <a:defRPr sz="2800">
          <a:solidFill>
            <a:schemeClr val="tx1"/>
          </a:solidFill>
          <a:latin typeface="Arial"/>
          <a:ea typeface="Arial"/>
          <a:cs typeface="Arial"/>
        </a:defRPr>
      </a:lvl1pPr>
      <a:lvl2pPr marL="685800" indent="-228600" algn="l">
        <a:lnSpc>
          <a:spcPct val="90000"/>
        </a:lnSpc>
        <a:spcBef>
          <a:spcPts val="500"/>
        </a:spcBef>
        <a:buChar char="•"/>
        <a:defRPr sz="2400">
          <a:solidFill>
            <a:schemeClr val="tx1"/>
          </a:solidFill>
          <a:latin typeface="Arial"/>
          <a:ea typeface="Arial"/>
          <a:cs typeface="Arial"/>
        </a:defRPr>
      </a:lvl2pPr>
      <a:lvl3pPr marL="1143000" indent="-228600" algn="l">
        <a:lnSpc>
          <a:spcPct val="90000"/>
        </a:lnSpc>
        <a:spcBef>
          <a:spcPts val="500"/>
        </a:spcBef>
        <a:buChar char="•"/>
        <a:defRPr sz="2000">
          <a:solidFill>
            <a:schemeClr val="tx1"/>
          </a:solidFill>
          <a:latin typeface="Arial"/>
          <a:ea typeface="Arial"/>
          <a:cs typeface="Arial"/>
        </a:defRPr>
      </a:lvl3pPr>
      <a:lvl4pPr marL="1600200" indent="-228600" algn="l">
        <a:lnSpc>
          <a:spcPct val="90000"/>
        </a:lnSpc>
        <a:spcBef>
          <a:spcPts val="500"/>
        </a:spcBef>
        <a:buChar char="•"/>
        <a:defRPr sz="1800">
          <a:solidFill>
            <a:schemeClr val="tx1"/>
          </a:solidFill>
          <a:latin typeface="Arial"/>
          <a:ea typeface="Arial"/>
          <a:cs typeface="Arial"/>
        </a:defRPr>
      </a:lvl4pPr>
      <a:lvl5pPr marL="2057400" indent="-228600" algn="l">
        <a:lnSpc>
          <a:spcPct val="90000"/>
        </a:lnSpc>
        <a:spcBef>
          <a:spcPts val="500"/>
        </a:spcBef>
        <a:buChar char="•"/>
        <a:defRPr sz="1800">
          <a:solidFill>
            <a:schemeClr val="tx1"/>
          </a:solidFill>
          <a:latin typeface="Arial"/>
          <a:ea typeface="Arial"/>
          <a:cs typeface="Arial"/>
        </a:defRPr>
      </a:lvl5pPr>
      <a:lvl6pPr marL="2514600" indent="-228600" algn="l">
        <a:lnSpc>
          <a:spcPct val="90000"/>
        </a:lnSpc>
        <a:spcBef>
          <a:spcPts val="500"/>
        </a:spcBef>
        <a:buChar char="•"/>
        <a:defRPr sz="1800">
          <a:solidFill>
            <a:schemeClr val="tx1"/>
          </a:solidFill>
          <a:latin typeface="Arial"/>
          <a:ea typeface="Arial"/>
          <a:cs typeface="Arial"/>
        </a:defRPr>
      </a:lvl6pPr>
      <a:lvl7pPr marL="2971800" indent="-228600" algn="l">
        <a:lnSpc>
          <a:spcPct val="90000"/>
        </a:lnSpc>
        <a:spcBef>
          <a:spcPts val="500"/>
        </a:spcBef>
        <a:buChar char="•"/>
        <a:defRPr sz="1800">
          <a:solidFill>
            <a:schemeClr val="tx1"/>
          </a:solidFill>
          <a:latin typeface="Arial"/>
          <a:ea typeface="Arial"/>
          <a:cs typeface="Arial"/>
        </a:defRPr>
      </a:lvl7pPr>
      <a:lvl8pPr marL="3429000" indent="-228600" algn="l">
        <a:lnSpc>
          <a:spcPct val="90000"/>
        </a:lnSpc>
        <a:spcBef>
          <a:spcPts val="500"/>
        </a:spcBef>
        <a:buChar char="•"/>
        <a:defRPr sz="1800">
          <a:solidFill>
            <a:schemeClr val="tx1"/>
          </a:solidFill>
          <a:latin typeface="Arial"/>
          <a:ea typeface="Arial"/>
          <a:cs typeface="Arial"/>
        </a:defRPr>
      </a:lvl8pPr>
      <a:lvl9pPr marL="3886200" indent="-228600" algn="l">
        <a:lnSpc>
          <a:spcPct val="90000"/>
        </a:lnSpc>
        <a:spcBef>
          <a:spcPts val="500"/>
        </a:spcBef>
        <a:buChar char="•"/>
        <a:defRPr sz="1800">
          <a:solidFill>
            <a:schemeClr val="tx1"/>
          </a:solidFill>
          <a:latin typeface="Arial"/>
          <a:ea typeface="Arial"/>
          <a:cs typeface="Arial"/>
        </a:defRPr>
      </a:lvl9pPr>
    </p:bodyStyle>
    <p:otherStyle>
      <a:lvl1pPr marL="0" algn="l">
        <a:buNone/>
        <a:defRPr sz="1800">
          <a:solidFill>
            <a:schemeClr val="tx1"/>
          </a:solidFill>
          <a:latin typeface="Arial"/>
          <a:ea typeface="Arial"/>
          <a:cs typeface="Arial"/>
        </a:defRPr>
      </a:lvl1pPr>
      <a:lvl2pPr marL="457200" algn="l">
        <a:buNone/>
        <a:defRPr sz="1800">
          <a:solidFill>
            <a:schemeClr val="tx1"/>
          </a:solidFill>
          <a:latin typeface="Arial"/>
          <a:ea typeface="Arial"/>
          <a:cs typeface="Arial"/>
        </a:defRPr>
      </a:lvl2pPr>
      <a:lvl3pPr marL="914400" algn="l">
        <a:buNone/>
        <a:defRPr sz="1800">
          <a:solidFill>
            <a:schemeClr val="tx1"/>
          </a:solidFill>
          <a:latin typeface="Arial"/>
          <a:ea typeface="Arial"/>
          <a:cs typeface="Arial"/>
        </a:defRPr>
      </a:lvl3pPr>
      <a:lvl4pPr marL="1371600" algn="l">
        <a:buNone/>
        <a:defRPr sz="1800">
          <a:solidFill>
            <a:schemeClr val="tx1"/>
          </a:solidFill>
          <a:latin typeface="Arial"/>
          <a:ea typeface="Arial"/>
          <a:cs typeface="Arial"/>
        </a:defRPr>
      </a:lvl4pPr>
      <a:lvl5pPr marL="1828800" algn="l">
        <a:buNone/>
        <a:defRPr sz="1800">
          <a:solidFill>
            <a:schemeClr val="tx1"/>
          </a:solidFill>
          <a:latin typeface="Arial"/>
          <a:ea typeface="Arial"/>
          <a:cs typeface="Arial"/>
        </a:defRPr>
      </a:lvl5pPr>
      <a:lvl6pPr marL="2286000" algn="l">
        <a:buNone/>
        <a:defRPr sz="1800">
          <a:solidFill>
            <a:schemeClr val="tx1"/>
          </a:solidFill>
          <a:latin typeface="Arial"/>
          <a:ea typeface="Arial"/>
          <a:cs typeface="Arial"/>
        </a:defRPr>
      </a:lvl6pPr>
      <a:lvl7pPr marL="2743200" algn="l">
        <a:buNone/>
        <a:defRPr sz="1800">
          <a:solidFill>
            <a:schemeClr val="tx1"/>
          </a:solidFill>
          <a:latin typeface="Arial"/>
          <a:ea typeface="Arial"/>
          <a:cs typeface="Arial"/>
        </a:defRPr>
      </a:lvl7pPr>
      <a:lvl8pPr marL="3200400" algn="l">
        <a:buNone/>
        <a:defRPr sz="1800">
          <a:solidFill>
            <a:schemeClr val="tx1"/>
          </a:solidFill>
          <a:latin typeface="Arial"/>
          <a:ea typeface="Arial"/>
          <a:cs typeface="Arial"/>
        </a:defRPr>
      </a:lvl8pPr>
      <a:lvl9pPr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92b93a313081491d" /><Relationship Type="http://schemas.openxmlformats.org/officeDocument/2006/relationships/image" Target="/ppt/media/image.png" Id="Rc765ae508fda45f4" /><Relationship Type="http://schemas.openxmlformats.org/officeDocument/2006/relationships/hyperlink" Target="mailto:oborskyivitalii@gmail.com" TargetMode="External" Id="Rb8e2ec0388f24d02" /><Relationship Type="http://schemas.openxmlformats.org/officeDocument/2006/relationships/hyperlink" Target="https://www.linkedin.com/in/vitaliioborskyi/" TargetMode="External" Id="Rdcb135e44fc64fb7" /><Relationship Type="http://schemas.openxmlformats.org/officeDocument/2006/relationships/notesSlide" Target="/ppt/notesSlides/notesSlide1.xml" Id="Rb66eac3278fa4b80" /></Relationships>
</file>

<file path=ppt/slides/_rels/slide2.xml.rels><?xml version="1.0" encoding="utf-8"?><Relationships xmlns="http://schemas.openxmlformats.org/package/2006/relationships"><Relationship Type="http://schemas.openxmlformats.org/officeDocument/2006/relationships/slideLayout" Target="/ppt/slideLayouts/slideLayout1.xml" Id="Rc1a7365c85194232" /><Relationship Type="http://schemas.openxmlformats.org/officeDocument/2006/relationships/notesSlide" Target="/ppt/notesSlides/notesSlide2.xml" Id="Rfd49a94d35e0494f" /></Relationships>
</file>

<file path=ppt/slides/_rels/slide3.xml.rels><?xml version="1.0" encoding="utf-8"?><Relationships xmlns="http://schemas.openxmlformats.org/package/2006/relationships"><Relationship Type="http://schemas.openxmlformats.org/officeDocument/2006/relationships/slideLayout" Target="/ppt/slideLayouts/slideLayout1.xml" Id="R5e67708a45ed455b" /><Relationship Type="http://schemas.openxmlformats.org/officeDocument/2006/relationships/notesSlide" Target="/ppt/notesSlides/notesSlide3.xml" Id="R02fc5a4ecc834657" /></Relationships>
</file>

<file path=ppt/slides/_rels/slide4.xml.rels><?xml version="1.0" encoding="utf-8"?><Relationships xmlns="http://schemas.openxmlformats.org/package/2006/relationships"><Relationship Type="http://schemas.openxmlformats.org/officeDocument/2006/relationships/slideLayout" Target="/ppt/slideLayouts/slideLayout1.xml" Id="R400b2285da2d4792" /><Relationship Type="http://schemas.openxmlformats.org/officeDocument/2006/relationships/notesSlide" Target="/ppt/notesSlides/notesSlide4.xml" Id="Ra58db983df074411" /></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5144b4fa39054a87" /><Relationship Type="http://schemas.openxmlformats.org/officeDocument/2006/relationships/notesSlide" Target="/ppt/notesSlides/notesSlide5.xml" Id="R2ae9f2106d9c4683" /></Relationships>
</file>

<file path=ppt/slides/_rels/slide6.xml.rels><?xml version="1.0" encoding="utf-8"?><Relationships xmlns="http://schemas.openxmlformats.org/package/2006/relationships"><Relationship Type="http://schemas.openxmlformats.org/officeDocument/2006/relationships/slideLayout" Target="/ppt/slideLayouts/slideLayout1.xml" Id="R6185af8c5cd0434b" /><Relationship Type="http://schemas.openxmlformats.org/officeDocument/2006/relationships/notesSlide" Target="/ppt/notesSlides/notesSlide6.xml" Id="R546ebcd29bdc4f24" /></Relationships>
</file>

<file path=ppt/slides/_rels/slide7.xml.rels><?xml version="1.0" encoding="utf-8"?><Relationships xmlns="http://schemas.openxmlformats.org/package/2006/relationships"><Relationship Type="http://schemas.openxmlformats.org/officeDocument/2006/relationships/slideLayout" Target="/ppt/slideLayouts/slideLayout1.xml" Id="R99b73d2167ee4f60" /><Relationship Type="http://schemas.openxmlformats.org/officeDocument/2006/relationships/chart" Target="/ppt/slides/charts/chart1.xml" Id="R7eb9f4f78216436c" /><Relationship Type="http://schemas.openxmlformats.org/officeDocument/2006/relationships/notesSlide" Target="/ppt/notesSlides/notesSlide7.xml" Id="Rb3b0df93c6604279" /></Relationships>
</file>

<file path=ppt/slides/_rels/slide8.xml.rels><?xml version="1.0" encoding="utf-8"?><Relationships xmlns="http://schemas.openxmlformats.org/package/2006/relationships"><Relationship Type="http://schemas.openxmlformats.org/officeDocument/2006/relationships/slideLayout" Target="/ppt/slideLayouts/slideLayout1.xml" Id="R3845ebb889f546d2" /><Relationship Type="http://schemas.openxmlformats.org/officeDocument/2006/relationships/notesSlide" Target="/ppt/notesSlides/notesSlide8.xml" Id="Rc02d36cb35804d3f" /></Relationships>
</file>

<file path=ppt/slides/_rels/slide9.xml.rels><?xml version="1.0" encoding="utf-8"?><Relationships xmlns="http://schemas.openxmlformats.org/package/2006/relationships"><Relationship Type="http://schemas.openxmlformats.org/officeDocument/2006/relationships/slideLayout" Target="/ppt/slideLayouts/slideLayout1.xml" Id="Re7f318c204794009" /><Relationship Type="http://schemas.openxmlformats.org/officeDocument/2006/relationships/notesSlide" Target="/ppt/notesSlides/notesSlide9.xml" Id="Re247d10ff2b74f14" /></Relationships>
</file>

<file path=ppt/slides/_rels/slide10.xml.rels><?xml version="1.0" encoding="utf-8"?><Relationships xmlns="http://schemas.openxmlformats.org/package/2006/relationships"><Relationship Type="http://schemas.openxmlformats.org/officeDocument/2006/relationships/slideLayout" Target="/ppt/slideLayouts/slideLayout1.xml" Id="R8807ee4cb7b94882" /><Relationship Type="http://schemas.openxmlformats.org/officeDocument/2006/relationships/notesSlide" Target="/ppt/notesSlides/notesSlide10.xml" Id="R2161d283df4b4458" /></Relationships>
</file>

<file path=ppt/slides/_rels/slide11.xml.rels><?xml version='1.0' encoding='utf-8'?>
<Relationships xmlns="http://schemas.openxmlformats.org/package/2006/relationships"><Relationship Type="http://schemas.openxmlformats.org/officeDocument/2006/relationships/slideLayout" Target="/ppt/slideLayouts/slideLayout1.xml" Id="R80231e5049b243e4"/><Relationship Type="http://schemas.openxmlformats.org/officeDocument/2006/relationships/hyperlink" Target="https://github.com/UncertaintyArchitectureGroup/uncertainty-architecture" TargetMode="External" Id="R56f2279741084637"/><Relationship Type="http://schemas.openxmlformats.org/officeDocument/2006/relationships/hyperlink" Target="https://github.com/UncertaintyArchitectureGroup/uncertainty-architecture" TargetMode="External" Id="R8cc7f0da27ff4222"/><Relationship Type="http://schemas.openxmlformats.org/officeDocument/2006/relationships/hyperlink" Target="https://github.com/UncertaintyArchitectureGroup/The-Subprime-Code-Crisis" TargetMode="External" Id="Rc16d36a67a7e44da"/><Relationship Type="http://schemas.openxmlformats.org/officeDocument/2006/relationships/hyperlink" Target="https://github.com/UncertaintyArchitectureGroup/The-Subprime-Code-Crisis" TargetMode="External" Id="R7d31488fd7734e60"/><Relationship Type="http://schemas.openxmlformats.org/officeDocument/2006/relationships/hyperlink" Target="mailto:oborskyivitalii@gmail.com" TargetMode="External" Id="Raeb7bbae3b19404f"/><Relationship Type="http://schemas.openxmlformats.org/officeDocument/2006/relationships/hyperlink" Target="https://www.linkedin.com/in/vitaliioborskyi/" TargetMode="External" Id="R9df8d43fee184339"/><Relationship Type="http://schemas.openxmlformats.org/officeDocument/2006/relationships/notesSlide" Target="/ppt/notesSlides/notesSlide11.xml" Id="R84ffddc4daa94c5e"/><Relationship Id="rIdDevconWebsiteQr" Type="http://schemas.openxmlformats.org/officeDocument/2006/relationships/image" Target="../media/devcon-website-qr.png"/><Relationship Id="rIdDevconWebsite" Type="http://schemas.openxmlformats.org/officeDocument/2006/relationships/hyperlink" Target="https://vitaliioborskyi.ai/" TargetMode="External"/></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Observed outputs</c:v>
          </c:tx>
          <c:spPr>
            <a:solidFill xmlns:a="http://schemas.openxmlformats.org/drawingml/2006/main">
              <a:srgbClr val="28C7F7"/>
            </a:solidFill>
          </c:spPr>
          <c:dPt>
            <c:idx val="0"/>
            <c:invertIfNegative val="0"/>
            <c:spPr>
              <a:solidFill xmlns:a="http://schemas.openxmlformats.org/drawingml/2006/main">
                <a:srgbClr val="28C7F7"/>
              </a:solidFill>
              <a:ln xmlns:a="http://schemas.openxmlformats.org/drawingml/2006/main" w="0">
                <a:noFill/>
              </a:ln>
            </c:spPr>
          </c:dPt>
          <c:dPt>
            <c:idx val="1"/>
            <c:invertIfNegative val="0"/>
            <c:spPr>
              <a:solidFill xmlns:a="http://schemas.openxmlformats.org/drawingml/2006/main">
                <a:srgbClr val="F5B61C"/>
              </a:solidFill>
              <a:ln xmlns:a="http://schemas.openxmlformats.org/drawingml/2006/main" w="0">
                <a:noFill/>
              </a:ln>
            </c:spPr>
          </c:dPt>
          <c:dPt>
            <c:idx val="2"/>
            <c:invertIfNegative val="0"/>
            <c:spPr>
              <a:solidFill xmlns:a="http://schemas.openxmlformats.org/drawingml/2006/main">
                <a:srgbClr val="FF6B75"/>
              </a:solidFill>
              <a:ln xmlns:a="http://schemas.openxmlformats.org/drawingml/2006/main" w="0">
                <a:noFill/>
              </a:ln>
            </c:spPr>
          </c:dPt>
          <c:cat>
            <c:strRef>
              <c:f>'Chart Data'!$A$2:$A$4</c:f>
              <c:strCache>
                <c:ptCount val="3"/>
                <c:pt idx="0">
                  <c:v>Acceptable</c:v>
                </c:pt>
                <c:pt idx="1">
                  <c:v>Incorrect steps</c:v>
                </c:pt>
                <c:pt idx="2">
                  <c:v>Privacy leak</c:v>
                </c:pt>
              </c:strCache>
            </c:strRef>
          </c:cat>
          <c:val>
            <c:numRef>
              <c:f>'Chart Data'!$B$2:$B$4</c:f>
              <c:numCache>
                <c:formatCode>0</c:formatCode>
                <c:ptCount val="3"/>
                <c:pt idx="0">
                  <c:v>196</c:v>
                </c:pt>
                <c:pt idx="1">
                  <c:v>3</c:v>
                </c:pt>
                <c:pt idx="2">
                  <c:v>1</c:v>
                </c:pt>
              </c:numCache>
            </c:numRef>
          </c:val>
        </c:ser>
        <c:dLbls>
          <c:spPr>
            <a:noFill xmlns:a="http://schemas.openxmlformats.org/drawingml/2006/main"/>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b="1">
                  <a:solidFill>
                    <a:srgbClr val="F4F7FA"/>
                  </a:solidFill>
                  <a:latin typeface="Arial"/>
                  <a:ea typeface="Arial"/>
                  <a:cs typeface="Arial"/>
                </a:defRPr>
              </a:pPr>
            </a:p>
          </c:txPr>
          <c:dLblPos val="outEnd"/>
          <c:showLegendKey val="0"/>
          <c:showVal val="0"/>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344454"/>
            </a:solidFill>
          </a:ln>
        </c:spPr>
        <c:txPr>
          <a:bodyPr xmlns:a="http://schemas.openxmlformats.org/drawingml/2006/main" anchorCtr="1"/>
          <a:lstStyle xmlns:a="http://schemas.openxmlformats.org/drawingml/2006/main"/>
          <a:p xmlns:a="http://schemas.openxmlformats.org/drawingml/2006/main">
            <a:pPr>
              <a:defRPr sz="1200">
                <a:solidFill>
                  <a:srgbClr val="ADB8C5"/>
                </a:solidFill>
                <a:latin typeface="Arial"/>
                <a:ea typeface="Arial"/>
                <a:cs typeface="Arial"/>
              </a:defRPr>
            </a:pPr>
          </a:p>
        </c:txPr>
        <c:crossAx val="48672768"/>
      </c:catAx>
      <c:valAx>
        <c:axId val="48672768"/>
        <c:scaling>
          <c:orientation val="minMax"/>
          <c:max val="200"/>
          <c:min val="0"/>
        </c:scaling>
        <c:delete val="0"/>
        <c:axPos val="l"/>
        <c:majorGridlines>
          <c:spPr>
            <a:ln xmlns:a="http://schemas.openxmlformats.org/drawingml/2006/main" w="9525">
              <a:solidFill>
                <a:srgbClr val="344454"/>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ADB8C5"/>
                </a:solidFill>
                <a:latin typeface="Arial"/>
                <a:ea typeface="Arial"/>
                <a:cs typeface="Arial"/>
              </a:defRPr>
            </a:pPr>
          </a:p>
        </c:txPr>
        <c:crossAx val="48650112"/>
        <c:crossBetween val="between"/>
        <c:majorUnit val="100"/>
      </c:valAx>
      <c:spPr>
        <a:solidFill xmlns:a="http://schemas.openxmlformats.org/drawingml/2006/main">
          <a:srgbClr val="0B0F14"/>
        </a:solidFill>
        <a:ln xmlns:a="http://schemas.openxmlformats.org/drawingml/2006/main" w="0">
          <a:noFill/>
        </a:ln>
      </c:spPr>
    </c:plotArea>
    <c:plotVisOnly val="1"/>
  </c:chart>
  <c:spPr>
    <a:solidFill xmlns:a="http://schemas.openxmlformats.org/drawingml/2006/main">
      <a:srgbClr val="0B0F14"/>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F5DBD24-A6CA-43F8-B67E-A8E10123C687}"/>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F3F8982B-8D00-4EE9-8723-84CD406DDCF9}"/>
              </a:ext>
            </a:extLst>
          </p:cNvPr>
          <p:cNvSpPr>
            <a:spLocks xmlns:a="http://schemas.openxmlformats.org/drawingml/2006/main" noGrp="1"/>
          </p:cNvSpPr>
          <p:nvPr/>
        </p:nvSpPr>
        <p:spPr>
          <a:xfrm xmlns:a="http://schemas.openxmlformats.org/drawingml/2006/main">
            <a:off x="609600" y="342900"/>
            <a:ext cx="10572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F4F7FA"/>
                </a:solidFill>
                <a:latin typeface="Arial"/>
                <a:ea typeface="Arial"/>
                <a:cs typeface="Arial"/>
              </a:defRPr>
            </a:pPr>
            <a:r>
              <a:rPr sz="3450" b="1">
                <a:solidFill>
                  <a:srgbClr val="F4F7FA"/>
                </a:solidFill>
                <a:latin typeface="Arial"/>
                <a:ea typeface="Arial"/>
                <a:cs typeface="Arial"/>
              </a:rPr>
              <a:t>AI Changes the Delivery System</a:t>
            </a:r>
          </a:p>
          <a:p xmlns:a="http://schemas.openxmlformats.org/drawingml/2006/main">
            <a:pPr algn="l">
              <a:defRPr sz="3450" b="1">
                <a:solidFill>
                  <a:srgbClr val="F4F7FA"/>
                </a:solidFill>
                <a:latin typeface="Arial"/>
                <a:ea typeface="Arial"/>
                <a:cs typeface="Arial"/>
              </a:defRPr>
            </a:pPr>
            <a:r>
              <a:rPr sz="3450" b="1">
                <a:solidFill>
                  <a:srgbClr val="F4F7FA"/>
                </a:solidFill>
                <a:latin typeface="Arial"/>
                <a:ea typeface="Arial"/>
                <a:cs typeface="Arial"/>
              </a:rPr>
              <a:t>and the Product Itself</a:t>
            </a:r>
          </a:p>
        </p:txBody>
      </p:sp>
      <p:sp>
        <p:nvSpPr>
          <p:cNvPr id="3" name="">
            <a:extLst xmlns:a="http://schemas.openxmlformats.org/drawingml/2006/main">
              <a:ext uri="{FF2B5EF4-FFF2-40B4-BE49-F238E27FC236}">
                <a16:creationId xmlns:a16="http://schemas.microsoft.com/office/drawing/2014/main" id="{1505CB88-01EF-4232-8555-1163A16FE8FD}"/>
              </a:ext>
            </a:extLst>
          </p:cNvPr>
          <p:cNvSpPr>
            <a:spLocks xmlns:a="http://schemas.openxmlformats.org/drawingml/2006/main" noGrp="1"/>
          </p:cNvSpPr>
          <p:nvPr/>
        </p:nvSpPr>
        <p:spPr>
          <a:xfrm xmlns:a="http://schemas.openxmlformats.org/drawingml/2006/main">
            <a:off x="609600" y="1704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0:p xmlns:ns0="http://schemas.openxmlformats.org/drawingml/2006/main">
            <ns0:pPr algn="l">
              <ns0:defRPr sz="2025" b="0">
                <ns0:solidFill>
                  <ns0:srgbClr val="ADB8C5"/>
                </ns0:solidFill>
                <ns0:latin typeface="Arial"/>
                <ns0:ea typeface="Arial"/>
                <ns0:cs typeface="Arial"/>
              </ns0:defRPr>
            </ns0:pPr>
            <ns0:r>
              <ns0:rPr sz="2025" b="0">
                <ns0:solidFill>
                  <ns0:srgbClr val="ADB8C5"/>
                </ns0:solidFill>
                <ns0:latin typeface="Arial"/>
                <ns0:ea typeface="Arial"/>
                <ns0:cs typeface="Arial"/>
              </ns0:rPr>
              <ns0:t>New capabilities change what we can delegate.</ns0:t>
            </ns0:r>
          </ns0: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765ae508fda45f4"/>
          <a:stretch xmlns:a="http://schemas.openxmlformats.org/drawingml/2006/main"/>
        </p:blipFill>
        <p:spPr>
          <a:xfrm xmlns:a="http://schemas.openxmlformats.org/drawingml/2006/main">
            <a:off x="1809750" y="2200275"/>
            <a:ext cx="8572500" cy="2857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10271D8-F5E5-42EB-9B88-2B95DB3E8182}"/>
              </a:ext>
            </a:extLst>
          </p:cNvPr>
          <p:cNvSpPr>
            <a:spLocks xmlns:a="http://schemas.openxmlformats.org/drawingml/2006/main" noGrp="1"/>
          </p:cNvSpPr>
          <p:nvPr/>
        </p:nvSpPr>
        <p:spPr>
          <a:xfrm xmlns:a="http://schemas.openxmlformats.org/drawingml/2006/main">
            <a:off x="914400" y="5143500"/>
            <a:ext cx="4800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28C7F7"/>
                </a:solidFill>
                <a:latin typeface="Arial"/>
                <a:ea typeface="Arial"/>
                <a:cs typeface="Arial"/>
              </a:defRPr>
            </a:pPr>
            <a:r>
              <a:rPr sz="1650" b="1">
                <a:solidFill>
                  <a:srgbClr val="28C7F7"/>
                </a:solidFill>
                <a:latin typeface="Arial"/>
                <a:ea typeface="Arial"/>
                <a:cs typeface="Arial"/>
              </a:rPr>
              <a:t>HOW WE BUILD</a:t>
            </a:r>
          </a:p>
        </p:txBody>
      </p:sp>
      <p:sp>
        <p:nvSpPr>
          <p:cNvPr id="6" name="">
            <a:extLst xmlns:a="http://schemas.openxmlformats.org/drawingml/2006/main">
              <a:ext uri="{FF2B5EF4-FFF2-40B4-BE49-F238E27FC236}">
                <a16:creationId xmlns:a16="http://schemas.microsoft.com/office/drawing/2014/main" id="{CE9B797E-C52B-4966-8439-78E41B642BD0}"/>
              </a:ext>
            </a:extLst>
          </p:cNvPr>
          <p:cNvSpPr>
            <a:spLocks xmlns:a="http://schemas.openxmlformats.org/drawingml/2006/main" noGrp="1"/>
          </p:cNvSpPr>
          <p:nvPr/>
        </p:nvSpPr>
        <p:spPr>
          <a:xfrm xmlns:a="http://schemas.openxmlformats.org/drawingml/2006/main">
            <a:off x="914400" y="5476875"/>
            <a:ext cx="4800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p xmlns:ns1="http://schemas.openxmlformats.org/drawingml/2006/main">
            <ns1:pPr algn="l">
              <ns1:defRPr sz="2000" b="0">
                <ns1:solidFill>
                  <ns1:srgbClr val="F4F7FA"/>
                </ns1:solidFill>
                <ns1:latin typeface="Arial"/>
                <ns1:ea typeface="Arial"/>
                <ns1:cs typeface="Arial"/>
              </ns1:defRPr>
            </ns1:pPr>
            <ns1:r>
              <ns1:rPr sz="2000" b="0">
                <ns1:solidFill>
                  <ns1:srgbClr val="F4F7FA"/>
                </ns1:solidFill>
                <ns1:latin typeface="Arial"/>
                <ns1:ea typeface="Arial"/>
                <ns1:cs typeface="Arial"/>
              </ns1:rPr>
              <ns1:t>Judgment during delivery</ns1:t>
            </ns1:r>
          </ns1:p>
        </p:txBody>
      </p:sp>
      <p:sp>
        <p:nvSpPr>
          <p:cNvPr id="7" name="">
            <a:extLst xmlns:a="http://schemas.openxmlformats.org/drawingml/2006/main">
              <a:ext uri="{FF2B5EF4-FFF2-40B4-BE49-F238E27FC236}">
                <a16:creationId xmlns:a16="http://schemas.microsoft.com/office/drawing/2014/main" id="{F8224464-FEBA-4FD6-8E45-DC4CAD4AA535}"/>
              </a:ext>
            </a:extLst>
          </p:cNvPr>
          <p:cNvSpPr>
            <a:spLocks xmlns:a="http://schemas.openxmlformats.org/drawingml/2006/main" noGrp="1"/>
          </p:cNvSpPr>
          <p:nvPr/>
        </p:nvSpPr>
        <p:spPr>
          <a:xfrm xmlns:a="http://schemas.openxmlformats.org/drawingml/2006/main">
            <a:off x="6477000" y="5143500"/>
            <a:ext cx="4800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F5B61C"/>
                </a:solidFill>
                <a:latin typeface="Arial"/>
                <a:ea typeface="Arial"/>
                <a:cs typeface="Arial"/>
              </a:defRPr>
            </a:pPr>
            <a:r>
              <a:rPr sz="1650" b="1">
                <a:solidFill>
                  <a:srgbClr val="F5B61C"/>
                </a:solidFill>
                <a:latin typeface="Arial"/>
                <a:ea typeface="Arial"/>
                <a:cs typeface="Arial"/>
              </a:rPr>
              <a:t>WHAT WE BUILD</a:t>
            </a:r>
          </a:p>
        </p:txBody>
      </p:sp>
      <p:sp>
        <p:nvSpPr>
          <p:cNvPr id="8" name="">
            <a:extLst xmlns:a="http://schemas.openxmlformats.org/drawingml/2006/main">
              <a:ext uri="{FF2B5EF4-FFF2-40B4-BE49-F238E27FC236}">
                <a16:creationId xmlns:a16="http://schemas.microsoft.com/office/drawing/2014/main" id="{811DAE3A-4FDD-48A8-8E41-68C7CBFDFDA7}"/>
              </a:ext>
            </a:extLst>
          </p:cNvPr>
          <p:cNvSpPr>
            <a:spLocks xmlns:a="http://schemas.openxmlformats.org/drawingml/2006/main" noGrp="1"/>
          </p:cNvSpPr>
          <p:nvPr/>
        </p:nvSpPr>
        <p:spPr>
          <a:xfrm xmlns:a="http://schemas.openxmlformats.org/drawingml/2006/main">
            <a:off x="6477000" y="5476875"/>
            <a:ext cx="4800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p xmlns:ns2="http://schemas.openxmlformats.org/drawingml/2006/main">
            <ns2:pPr algn="l">
              <ns2:defRPr sz="2000" b="0">
                <ns2:solidFill>
                  <ns2:srgbClr val="F4F7FA"/>
                </ns2:solidFill>
                <ns2:latin typeface="Arial"/>
                <ns2:ea typeface="Arial"/>
                <ns2:cs typeface="Arial"/>
              </ns2:defRPr>
            </ns2:pPr>
            <ns2:r>
              <ns2:rPr sz="2000" b="0">
                <ns2:solidFill>
                  <ns2:srgbClr val="F4F7FA"/>
                </ns2:solidFill>
                <ns2:latin typeface="Arial"/>
                <ns2:ea typeface="Arial"/>
                <ns2:cs typeface="Arial"/>
              </ns2:rPr>
              <ns2:t>Judgment at runtime</ns2:t>
            </ns2:r>
          </ns2:p>
        </p:txBody>
      </p:sp>
      <p:sp>
        <p:nvSpPr>
          <p:cNvPr id="9" name="">
            <a:extLst xmlns:a="http://schemas.openxmlformats.org/drawingml/2006/main">
              <a:ext uri="{FF2B5EF4-FFF2-40B4-BE49-F238E27FC236}">
                <a16:creationId xmlns:a16="http://schemas.microsoft.com/office/drawing/2014/main" id="{FC783871-7604-4AA8-8A86-753C29C84462}"/>
              </a:ext>
            </a:extLst>
          </p:cNvPr>
          <p:cNvSpPr>
            <a:spLocks xmlns:a="http://schemas.openxmlformats.org/drawingml/2006/main" noGrp="1"/>
          </p:cNvSpPr>
          <p:nvPr/>
        </p:nvSpPr>
        <p:spPr>
          <a:xfrm xmlns:a="http://schemas.openxmlformats.org/drawingml/2006/main" flipH="0" flipV="0">
            <a:off x="609600" y="588645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10" name="">
            <a:extLst xmlns:a="http://schemas.openxmlformats.org/drawingml/2006/main">
              <a:ext uri="{FF2B5EF4-FFF2-40B4-BE49-F238E27FC236}">
                <a16:creationId xmlns:a16="http://schemas.microsoft.com/office/drawing/2014/main" id="{7D44D36C-048E-4769-B4B2-5CF7CA14F85E}"/>
              </a:ext>
            </a:extLst>
          </p:cNvPr>
          <p:cNvSpPr>
            <a:spLocks xmlns:a="http://schemas.openxmlformats.org/drawingml/2006/main" noGrp="1"/>
          </p:cNvSpPr>
          <p:nvPr/>
        </p:nvSpPr>
        <p:spPr>
          <a:xfrm xmlns:a="http://schemas.openxmlformats.org/drawingml/2006/main">
            <a:off x="609600" y="60102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F4F7FA"/>
                </a:solidFill>
                <a:latin typeface="Arial"/>
                <a:ea typeface="Arial"/>
                <a:cs typeface="Arial"/>
              </a:defRPr>
            </a:pPr>
            <a:r>
              <a:rPr sz="1800" b="1">
                <a:solidFill>
                  <a:srgbClr val="F4F7FA"/>
                </a:solidFill>
                <a:latin typeface="Arial"/>
                <a:ea typeface="Arial"/>
                <a:cs typeface="Arial"/>
              </a:rPr>
              <a:t>Vitalii Oborskyi</a:t>
            </a:r>
          </a:p>
        </p:txBody>
      </p:sp>
      <p:sp>
        <p:nvSpPr>
          <p:cNvPr id="11" name="">
            <a:extLst xmlns:a="http://schemas.openxmlformats.org/drawingml/2006/main">
              <a:ext uri="{FF2B5EF4-FFF2-40B4-BE49-F238E27FC236}">
                <a16:creationId xmlns:a16="http://schemas.microsoft.com/office/drawing/2014/main" id="{790194FD-C53F-4F79-A94B-6AC5C5737D82}"/>
              </a:ext>
            </a:extLst>
          </p:cNvPr>
          <p:cNvSpPr>
            <a:spLocks xmlns:a="http://schemas.openxmlformats.org/drawingml/2006/main" noGrp="1"/>
          </p:cNvSpPr>
          <p:nvPr/>
        </p:nvSpPr>
        <p:spPr>
          <a:xfrm xmlns:a="http://schemas.openxmlformats.org/drawingml/2006/main">
            <a:off x="3276600" y="6019800"/>
            <a:ext cx="8305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Head of Delivery &amp; PMO · Author of Uncertainty Architecture</a:t>
            </a:r>
          </a:p>
        </p:txBody>
      </p:sp>
      <p:sp>
        <p:nvSpPr>
          <p:cNvPr id="12" name="">
            <a:extLst xmlns:a="http://schemas.openxmlformats.org/drawingml/2006/main">
              <a:ext uri="{FF2B5EF4-FFF2-40B4-BE49-F238E27FC236}">
                <a16:creationId xmlns:a16="http://schemas.microsoft.com/office/drawing/2014/main" id="{F94670D5-6C6F-4F0B-99E6-0D8E65762D39}"/>
              </a:ext>
            </a:extLst>
          </p:cNvPr>
          <p:cNvSpPr>
            <a:spLocks xmlns:a="http://schemas.openxmlformats.org/drawingml/2006/main" noGrp="1"/>
          </p:cNvSpPr>
          <p:nvPr/>
        </p:nvSpPr>
        <p:spPr>
          <a:xfrm xmlns:a="http://schemas.openxmlformats.org/drawingml/2006/main">
            <a:off x="609905" y="6420002"/>
            <a:ext cx="4709160" cy="2377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3:p xmlns:ns3="http://schemas.openxmlformats.org/drawingml/2006/main">
            <ns3:pPr algn="l">
              <ns3:defRPr sz="1400" b="0">
                <ns3:solidFill>
                  <ns3:srgbClr val="28C7F7"/>
                </ns3:solidFill>
                <ns3:latin typeface="Arial"/>
                <ns3:ea typeface="Arial"/>
                <ns3:cs typeface="Arial"/>
              </ns3:defRPr>
            </ns3:pPr>
            <ns3:r>
              <ns3:rPr sz="1400" b="0">
                <ns3:solidFill>
                  <ns3:srgbClr val="28C7F7"/>
                </ns3:solidFill>
                <ns3:latin typeface="Arial"/>
                <ns3:ea typeface="Arial"/>
                <ns3:cs typeface="Arial"/>
              </ns3:rPr>
              <ns3:t>DevCon Romania · 4 November 2026</ns3:t>
            </ns3:r>
          </ns3:p>
        </p:txBody>
      </p:sp>
      <p:sp>
        <p:nvSpPr>
          <p:cNvPr id="13" name="">
            <a:extLst xmlns:a="http://schemas.openxmlformats.org/drawingml/2006/main">
              <a:ext uri="{FF2B5EF4-FFF2-40B4-BE49-F238E27FC236}">
                <a16:creationId xmlns:a16="http://schemas.microsoft.com/office/drawing/2014/main" id="{5E1A9AD7-EA9B-4519-B7E1-AD707EA763BC}"/>
              </a:ext>
            </a:extLst>
          </p:cNvPr>
          <p:cNvSpPr>
            <a:spLocks xmlns:a="http://schemas.openxmlformats.org/drawingml/2006/main" noGrp="1"/>
          </p:cNvSpPr>
          <p:nvPr/>
        </p:nvSpPr>
        <p:spPr>
          <a:xfrm xmlns:a="http://schemas.openxmlformats.org/drawingml/2006/main">
            <a:off x="5486400" y="6420002"/>
            <a:ext cx="5505602" cy="2377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4:p xmlns:ns4="http://schemas.openxmlformats.org/drawingml/2006/main">
            <ns4:pPr algn="r">
              <ns4:defRPr sz="1400" b="0">
                <ns4:solidFill>
                  <ns4:srgbClr val="28C7F7"/>
                </ns4:solidFill>
                <ns4:latin typeface="Arial"/>
                <ns4:ea typeface="Arial"/>
                <ns4:cs typeface="Arial"/>
              </ns4:defRPr>
            </ns4:pPr>
            <ns4:r>
              <ns4:rPr sz="1400" b="0">
                <ns4:solidFill>
                  <ns4:srgbClr val="28C7F7"/>
                </ns4:solidFill>
                <ns4:latin typeface="Arial"/>
                <ns4:ea typeface="Arial"/>
                <ns4:cs typeface="Arial"/>
              </ns4:rPr>
              <ns4:t>vitaliioborskyi.ai</ns4:t>
            </ns4:r>
          </ns4:p>
        </p:txBody>
      </p:sp>
    </p:spTree>
    <p:extLst>
      <p:ext uri="{BB962C8B-B14F-4D97-AF65-F5344CB8AC3E}">
        <p14:creationId xmlns:p14="http://schemas.microsoft.com/office/powerpoint/2010/main" val="1441845840"/>
      </p:ext>
    </p:extLst>
  </p:cSld>
</p:sld>
</file>

<file path=ppt/slides/slide2.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FAD794EC-2038-4704-99DE-AB5C9D31B366}"/>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We Accelerated a Step. Not the System.</a:t>
            </a:r>
          </a:p>
        </p:txBody>
      </p:sp>
      <p:sp>
        <p:nvSpPr>
          <p:cNvPr id="2" name="">
            <a:extLst xmlns:a="http://schemas.openxmlformats.org/drawingml/2006/main">
              <a:ext uri="{FF2B5EF4-FFF2-40B4-BE49-F238E27FC236}">
                <a16:creationId xmlns:a16="http://schemas.microsoft.com/office/drawing/2014/main" id="{DD833353-FCBC-4F3B-BEFD-E724AF5ACBB0}"/>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9E52480B-F9FE-4D2B-83A0-89F795EA2437}"/>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A09DF6F-7876-42AF-AA79-E02D260FFD5E}"/>
              </a:ext>
            </a:extLst>
          </p:cNvPr>
          <p:cNvSpPr>
            <a:spLocks xmlns:a="http://schemas.openxmlformats.org/drawingml/2006/main" noGrp="1"/>
          </p:cNvSpPr>
          <p:nvPr/>
        </p:nvSpPr>
        <p:spPr>
          <a:xfrm xmlns:a="http://schemas.openxmlformats.org/drawingml/2006/main">
            <a:off x="914400" y="1714500"/>
            <a:ext cx="1036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AI can affect every stage. Downstream gains are not automatic.</a:t>
            </a:r>
          </a:p>
        </p:txBody>
      </p:sp>
      <p:sp>
        <p:nvSpPr>
          <p:cNvPr id="5" name="">
            <a:extLst xmlns:a="http://schemas.openxmlformats.org/drawingml/2006/main">
              <a:ext uri="{FF2B5EF4-FFF2-40B4-BE49-F238E27FC236}">
                <a16:creationId xmlns:a16="http://schemas.microsoft.com/office/drawing/2014/main" id="{0F7B0828-00D4-4AC2-B78F-E571D35D44EA}"/>
              </a:ext>
            </a:extLst>
          </p:cNvPr>
          <p:cNvSpPr>
            <a:spLocks xmlns:a="http://schemas.openxmlformats.org/drawingml/2006/main" noGrp="1"/>
          </p:cNvSpPr>
          <p:nvPr/>
        </p:nvSpPr>
        <p:spPr>
          <a:xfrm xmlns:a="http://schemas.openxmlformats.org/drawingml/2006/main">
            <a:off x="91440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6" name="">
            <a:extLst xmlns:a="http://schemas.openxmlformats.org/drawingml/2006/main">
              <a:ext uri="{FF2B5EF4-FFF2-40B4-BE49-F238E27FC236}">
                <a16:creationId xmlns:a16="http://schemas.microsoft.com/office/drawing/2014/main" id="{0E7767C3-CD05-40F3-BAF4-D071E4D8ACBD}"/>
              </a:ext>
            </a:extLst>
          </p:cNvPr>
          <p:cNvSpPr>
            <a:spLocks xmlns:a="http://schemas.openxmlformats.org/drawingml/2006/main" noGrp="1"/>
          </p:cNvSpPr>
          <p:nvPr/>
        </p:nvSpPr>
        <p:spPr>
          <a:xfrm xmlns:a="http://schemas.openxmlformats.org/drawingml/2006/main">
            <a:off x="102870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Intent</a:t>
            </a:r>
          </a:p>
        </p:txBody>
      </p:sp>
      <p:sp>
        <p:nvSpPr>
          <p:cNvPr id="7" name="">
            <a:extLst xmlns:a="http://schemas.openxmlformats.org/drawingml/2006/main">
              <a:ext uri="{FF2B5EF4-FFF2-40B4-BE49-F238E27FC236}">
                <a16:creationId xmlns:a16="http://schemas.microsoft.com/office/drawing/2014/main" id="{7896ABEA-9883-4558-81B7-0160C86ADDA8}"/>
              </a:ext>
            </a:extLst>
          </p:cNvPr>
          <p:cNvSpPr>
            <a:spLocks xmlns:a="http://schemas.openxmlformats.org/drawingml/2006/main" noGrp="1"/>
          </p:cNvSpPr>
          <p:nvPr/>
        </p:nvSpPr>
        <p:spPr>
          <a:xfrm xmlns:a="http://schemas.openxmlformats.org/drawingml/2006/main">
            <a:off x="222885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8" name="">
            <a:extLst xmlns:a="http://schemas.openxmlformats.org/drawingml/2006/main">
              <a:ext uri="{FF2B5EF4-FFF2-40B4-BE49-F238E27FC236}">
                <a16:creationId xmlns:a16="http://schemas.microsoft.com/office/drawing/2014/main" id="{D132B709-0E49-4835-897E-61A122E79D14}"/>
              </a:ext>
            </a:extLst>
          </p:cNvPr>
          <p:cNvSpPr>
            <a:spLocks xmlns:a="http://schemas.openxmlformats.org/drawingml/2006/main" noGrp="1"/>
          </p:cNvSpPr>
          <p:nvPr/>
        </p:nvSpPr>
        <p:spPr>
          <a:xfrm xmlns:a="http://schemas.openxmlformats.org/drawingml/2006/main">
            <a:off x="234315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Design</a:t>
            </a:r>
          </a:p>
        </p:txBody>
      </p:sp>
      <p:sp>
        <p:nvSpPr>
          <p:cNvPr id="9" name="">
            <a:extLst xmlns:a="http://schemas.openxmlformats.org/drawingml/2006/main">
              <a:ext uri="{FF2B5EF4-FFF2-40B4-BE49-F238E27FC236}">
                <a16:creationId xmlns:a16="http://schemas.microsoft.com/office/drawing/2014/main" id="{6101CFD0-CA53-481C-A615-02CF5923E728}"/>
              </a:ext>
            </a:extLst>
          </p:cNvPr>
          <p:cNvSpPr>
            <a:spLocks xmlns:a="http://schemas.openxmlformats.org/drawingml/2006/main" noGrp="1"/>
          </p:cNvSpPr>
          <p:nvPr/>
        </p:nvSpPr>
        <p:spPr>
          <a:xfrm xmlns:a="http://schemas.openxmlformats.org/drawingml/2006/main">
            <a:off x="354330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10" name="">
            <a:extLst xmlns:a="http://schemas.openxmlformats.org/drawingml/2006/main">
              <a:ext uri="{FF2B5EF4-FFF2-40B4-BE49-F238E27FC236}">
                <a16:creationId xmlns:a16="http://schemas.microsoft.com/office/drawing/2014/main" id="{56051758-BD46-4E32-BE22-304CE75501CA}"/>
              </a:ext>
            </a:extLst>
          </p:cNvPr>
          <p:cNvSpPr>
            <a:spLocks xmlns:a="http://schemas.openxmlformats.org/drawingml/2006/main" noGrp="1"/>
          </p:cNvSpPr>
          <p:nvPr/>
        </p:nvSpPr>
        <p:spPr>
          <a:xfrm xmlns:a="http://schemas.openxmlformats.org/drawingml/2006/main">
            <a:off x="365760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Code</a:t>
            </a:r>
          </a:p>
        </p:txBody>
      </p:sp>
      <p:sp>
        <p:nvSpPr>
          <p:cNvPr id="11" name="">
            <a:extLst xmlns:a="http://schemas.openxmlformats.org/drawingml/2006/main">
              <a:ext uri="{FF2B5EF4-FFF2-40B4-BE49-F238E27FC236}">
                <a16:creationId xmlns:a16="http://schemas.microsoft.com/office/drawing/2014/main" id="{6ADE3CA0-4F44-4C79-8244-29106FEFDA44}"/>
              </a:ext>
            </a:extLst>
          </p:cNvPr>
          <p:cNvSpPr>
            <a:spLocks xmlns:a="http://schemas.openxmlformats.org/drawingml/2006/main" noGrp="1"/>
          </p:cNvSpPr>
          <p:nvPr/>
        </p:nvSpPr>
        <p:spPr>
          <a:xfrm xmlns:a="http://schemas.openxmlformats.org/drawingml/2006/main">
            <a:off x="485775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2" name="">
            <a:extLst xmlns:a="http://schemas.openxmlformats.org/drawingml/2006/main">
              <a:ext uri="{FF2B5EF4-FFF2-40B4-BE49-F238E27FC236}">
                <a16:creationId xmlns:a16="http://schemas.microsoft.com/office/drawing/2014/main" id="{A35916A5-FFA2-434E-9BC2-7D0E3DA7C828}"/>
              </a:ext>
            </a:extLst>
          </p:cNvPr>
          <p:cNvSpPr>
            <a:spLocks xmlns:a="http://schemas.openxmlformats.org/drawingml/2006/main" noGrp="1"/>
          </p:cNvSpPr>
          <p:nvPr/>
        </p:nvSpPr>
        <p:spPr>
          <a:xfrm xmlns:a="http://schemas.openxmlformats.org/drawingml/2006/main">
            <a:off x="497205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Review</a:t>
            </a:r>
          </a:p>
        </p:txBody>
      </p:sp>
      <p:sp>
        <p:nvSpPr>
          <p:cNvPr id="13" name="">
            <a:extLst xmlns:a="http://schemas.openxmlformats.org/drawingml/2006/main">
              <a:ext uri="{FF2B5EF4-FFF2-40B4-BE49-F238E27FC236}">
                <a16:creationId xmlns:a16="http://schemas.microsoft.com/office/drawing/2014/main" id="{1FAC332B-FC31-402F-8359-27AF5F9F483F}"/>
              </a:ext>
            </a:extLst>
          </p:cNvPr>
          <p:cNvSpPr>
            <a:spLocks xmlns:a="http://schemas.openxmlformats.org/drawingml/2006/main" noGrp="1"/>
          </p:cNvSpPr>
          <p:nvPr/>
        </p:nvSpPr>
        <p:spPr>
          <a:xfrm xmlns:a="http://schemas.openxmlformats.org/drawingml/2006/main">
            <a:off x="617220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4" name="">
            <a:extLst xmlns:a="http://schemas.openxmlformats.org/drawingml/2006/main">
              <a:ext uri="{FF2B5EF4-FFF2-40B4-BE49-F238E27FC236}">
                <a16:creationId xmlns:a16="http://schemas.microsoft.com/office/drawing/2014/main" id="{A68ED7CD-5BBB-46F0-B941-BAC10F5526FE}"/>
              </a:ext>
            </a:extLst>
          </p:cNvPr>
          <p:cNvSpPr>
            <a:spLocks xmlns:a="http://schemas.openxmlformats.org/drawingml/2006/main" noGrp="1"/>
          </p:cNvSpPr>
          <p:nvPr/>
        </p:nvSpPr>
        <p:spPr>
          <a:xfrm xmlns:a="http://schemas.openxmlformats.org/drawingml/2006/main">
            <a:off x="628650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Test</a:t>
            </a:r>
          </a:p>
        </p:txBody>
      </p:sp>
      <p:sp>
        <p:nvSpPr>
          <p:cNvPr id="15" name="">
            <a:extLst xmlns:a="http://schemas.openxmlformats.org/drawingml/2006/main">
              <a:ext uri="{FF2B5EF4-FFF2-40B4-BE49-F238E27FC236}">
                <a16:creationId xmlns:a16="http://schemas.microsoft.com/office/drawing/2014/main" id="{C26DC578-C302-4CED-87A0-AA83F5FB00C5}"/>
              </a:ext>
            </a:extLst>
          </p:cNvPr>
          <p:cNvSpPr>
            <a:spLocks xmlns:a="http://schemas.openxmlformats.org/drawingml/2006/main" noGrp="1"/>
          </p:cNvSpPr>
          <p:nvPr/>
        </p:nvSpPr>
        <p:spPr>
          <a:xfrm xmlns:a="http://schemas.openxmlformats.org/drawingml/2006/main">
            <a:off x="748665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6" name="">
            <a:extLst xmlns:a="http://schemas.openxmlformats.org/drawingml/2006/main">
              <a:ext uri="{FF2B5EF4-FFF2-40B4-BE49-F238E27FC236}">
                <a16:creationId xmlns:a16="http://schemas.microsoft.com/office/drawing/2014/main" id="{CE6529C3-78DD-41A1-B1AB-8CEF54AAB9C6}"/>
              </a:ext>
            </a:extLst>
          </p:cNvPr>
          <p:cNvSpPr>
            <a:spLocks xmlns:a="http://schemas.openxmlformats.org/drawingml/2006/main" noGrp="1"/>
          </p:cNvSpPr>
          <p:nvPr/>
        </p:nvSpPr>
        <p:spPr>
          <a:xfrm xmlns:a="http://schemas.openxmlformats.org/drawingml/2006/main">
            <a:off x="760095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a:solidFill>
                  <a:srgbClr val="F4F7FA"/>
                </a:solidFill>
                <a:latin typeface="Arial"/>
                <a:ea typeface="Arial"/>
                <a:cs typeface="Arial"/>
              </a:defRPr>
            </a:pPr>
            <a:r>
              <a:rPr sz="1350" b="1">
                <a:solidFill>
                  <a:srgbClr val="F4F7FA"/>
                </a:solidFill>
                <a:latin typeface="Arial"/>
                <a:ea typeface="Arial"/>
                <a:cs typeface="Arial"/>
              </a:rPr>
              <a:t>Integrate</a:t>
            </a:r>
          </a:p>
        </p:txBody>
      </p:sp>
      <p:sp>
        <p:nvSpPr>
          <p:cNvPr id="17" name="">
            <a:extLst xmlns:a="http://schemas.openxmlformats.org/drawingml/2006/main">
              <a:ext uri="{FF2B5EF4-FFF2-40B4-BE49-F238E27FC236}">
                <a16:creationId xmlns:a16="http://schemas.microsoft.com/office/drawing/2014/main" id="{B69FF806-91FD-4371-86B3-6B1916AF0EC8}"/>
              </a:ext>
            </a:extLst>
          </p:cNvPr>
          <p:cNvSpPr>
            <a:spLocks xmlns:a="http://schemas.openxmlformats.org/drawingml/2006/main" noGrp="1"/>
          </p:cNvSpPr>
          <p:nvPr/>
        </p:nvSpPr>
        <p:spPr>
          <a:xfrm xmlns:a="http://schemas.openxmlformats.org/drawingml/2006/main">
            <a:off x="880110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8" name="">
            <a:extLst xmlns:a="http://schemas.openxmlformats.org/drawingml/2006/main">
              <a:ext uri="{FF2B5EF4-FFF2-40B4-BE49-F238E27FC236}">
                <a16:creationId xmlns:a16="http://schemas.microsoft.com/office/drawing/2014/main" id="{8F7569C8-B649-4988-B322-BAB38B83FA8B}"/>
              </a:ext>
            </a:extLst>
          </p:cNvPr>
          <p:cNvSpPr>
            <a:spLocks xmlns:a="http://schemas.openxmlformats.org/drawingml/2006/main" noGrp="1"/>
          </p:cNvSpPr>
          <p:nvPr/>
        </p:nvSpPr>
        <p:spPr>
          <a:xfrm xmlns:a="http://schemas.openxmlformats.org/drawingml/2006/main">
            <a:off x="891540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Deploy</a:t>
            </a:r>
          </a:p>
        </p:txBody>
      </p:sp>
      <p:sp>
        <p:nvSpPr>
          <p:cNvPr id="19" name="">
            <a:extLst xmlns:a="http://schemas.openxmlformats.org/drawingml/2006/main">
              <a:ext uri="{FF2B5EF4-FFF2-40B4-BE49-F238E27FC236}">
                <a16:creationId xmlns:a16="http://schemas.microsoft.com/office/drawing/2014/main" id="{1DC64ADC-8970-4ABF-8269-798B9CA28C0F}"/>
              </a:ext>
            </a:extLst>
          </p:cNvPr>
          <p:cNvSpPr>
            <a:spLocks xmlns:a="http://schemas.openxmlformats.org/drawingml/2006/main" noGrp="1"/>
          </p:cNvSpPr>
          <p:nvPr/>
        </p:nvSpPr>
        <p:spPr>
          <a:xfrm xmlns:a="http://schemas.openxmlformats.org/drawingml/2006/main">
            <a:off x="1011555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20" name="">
            <a:extLst xmlns:a="http://schemas.openxmlformats.org/drawingml/2006/main">
              <a:ext uri="{FF2B5EF4-FFF2-40B4-BE49-F238E27FC236}">
                <a16:creationId xmlns:a16="http://schemas.microsoft.com/office/drawing/2014/main" id="{DC150C06-9A50-4F4C-AE36-39DE66D9D137}"/>
              </a:ext>
            </a:extLst>
          </p:cNvPr>
          <p:cNvSpPr>
            <a:spLocks xmlns:a="http://schemas.openxmlformats.org/drawingml/2006/main" noGrp="1"/>
          </p:cNvSpPr>
          <p:nvPr/>
        </p:nvSpPr>
        <p:spPr>
          <a:xfrm xmlns:a="http://schemas.openxmlformats.org/drawingml/2006/main">
            <a:off x="1022985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Operate</a:t>
            </a:r>
          </a:p>
        </p:txBody>
      </p:sp>
      <p:sp>
        <p:nvSpPr>
          <p:cNvPr id="21" name="">
            <a:extLst xmlns:a="http://schemas.openxmlformats.org/drawingml/2006/main">
              <a:ext uri="{FF2B5EF4-FFF2-40B4-BE49-F238E27FC236}">
                <a16:creationId xmlns:a16="http://schemas.microsoft.com/office/drawing/2014/main" id="{77024F76-0980-41F1-9DB5-F3334BF1097A}"/>
              </a:ext>
            </a:extLst>
          </p:cNvPr>
          <p:cNvSpPr>
            <a:spLocks xmlns:a="http://schemas.openxmlformats.org/drawingml/2006/main" noGrp="1"/>
          </p:cNvSpPr>
          <p:nvPr/>
        </p:nvSpPr>
        <p:spPr>
          <a:xfrm xmlns:a="http://schemas.openxmlformats.org/drawingml/2006/main" flipH="0" flipV="0">
            <a:off x="207645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2" name="">
            <a:extLst xmlns:a="http://schemas.openxmlformats.org/drawingml/2006/main">
              <a:ext uri="{FF2B5EF4-FFF2-40B4-BE49-F238E27FC236}">
                <a16:creationId xmlns:a16="http://schemas.microsoft.com/office/drawing/2014/main" id="{D219E03E-4017-4CA3-BFF6-BF0E48C0A1D4}"/>
              </a:ext>
            </a:extLst>
          </p:cNvPr>
          <p:cNvSpPr>
            <a:spLocks xmlns:a="http://schemas.openxmlformats.org/drawingml/2006/main" noGrp="1"/>
          </p:cNvSpPr>
          <p:nvPr/>
        </p:nvSpPr>
        <p:spPr>
          <a:xfrm xmlns:a="http://schemas.openxmlformats.org/drawingml/2006/main" flipH="0" flipV="0">
            <a:off x="339090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3" name="">
            <a:extLst xmlns:a="http://schemas.openxmlformats.org/drawingml/2006/main">
              <a:ext uri="{FF2B5EF4-FFF2-40B4-BE49-F238E27FC236}">
                <a16:creationId xmlns:a16="http://schemas.microsoft.com/office/drawing/2014/main" id="{7CCCEF0F-C5F2-40CA-92A0-281F8C1B3B18}"/>
              </a:ext>
            </a:extLst>
          </p:cNvPr>
          <p:cNvSpPr>
            <a:spLocks xmlns:a="http://schemas.openxmlformats.org/drawingml/2006/main" noGrp="1"/>
          </p:cNvSpPr>
          <p:nvPr/>
        </p:nvSpPr>
        <p:spPr>
          <a:xfrm xmlns:a="http://schemas.openxmlformats.org/drawingml/2006/main" flipH="0" flipV="0">
            <a:off x="470535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4" name="">
            <a:extLst xmlns:a="http://schemas.openxmlformats.org/drawingml/2006/main">
              <a:ext uri="{FF2B5EF4-FFF2-40B4-BE49-F238E27FC236}">
                <a16:creationId xmlns:a16="http://schemas.microsoft.com/office/drawing/2014/main" id="{970A7504-E46B-4B5F-B338-6CA567DD7C06}"/>
              </a:ext>
            </a:extLst>
          </p:cNvPr>
          <p:cNvSpPr>
            <a:spLocks xmlns:a="http://schemas.openxmlformats.org/drawingml/2006/main" noGrp="1"/>
          </p:cNvSpPr>
          <p:nvPr/>
        </p:nvSpPr>
        <p:spPr>
          <a:xfrm xmlns:a="http://schemas.openxmlformats.org/drawingml/2006/main" flipH="0" flipV="0">
            <a:off x="601980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5" name="">
            <a:extLst xmlns:a="http://schemas.openxmlformats.org/drawingml/2006/main">
              <a:ext uri="{FF2B5EF4-FFF2-40B4-BE49-F238E27FC236}">
                <a16:creationId xmlns:a16="http://schemas.microsoft.com/office/drawing/2014/main" id="{8366E64C-2B95-459C-AA5F-1A4106E19852}"/>
              </a:ext>
            </a:extLst>
          </p:cNvPr>
          <p:cNvSpPr>
            <a:spLocks xmlns:a="http://schemas.openxmlformats.org/drawingml/2006/main" noGrp="1"/>
          </p:cNvSpPr>
          <p:nvPr/>
        </p:nvSpPr>
        <p:spPr>
          <a:xfrm xmlns:a="http://schemas.openxmlformats.org/drawingml/2006/main" flipH="0" flipV="0">
            <a:off x="733425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6" name="">
            <a:extLst xmlns:a="http://schemas.openxmlformats.org/drawingml/2006/main">
              <a:ext uri="{FF2B5EF4-FFF2-40B4-BE49-F238E27FC236}">
                <a16:creationId xmlns:a16="http://schemas.microsoft.com/office/drawing/2014/main" id="{238FC8DD-D7FC-4BA4-93E0-865AF0C8E1D1}"/>
              </a:ext>
            </a:extLst>
          </p:cNvPr>
          <p:cNvSpPr>
            <a:spLocks xmlns:a="http://schemas.openxmlformats.org/drawingml/2006/main" noGrp="1"/>
          </p:cNvSpPr>
          <p:nvPr/>
        </p:nvSpPr>
        <p:spPr>
          <a:xfrm xmlns:a="http://schemas.openxmlformats.org/drawingml/2006/main" flipH="0" flipV="0">
            <a:off x="864870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7" name="">
            <a:extLst xmlns:a="http://schemas.openxmlformats.org/drawingml/2006/main">
              <a:ext uri="{FF2B5EF4-FFF2-40B4-BE49-F238E27FC236}">
                <a16:creationId xmlns:a16="http://schemas.microsoft.com/office/drawing/2014/main" id="{FF53C49E-D4ED-4844-A27C-D48A7BB940E8}"/>
              </a:ext>
            </a:extLst>
          </p:cNvPr>
          <p:cNvSpPr>
            <a:spLocks xmlns:a="http://schemas.openxmlformats.org/drawingml/2006/main" noGrp="1"/>
          </p:cNvSpPr>
          <p:nvPr/>
        </p:nvSpPr>
        <p:spPr>
          <a:xfrm xmlns:a="http://schemas.openxmlformats.org/drawingml/2006/main" flipH="0" flipV="0">
            <a:off x="996315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8" name="">
            <a:extLst xmlns:a="http://schemas.openxmlformats.org/drawingml/2006/main">
              <a:ext uri="{FF2B5EF4-FFF2-40B4-BE49-F238E27FC236}">
                <a16:creationId xmlns:a16="http://schemas.microsoft.com/office/drawing/2014/main" id="{D919320F-59F2-4AD5-B161-9A99D115106C}"/>
              </a:ext>
            </a:extLst>
          </p:cNvPr>
          <p:cNvSpPr>
            <a:spLocks xmlns:a="http://schemas.openxmlformats.org/drawingml/2006/main" noGrp="1"/>
          </p:cNvSpPr>
          <p:nvPr/>
        </p:nvSpPr>
        <p:spPr>
          <a:xfrm xmlns:a="http://schemas.openxmlformats.org/drawingml/2006/main">
            <a:off x="91440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43DBF3E1-69C6-4230-AEDC-73F2F6C55E77}"/>
              </a:ext>
            </a:extLst>
          </p:cNvPr>
          <p:cNvSpPr>
            <a:spLocks xmlns:a="http://schemas.openxmlformats.org/drawingml/2006/main" noGrp="1"/>
          </p:cNvSpPr>
          <p:nvPr/>
        </p:nvSpPr>
        <p:spPr>
          <a:xfrm xmlns:a="http://schemas.openxmlformats.org/drawingml/2006/main">
            <a:off x="222885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62737337-B99F-40B2-AA11-D3AAE91BA046}"/>
              </a:ext>
            </a:extLst>
          </p:cNvPr>
          <p:cNvSpPr>
            <a:spLocks xmlns:a="http://schemas.openxmlformats.org/drawingml/2006/main" noGrp="1"/>
          </p:cNvSpPr>
          <p:nvPr/>
        </p:nvSpPr>
        <p:spPr>
          <a:xfrm xmlns:a="http://schemas.openxmlformats.org/drawingml/2006/main">
            <a:off x="485775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1" name="">
            <a:extLst xmlns:a="http://schemas.openxmlformats.org/drawingml/2006/main">
              <a:ext uri="{FF2B5EF4-FFF2-40B4-BE49-F238E27FC236}">
                <a16:creationId xmlns:a16="http://schemas.microsoft.com/office/drawing/2014/main" id="{C06D505E-E54E-4957-9831-B61C6B6AFF1E}"/>
              </a:ext>
            </a:extLst>
          </p:cNvPr>
          <p:cNvSpPr>
            <a:spLocks xmlns:a="http://schemas.openxmlformats.org/drawingml/2006/main" noGrp="1"/>
          </p:cNvSpPr>
          <p:nvPr/>
        </p:nvSpPr>
        <p:spPr>
          <a:xfrm xmlns:a="http://schemas.openxmlformats.org/drawingml/2006/main">
            <a:off x="617220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2" name="">
            <a:extLst xmlns:a="http://schemas.openxmlformats.org/drawingml/2006/main">
              <a:ext uri="{FF2B5EF4-FFF2-40B4-BE49-F238E27FC236}">
                <a16:creationId xmlns:a16="http://schemas.microsoft.com/office/drawing/2014/main" id="{C1EFFA35-0A20-4C0F-91D4-8A62B50244B2}"/>
              </a:ext>
            </a:extLst>
          </p:cNvPr>
          <p:cNvSpPr>
            <a:spLocks xmlns:a="http://schemas.openxmlformats.org/drawingml/2006/main" noGrp="1"/>
          </p:cNvSpPr>
          <p:nvPr/>
        </p:nvSpPr>
        <p:spPr>
          <a:xfrm xmlns:a="http://schemas.openxmlformats.org/drawingml/2006/main">
            <a:off x="748665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3" name="">
            <a:extLst xmlns:a="http://schemas.openxmlformats.org/drawingml/2006/main">
              <a:ext uri="{FF2B5EF4-FFF2-40B4-BE49-F238E27FC236}">
                <a16:creationId xmlns:a16="http://schemas.microsoft.com/office/drawing/2014/main" id="{29F76A2B-102D-4F33-A1EC-D07F8ADA9BA2}"/>
              </a:ext>
            </a:extLst>
          </p:cNvPr>
          <p:cNvSpPr>
            <a:spLocks xmlns:a="http://schemas.openxmlformats.org/drawingml/2006/main" noGrp="1"/>
          </p:cNvSpPr>
          <p:nvPr/>
        </p:nvSpPr>
        <p:spPr>
          <a:xfrm xmlns:a="http://schemas.openxmlformats.org/drawingml/2006/main">
            <a:off x="880110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4" name="">
            <a:extLst xmlns:a="http://schemas.openxmlformats.org/drawingml/2006/main">
              <a:ext uri="{FF2B5EF4-FFF2-40B4-BE49-F238E27FC236}">
                <a16:creationId xmlns:a16="http://schemas.microsoft.com/office/drawing/2014/main" id="{70FF997D-01B2-49B1-811D-DA478B3E64FE}"/>
              </a:ext>
            </a:extLst>
          </p:cNvPr>
          <p:cNvSpPr>
            <a:spLocks xmlns:a="http://schemas.openxmlformats.org/drawingml/2006/main" noGrp="1"/>
          </p:cNvSpPr>
          <p:nvPr/>
        </p:nvSpPr>
        <p:spPr>
          <a:xfrm xmlns:a="http://schemas.openxmlformats.org/drawingml/2006/main">
            <a:off x="1011555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5" name="">
            <a:extLst xmlns:a="http://schemas.openxmlformats.org/drawingml/2006/main">
              <a:ext uri="{FF2B5EF4-FFF2-40B4-BE49-F238E27FC236}">
                <a16:creationId xmlns:a16="http://schemas.microsoft.com/office/drawing/2014/main" id="{1752A399-143F-45C3-813C-3B56ECC90915}"/>
              </a:ext>
            </a:extLst>
          </p:cNvPr>
          <p:cNvSpPr>
            <a:spLocks xmlns:a="http://schemas.openxmlformats.org/drawingml/2006/main" noGrp="1"/>
          </p:cNvSpPr>
          <p:nvPr/>
        </p:nvSpPr>
        <p:spPr>
          <a:xfrm xmlns:a="http://schemas.openxmlformats.org/drawingml/2006/main">
            <a:off x="914400" y="3067050"/>
            <a:ext cx="1036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Illustrative team: changes per week; comparable work, fixed downstream capacity.</a:t>
            </a:r>
          </a:p>
        </p:txBody>
      </p:sp>
      <p:sp>
        <p:nvSpPr>
          <p:cNvPr id="36" name="">
            <a:extLst xmlns:a="http://schemas.openxmlformats.org/drawingml/2006/main">
              <a:ext uri="{FF2B5EF4-FFF2-40B4-BE49-F238E27FC236}">
                <a16:creationId xmlns:a16="http://schemas.microsoft.com/office/drawing/2014/main" id="{DBA71DAF-CF51-45CA-8961-16E9A726C823}"/>
              </a:ext>
            </a:extLst>
          </p:cNvPr>
          <p:cNvSpPr>
            <a:spLocks xmlns:a="http://schemas.openxmlformats.org/drawingml/2006/main" noGrp="1"/>
          </p:cNvSpPr>
          <p:nvPr/>
        </p:nvSpPr>
        <p:spPr>
          <a:xfrm xmlns:a="http://schemas.openxmlformats.org/drawingml/2006/main">
            <a:off x="3238500" y="3429000"/>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Code</a:t>
            </a:r>
          </a:p>
        </p:txBody>
      </p:sp>
      <p:sp>
        <p:nvSpPr>
          <p:cNvPr id="37" name="">
            <a:extLst xmlns:a="http://schemas.openxmlformats.org/drawingml/2006/main">
              <a:ext uri="{FF2B5EF4-FFF2-40B4-BE49-F238E27FC236}">
                <a16:creationId xmlns:a16="http://schemas.microsoft.com/office/drawing/2014/main" id="{92C894C4-1BC9-4C95-B0B8-2ED3E2EFFA0E}"/>
              </a:ext>
            </a:extLst>
          </p:cNvPr>
          <p:cNvSpPr>
            <a:spLocks xmlns:a="http://schemas.openxmlformats.org/drawingml/2006/main" noGrp="1"/>
          </p:cNvSpPr>
          <p:nvPr/>
        </p:nvSpPr>
        <p:spPr>
          <a:xfrm xmlns:a="http://schemas.openxmlformats.org/drawingml/2006/main">
            <a:off x="5314950" y="3429000"/>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Review</a:t>
            </a:r>
          </a:p>
        </p:txBody>
      </p:sp>
      <p:sp>
        <p:nvSpPr>
          <p:cNvPr id="38" name="">
            <a:extLst xmlns:a="http://schemas.openxmlformats.org/drawingml/2006/main">
              <a:ext uri="{FF2B5EF4-FFF2-40B4-BE49-F238E27FC236}">
                <a16:creationId xmlns:a16="http://schemas.microsoft.com/office/drawing/2014/main" id="{844D2C45-F5D0-4FA1-8686-0EAA94376DEC}"/>
              </a:ext>
            </a:extLst>
          </p:cNvPr>
          <p:cNvSpPr>
            <a:spLocks xmlns:a="http://schemas.openxmlformats.org/drawingml/2006/main" noGrp="1"/>
          </p:cNvSpPr>
          <p:nvPr/>
        </p:nvSpPr>
        <p:spPr>
          <a:xfrm xmlns:a="http://schemas.openxmlformats.org/drawingml/2006/main">
            <a:off x="7391400" y="3429000"/>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Integrate</a:t>
            </a:r>
          </a:p>
        </p:txBody>
      </p:sp>
      <p:sp>
        <p:nvSpPr>
          <p:cNvPr id="39" name="">
            <a:extLst xmlns:a="http://schemas.openxmlformats.org/drawingml/2006/main">
              <a:ext uri="{FF2B5EF4-FFF2-40B4-BE49-F238E27FC236}">
                <a16:creationId xmlns:a16="http://schemas.microsoft.com/office/drawing/2014/main" id="{38F82894-2AC7-4D50-86E6-A7F66149B5A9}"/>
              </a:ext>
            </a:extLst>
          </p:cNvPr>
          <p:cNvSpPr>
            <a:spLocks xmlns:a="http://schemas.openxmlformats.org/drawingml/2006/main" noGrp="1"/>
          </p:cNvSpPr>
          <p:nvPr/>
        </p:nvSpPr>
        <p:spPr>
          <a:xfrm xmlns:a="http://schemas.openxmlformats.org/drawingml/2006/main">
            <a:off x="9582150" y="342900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ADB8C5"/>
                </a:solidFill>
                <a:latin typeface="Arial"/>
                <a:ea typeface="Arial"/>
                <a:cs typeface="Arial"/>
              </a:defRPr>
            </a:pPr>
            <a:r>
              <a:rPr sz="1500" b="1">
                <a:solidFill>
                  <a:srgbClr val="ADB8C5"/>
                </a:solidFill>
                <a:latin typeface="Arial"/>
                <a:ea typeface="Arial"/>
                <a:cs typeface="Arial"/>
              </a:rPr>
              <a:t>BACKLOG</a:t>
            </a:r>
          </a:p>
        </p:txBody>
      </p:sp>
      <p:sp>
        <p:nvSpPr>
          <p:cNvPr id="40" name="">
            <a:extLst xmlns:a="http://schemas.openxmlformats.org/drawingml/2006/main">
              <a:ext uri="{FF2B5EF4-FFF2-40B4-BE49-F238E27FC236}">
                <a16:creationId xmlns:a16="http://schemas.microsoft.com/office/drawing/2014/main" id="{31A81BB5-E927-493B-B8D1-6A41DCA9317C}"/>
              </a:ext>
            </a:extLst>
          </p:cNvPr>
          <p:cNvSpPr>
            <a:spLocks xmlns:a="http://schemas.openxmlformats.org/drawingml/2006/main" noGrp="1"/>
          </p:cNvSpPr>
          <p:nvPr/>
        </p:nvSpPr>
        <p:spPr>
          <a:xfrm xmlns:a="http://schemas.openxmlformats.org/drawingml/2006/main">
            <a:off x="914400" y="3829050"/>
            <a:ext cx="209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ADB8C5"/>
                </a:solidFill>
                <a:latin typeface="Arial"/>
                <a:ea typeface="Arial"/>
                <a:cs typeface="Arial"/>
              </a:defRPr>
            </a:pPr>
            <a:r>
              <a:rPr sz="1650" b="1">
                <a:solidFill>
                  <a:srgbClr val="ADB8C5"/>
                </a:solidFill>
                <a:latin typeface="Arial"/>
                <a:ea typeface="Arial"/>
                <a:cs typeface="Arial"/>
              </a:rPr>
              <a:t>BEFORE</a:t>
            </a:r>
          </a:p>
        </p:txBody>
      </p:sp>
      <p:sp>
        <p:nvSpPr>
          <p:cNvPr id="41" name="">
            <a:extLst xmlns:a="http://schemas.openxmlformats.org/drawingml/2006/main">
              <a:ext uri="{FF2B5EF4-FFF2-40B4-BE49-F238E27FC236}">
                <a16:creationId xmlns:a16="http://schemas.microsoft.com/office/drawing/2014/main" id="{7032DCAA-FC49-497C-9271-26A1D725C4F1}"/>
              </a:ext>
            </a:extLst>
          </p:cNvPr>
          <p:cNvSpPr>
            <a:spLocks xmlns:a="http://schemas.openxmlformats.org/drawingml/2006/main" noGrp="1"/>
          </p:cNvSpPr>
          <p:nvPr/>
        </p:nvSpPr>
        <p:spPr>
          <a:xfrm xmlns:a="http://schemas.openxmlformats.org/drawingml/2006/main">
            <a:off x="914400" y="4152900"/>
            <a:ext cx="209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Balanced flow</a:t>
            </a:r>
          </a:p>
        </p:txBody>
      </p:sp>
      <p:sp>
        <p:nvSpPr>
          <p:cNvPr id="42" name="">
            <a:extLst xmlns:a="http://schemas.openxmlformats.org/drawingml/2006/main">
              <a:ext uri="{FF2B5EF4-FFF2-40B4-BE49-F238E27FC236}">
                <a16:creationId xmlns:a16="http://schemas.microsoft.com/office/drawing/2014/main" id="{614BFCF3-B358-40F7-9F4E-267EC3D119D0}"/>
              </a:ext>
            </a:extLst>
          </p:cNvPr>
          <p:cNvSpPr>
            <a:spLocks xmlns:a="http://schemas.openxmlformats.org/drawingml/2006/main" noGrp="1"/>
          </p:cNvSpPr>
          <p:nvPr/>
        </p:nvSpPr>
        <p:spPr>
          <a:xfrm xmlns:a="http://schemas.openxmlformats.org/drawingml/2006/main">
            <a:off x="3238500" y="38004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43" name="">
            <a:extLst xmlns:a="http://schemas.openxmlformats.org/drawingml/2006/main">
              <a:ext uri="{FF2B5EF4-FFF2-40B4-BE49-F238E27FC236}">
                <a16:creationId xmlns:a16="http://schemas.microsoft.com/office/drawing/2014/main" id="{B7116F83-25C9-4D46-A479-6F1F8CB27DBE}"/>
              </a:ext>
            </a:extLst>
          </p:cNvPr>
          <p:cNvSpPr>
            <a:spLocks xmlns:a="http://schemas.openxmlformats.org/drawingml/2006/main" noGrp="1"/>
          </p:cNvSpPr>
          <p:nvPr/>
        </p:nvSpPr>
        <p:spPr>
          <a:xfrm xmlns:a="http://schemas.openxmlformats.org/drawingml/2006/main">
            <a:off x="3352800" y="38671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44" name="">
            <a:extLst xmlns:a="http://schemas.openxmlformats.org/drawingml/2006/main">
              <a:ext uri="{FF2B5EF4-FFF2-40B4-BE49-F238E27FC236}">
                <a16:creationId xmlns:a16="http://schemas.microsoft.com/office/drawing/2014/main" id="{30A77A28-81A2-4867-B07F-E0048000EFB3}"/>
              </a:ext>
            </a:extLst>
          </p:cNvPr>
          <p:cNvSpPr>
            <a:spLocks xmlns:a="http://schemas.openxmlformats.org/drawingml/2006/main" noGrp="1"/>
          </p:cNvSpPr>
          <p:nvPr/>
        </p:nvSpPr>
        <p:spPr>
          <a:xfrm xmlns:a="http://schemas.openxmlformats.org/drawingml/2006/main">
            <a:off x="5314950" y="38004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45" name="">
            <a:extLst xmlns:a="http://schemas.openxmlformats.org/drawingml/2006/main">
              <a:ext uri="{FF2B5EF4-FFF2-40B4-BE49-F238E27FC236}">
                <a16:creationId xmlns:a16="http://schemas.microsoft.com/office/drawing/2014/main" id="{B97E0E09-D0CF-4A38-8C62-13001203611D}"/>
              </a:ext>
            </a:extLst>
          </p:cNvPr>
          <p:cNvSpPr>
            <a:spLocks xmlns:a="http://schemas.openxmlformats.org/drawingml/2006/main" noGrp="1"/>
          </p:cNvSpPr>
          <p:nvPr/>
        </p:nvSpPr>
        <p:spPr>
          <a:xfrm xmlns:a="http://schemas.openxmlformats.org/drawingml/2006/main">
            <a:off x="5429250" y="38671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46" name="">
            <a:extLst xmlns:a="http://schemas.openxmlformats.org/drawingml/2006/main">
              <a:ext uri="{FF2B5EF4-FFF2-40B4-BE49-F238E27FC236}">
                <a16:creationId xmlns:a16="http://schemas.microsoft.com/office/drawing/2014/main" id="{3909F4C7-EFA4-425F-9496-C1911D0676BD}"/>
              </a:ext>
            </a:extLst>
          </p:cNvPr>
          <p:cNvSpPr>
            <a:spLocks xmlns:a="http://schemas.openxmlformats.org/drawingml/2006/main" noGrp="1"/>
          </p:cNvSpPr>
          <p:nvPr/>
        </p:nvSpPr>
        <p:spPr>
          <a:xfrm xmlns:a="http://schemas.openxmlformats.org/drawingml/2006/main">
            <a:off x="7391400" y="38004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47" name="">
            <a:extLst xmlns:a="http://schemas.openxmlformats.org/drawingml/2006/main">
              <a:ext uri="{FF2B5EF4-FFF2-40B4-BE49-F238E27FC236}">
                <a16:creationId xmlns:a16="http://schemas.microsoft.com/office/drawing/2014/main" id="{864E302B-E59A-419C-B933-F8563E84AB91}"/>
              </a:ext>
            </a:extLst>
          </p:cNvPr>
          <p:cNvSpPr>
            <a:spLocks xmlns:a="http://schemas.openxmlformats.org/drawingml/2006/main" noGrp="1"/>
          </p:cNvSpPr>
          <p:nvPr/>
        </p:nvSpPr>
        <p:spPr>
          <a:xfrm xmlns:a="http://schemas.openxmlformats.org/drawingml/2006/main">
            <a:off x="7505700" y="38671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48" name="">
            <a:extLst xmlns:a="http://schemas.openxmlformats.org/drawingml/2006/main">
              <a:ext uri="{FF2B5EF4-FFF2-40B4-BE49-F238E27FC236}">
                <a16:creationId xmlns:a16="http://schemas.microsoft.com/office/drawing/2014/main" id="{4AB6E477-8E18-4427-A01C-3EA5304BFCA4}"/>
              </a:ext>
            </a:extLst>
          </p:cNvPr>
          <p:cNvSpPr>
            <a:spLocks xmlns:a="http://schemas.openxmlformats.org/drawingml/2006/main" noGrp="1"/>
          </p:cNvSpPr>
          <p:nvPr/>
        </p:nvSpPr>
        <p:spPr>
          <a:xfrm xmlns:a="http://schemas.openxmlformats.org/drawingml/2006/main" flipH="0" flipV="0">
            <a:off x="4876800" y="4124325"/>
            <a:ext cx="4381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49" name="">
            <a:extLst xmlns:a="http://schemas.openxmlformats.org/drawingml/2006/main">
              <a:ext uri="{FF2B5EF4-FFF2-40B4-BE49-F238E27FC236}">
                <a16:creationId xmlns:a16="http://schemas.microsoft.com/office/drawing/2014/main" id="{615F4943-3F74-45A7-B2AD-579E5290B4B7}"/>
              </a:ext>
            </a:extLst>
          </p:cNvPr>
          <p:cNvSpPr>
            <a:spLocks xmlns:a="http://schemas.openxmlformats.org/drawingml/2006/main" noGrp="1"/>
          </p:cNvSpPr>
          <p:nvPr/>
        </p:nvSpPr>
        <p:spPr>
          <a:xfrm xmlns:a="http://schemas.openxmlformats.org/drawingml/2006/main" flipH="0" flipV="0">
            <a:off x="6953250" y="4124325"/>
            <a:ext cx="4381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50" name="">
            <a:extLst xmlns:a="http://schemas.openxmlformats.org/drawingml/2006/main">
              <a:ext uri="{FF2B5EF4-FFF2-40B4-BE49-F238E27FC236}">
                <a16:creationId xmlns:a16="http://schemas.microsoft.com/office/drawing/2014/main" id="{B1D2B8FE-C185-4EBD-B65C-626839C76AB5}"/>
              </a:ext>
            </a:extLst>
          </p:cNvPr>
          <p:cNvSpPr>
            <a:spLocks xmlns:a="http://schemas.openxmlformats.org/drawingml/2006/main" noGrp="1"/>
          </p:cNvSpPr>
          <p:nvPr/>
        </p:nvSpPr>
        <p:spPr>
          <a:xfrm xmlns:a="http://schemas.openxmlformats.org/drawingml/2006/main">
            <a:off x="9582150" y="3829050"/>
            <a:ext cx="1695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925" b="1">
                <a:solidFill>
                  <a:srgbClr val="ADB8C5"/>
                </a:solidFill>
                <a:latin typeface="Arial"/>
                <a:ea typeface="Arial"/>
                <a:cs typeface="Arial"/>
              </a:defRPr>
            </a:pPr>
            <a:r>
              <a:rPr sz="2925" b="1">
                <a:solidFill>
                  <a:srgbClr val="ADB8C5"/>
                </a:solidFill>
                <a:latin typeface="Arial"/>
                <a:ea typeface="Arial"/>
                <a:cs typeface="Arial"/>
              </a:rPr>
              <a:t>0</a:t>
            </a:r>
          </a:p>
        </p:txBody>
      </p:sp>
      <p:sp>
        <p:nvSpPr>
          <p:cNvPr id="51" name="">
            <a:extLst xmlns:a="http://schemas.openxmlformats.org/drawingml/2006/main">
              <a:ext uri="{FF2B5EF4-FFF2-40B4-BE49-F238E27FC236}">
                <a16:creationId xmlns:a16="http://schemas.microsoft.com/office/drawing/2014/main" id="{81FECEFC-7ADD-411F-A837-B126A6B16A19}"/>
              </a:ext>
            </a:extLst>
          </p:cNvPr>
          <p:cNvSpPr>
            <a:spLocks xmlns:a="http://schemas.openxmlformats.org/drawingml/2006/main" noGrp="1"/>
          </p:cNvSpPr>
          <p:nvPr/>
        </p:nvSpPr>
        <p:spPr>
          <a:xfrm xmlns:a="http://schemas.openxmlformats.org/drawingml/2006/main">
            <a:off x="9582150" y="428625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DB8C5"/>
                </a:solidFill>
                <a:latin typeface="Arial"/>
                <a:ea typeface="Arial"/>
                <a:cs typeface="Arial"/>
              </a:defRPr>
            </a:pPr>
            <a:r>
              <a:rPr sz="1275" b="0">
                <a:solidFill>
                  <a:srgbClr val="ADB8C5"/>
                </a:solidFill>
                <a:latin typeface="Arial"/>
                <a:ea typeface="Arial"/>
                <a:cs typeface="Arial"/>
              </a:rPr>
              <a:t>no accumulation</a:t>
            </a:r>
          </a:p>
        </p:txBody>
      </p:sp>
      <p:sp>
        <p:nvSpPr>
          <p:cNvPr id="52" name="">
            <a:extLst xmlns:a="http://schemas.openxmlformats.org/drawingml/2006/main">
              <a:ext uri="{FF2B5EF4-FFF2-40B4-BE49-F238E27FC236}">
                <a16:creationId xmlns:a16="http://schemas.microsoft.com/office/drawing/2014/main" id="{2841D30B-1BB1-48DA-9253-1FE641B4FDB6}"/>
              </a:ext>
            </a:extLst>
          </p:cNvPr>
          <p:cNvSpPr>
            <a:spLocks xmlns:a="http://schemas.openxmlformats.org/drawingml/2006/main" noGrp="1"/>
          </p:cNvSpPr>
          <p:nvPr/>
        </p:nvSpPr>
        <p:spPr>
          <a:xfrm xmlns:a="http://schemas.openxmlformats.org/drawingml/2006/main">
            <a:off x="914400" y="4819650"/>
            <a:ext cx="209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28C7F7"/>
                </a:solidFill>
                <a:latin typeface="Arial"/>
                <a:ea typeface="Arial"/>
                <a:cs typeface="Arial"/>
              </a:defRPr>
            </a:pPr>
            <a:r>
              <a:rPr sz="1650" b="1">
                <a:solidFill>
                  <a:srgbClr val="28C7F7"/>
                </a:solidFill>
                <a:latin typeface="Arial"/>
                <a:ea typeface="Arial"/>
                <a:cs typeface="Arial"/>
              </a:rPr>
              <a:t>AFTER AI</a:t>
            </a:r>
          </a:p>
        </p:txBody>
      </p:sp>
      <p:sp>
        <p:nvSpPr>
          <p:cNvPr id="53" name="">
            <a:extLst xmlns:a="http://schemas.openxmlformats.org/drawingml/2006/main">
              <a:ext uri="{FF2B5EF4-FFF2-40B4-BE49-F238E27FC236}">
                <a16:creationId xmlns:a16="http://schemas.microsoft.com/office/drawing/2014/main" id="{65A69212-2345-42F8-A628-0421B0D28D0C}"/>
              </a:ext>
            </a:extLst>
          </p:cNvPr>
          <p:cNvSpPr>
            <a:spLocks xmlns:a="http://schemas.openxmlformats.org/drawingml/2006/main" noGrp="1"/>
          </p:cNvSpPr>
          <p:nvPr/>
        </p:nvSpPr>
        <p:spPr>
          <a:xfrm xmlns:a="http://schemas.openxmlformats.org/drawingml/2006/main">
            <a:off x="914400" y="5143500"/>
            <a:ext cx="209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Other stages have</a:t>
            </a:r>
          </a:p>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not sped up</a:t>
            </a:r>
          </a:p>
        </p:txBody>
      </p:sp>
      <p:sp>
        <p:nvSpPr>
          <p:cNvPr id="54" name="">
            <a:extLst xmlns:a="http://schemas.openxmlformats.org/drawingml/2006/main">
              <a:ext uri="{FF2B5EF4-FFF2-40B4-BE49-F238E27FC236}">
                <a16:creationId xmlns:a16="http://schemas.microsoft.com/office/drawing/2014/main" id="{78DC7368-2C2C-473E-884C-463CC688FEF8}"/>
              </a:ext>
            </a:extLst>
          </p:cNvPr>
          <p:cNvSpPr>
            <a:spLocks xmlns:a="http://schemas.openxmlformats.org/drawingml/2006/main" noGrp="1"/>
          </p:cNvSpPr>
          <p:nvPr/>
        </p:nvSpPr>
        <p:spPr>
          <a:xfrm xmlns:a="http://schemas.openxmlformats.org/drawingml/2006/main">
            <a:off x="3238500" y="47910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55" name="">
            <a:extLst xmlns:a="http://schemas.openxmlformats.org/drawingml/2006/main">
              <a:ext uri="{FF2B5EF4-FFF2-40B4-BE49-F238E27FC236}">
                <a16:creationId xmlns:a16="http://schemas.microsoft.com/office/drawing/2014/main" id="{8E2F2439-7329-4E2F-ABB3-B4961813D50F}"/>
              </a:ext>
            </a:extLst>
          </p:cNvPr>
          <p:cNvSpPr>
            <a:spLocks xmlns:a="http://schemas.openxmlformats.org/drawingml/2006/main" noGrp="1"/>
          </p:cNvSpPr>
          <p:nvPr/>
        </p:nvSpPr>
        <p:spPr>
          <a:xfrm xmlns:a="http://schemas.openxmlformats.org/drawingml/2006/main">
            <a:off x="3352800" y="48577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28C7F7"/>
                </a:solidFill>
                <a:latin typeface="Arial"/>
                <a:ea typeface="Arial"/>
                <a:cs typeface="Arial"/>
              </a:defRPr>
            </a:pPr>
            <a:r>
              <a:rPr sz="2700" b="1">
                <a:solidFill>
                  <a:srgbClr val="28C7F7"/>
                </a:solidFill>
                <a:latin typeface="Arial"/>
                <a:ea typeface="Arial"/>
                <a:cs typeface="Arial"/>
              </a:rPr>
              <a:t>100</a:t>
            </a:r>
          </a:p>
        </p:txBody>
      </p:sp>
      <p:sp>
        <p:nvSpPr>
          <p:cNvPr id="56" name="">
            <a:extLst xmlns:a="http://schemas.openxmlformats.org/drawingml/2006/main">
              <a:ext uri="{FF2B5EF4-FFF2-40B4-BE49-F238E27FC236}">
                <a16:creationId xmlns:a16="http://schemas.microsoft.com/office/drawing/2014/main" id="{47E1E873-3269-4290-B85C-64226A0F0021}"/>
              </a:ext>
            </a:extLst>
          </p:cNvPr>
          <p:cNvSpPr>
            <a:spLocks xmlns:a="http://schemas.openxmlformats.org/drawingml/2006/main" noGrp="1"/>
          </p:cNvSpPr>
          <p:nvPr/>
        </p:nvSpPr>
        <p:spPr>
          <a:xfrm xmlns:a="http://schemas.openxmlformats.org/drawingml/2006/main">
            <a:off x="5314950" y="47910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57" name="">
            <a:extLst xmlns:a="http://schemas.openxmlformats.org/drawingml/2006/main">
              <a:ext uri="{FF2B5EF4-FFF2-40B4-BE49-F238E27FC236}">
                <a16:creationId xmlns:a16="http://schemas.microsoft.com/office/drawing/2014/main" id="{8DA19831-2DEC-4B1B-98F5-ED8AF4478F59}"/>
              </a:ext>
            </a:extLst>
          </p:cNvPr>
          <p:cNvSpPr>
            <a:spLocks xmlns:a="http://schemas.openxmlformats.org/drawingml/2006/main" noGrp="1"/>
          </p:cNvSpPr>
          <p:nvPr/>
        </p:nvSpPr>
        <p:spPr>
          <a:xfrm xmlns:a="http://schemas.openxmlformats.org/drawingml/2006/main">
            <a:off x="5429250" y="48577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58" name="">
            <a:extLst xmlns:a="http://schemas.openxmlformats.org/drawingml/2006/main">
              <a:ext uri="{FF2B5EF4-FFF2-40B4-BE49-F238E27FC236}">
                <a16:creationId xmlns:a16="http://schemas.microsoft.com/office/drawing/2014/main" id="{C4C6EA9B-297C-44BA-89CA-4680CE05C268}"/>
              </a:ext>
            </a:extLst>
          </p:cNvPr>
          <p:cNvSpPr>
            <a:spLocks xmlns:a="http://schemas.openxmlformats.org/drawingml/2006/main" noGrp="1"/>
          </p:cNvSpPr>
          <p:nvPr/>
        </p:nvSpPr>
        <p:spPr>
          <a:xfrm xmlns:a="http://schemas.openxmlformats.org/drawingml/2006/main">
            <a:off x="7391400" y="47910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59" name="">
            <a:extLst xmlns:a="http://schemas.openxmlformats.org/drawingml/2006/main">
              <a:ext uri="{FF2B5EF4-FFF2-40B4-BE49-F238E27FC236}">
                <a16:creationId xmlns:a16="http://schemas.microsoft.com/office/drawing/2014/main" id="{87D2DE9D-B41B-428B-97F7-78CFD7A53842}"/>
              </a:ext>
            </a:extLst>
          </p:cNvPr>
          <p:cNvSpPr>
            <a:spLocks xmlns:a="http://schemas.openxmlformats.org/drawingml/2006/main" noGrp="1"/>
          </p:cNvSpPr>
          <p:nvPr/>
        </p:nvSpPr>
        <p:spPr>
          <a:xfrm xmlns:a="http://schemas.openxmlformats.org/drawingml/2006/main">
            <a:off x="7505700" y="48577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60" name="">
            <a:extLst xmlns:a="http://schemas.openxmlformats.org/drawingml/2006/main">
              <a:ext uri="{FF2B5EF4-FFF2-40B4-BE49-F238E27FC236}">
                <a16:creationId xmlns:a16="http://schemas.microsoft.com/office/drawing/2014/main" id="{D4833AFA-DDD2-458D-9C98-073979725D05}"/>
              </a:ext>
            </a:extLst>
          </p:cNvPr>
          <p:cNvSpPr>
            <a:spLocks xmlns:a="http://schemas.openxmlformats.org/drawingml/2006/main" noGrp="1"/>
          </p:cNvSpPr>
          <p:nvPr/>
        </p:nvSpPr>
        <p:spPr>
          <a:xfrm xmlns:a="http://schemas.openxmlformats.org/drawingml/2006/main" flipH="0" flipV="0">
            <a:off x="4876800" y="5114925"/>
            <a:ext cx="4381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61" name="">
            <a:extLst xmlns:a="http://schemas.openxmlformats.org/drawingml/2006/main">
              <a:ext uri="{FF2B5EF4-FFF2-40B4-BE49-F238E27FC236}">
                <a16:creationId xmlns:a16="http://schemas.microsoft.com/office/drawing/2014/main" id="{C3A1DD67-43A1-41A4-97A6-65CEA7237EA3}"/>
              </a:ext>
            </a:extLst>
          </p:cNvPr>
          <p:cNvSpPr>
            <a:spLocks xmlns:a="http://schemas.openxmlformats.org/drawingml/2006/main" noGrp="1"/>
          </p:cNvSpPr>
          <p:nvPr/>
        </p:nvSpPr>
        <p:spPr>
          <a:xfrm xmlns:a="http://schemas.openxmlformats.org/drawingml/2006/main" flipH="0" flipV="0">
            <a:off x="6953250" y="5114925"/>
            <a:ext cx="4381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62" name="">
            <a:extLst xmlns:a="http://schemas.openxmlformats.org/drawingml/2006/main">
              <a:ext uri="{FF2B5EF4-FFF2-40B4-BE49-F238E27FC236}">
                <a16:creationId xmlns:a16="http://schemas.microsoft.com/office/drawing/2014/main" id="{55EEC234-F52D-4D97-A2C2-7877CA62BD31}"/>
              </a:ext>
            </a:extLst>
          </p:cNvPr>
          <p:cNvSpPr>
            <a:spLocks xmlns:a="http://schemas.openxmlformats.org/drawingml/2006/main" noGrp="1"/>
          </p:cNvSpPr>
          <p:nvPr/>
        </p:nvSpPr>
        <p:spPr>
          <a:xfrm xmlns:a="http://schemas.openxmlformats.org/drawingml/2006/main">
            <a:off x="9582150" y="4819650"/>
            <a:ext cx="1695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925" b="1">
                <a:solidFill>
                  <a:srgbClr val="F5B61C"/>
                </a:solidFill>
                <a:latin typeface="Arial"/>
                <a:ea typeface="Arial"/>
                <a:cs typeface="Arial"/>
              </a:defRPr>
            </a:pPr>
            <a:r>
              <a:rPr sz="2925" b="1">
                <a:solidFill>
                  <a:srgbClr val="F5B61C"/>
                </a:solidFill>
                <a:latin typeface="Arial"/>
                <a:ea typeface="Arial"/>
                <a:cs typeface="Arial"/>
              </a:rPr>
              <a:t>+92</a:t>
            </a:r>
          </a:p>
        </p:txBody>
      </p:sp>
      <p:sp>
        <p:nvSpPr>
          <p:cNvPr id="63" name="">
            <a:extLst xmlns:a="http://schemas.openxmlformats.org/drawingml/2006/main">
              <a:ext uri="{FF2B5EF4-FFF2-40B4-BE49-F238E27FC236}">
                <a16:creationId xmlns:a16="http://schemas.microsoft.com/office/drawing/2014/main" id="{6B3625C8-030D-4C74-8479-00CAC1186B45}"/>
              </a:ext>
            </a:extLst>
          </p:cNvPr>
          <p:cNvSpPr>
            <a:spLocks xmlns:a="http://schemas.openxmlformats.org/drawingml/2006/main" noGrp="1"/>
          </p:cNvSpPr>
          <p:nvPr/>
        </p:nvSpPr>
        <p:spPr>
          <a:xfrm xmlns:a="http://schemas.openxmlformats.org/drawingml/2006/main">
            <a:off x="9582150" y="527685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DB8C5"/>
                </a:solidFill>
                <a:latin typeface="Arial"/>
                <a:ea typeface="Arial"/>
                <a:cs typeface="Arial"/>
              </a:defRPr>
            </a:pPr>
            <a:r>
              <a:rPr sz="1275" b="0">
                <a:solidFill>
                  <a:srgbClr val="ADB8C5"/>
                </a:solidFill>
                <a:latin typeface="Arial"/>
                <a:ea typeface="Arial"/>
                <a:cs typeface="Arial"/>
              </a:rPr>
              <a:t>unfinished / week</a:t>
            </a:r>
          </a:p>
        </p:txBody>
      </p:sp>
      <p:sp>
        <p:nvSpPr>
          <p:cNvPr id="64" name="">
            <a:extLst xmlns:a="http://schemas.openxmlformats.org/drawingml/2006/main">
              <a:ext uri="{FF2B5EF4-FFF2-40B4-BE49-F238E27FC236}">
                <a16:creationId xmlns:a16="http://schemas.microsoft.com/office/drawing/2014/main" id="{E242F1D9-5A15-4867-8E73-5762F5BC01F9}"/>
              </a:ext>
            </a:extLst>
          </p:cNvPr>
          <p:cNvSpPr>
            <a:spLocks xmlns:a="http://schemas.openxmlformats.org/drawingml/2006/main" noGrp="1"/>
          </p:cNvSpPr>
          <p:nvPr/>
        </p:nvSpPr>
        <p:spPr>
          <a:xfrm xmlns:a="http://schemas.openxmlformats.org/drawingml/2006/main" flipH="0" flipV="0">
            <a:off x="914400" y="5705475"/>
            <a:ext cx="10363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65" name="">
            <a:extLst xmlns:a="http://schemas.openxmlformats.org/drawingml/2006/main">
              <a:ext uri="{FF2B5EF4-FFF2-40B4-BE49-F238E27FC236}">
                <a16:creationId xmlns:a16="http://schemas.microsoft.com/office/drawing/2014/main" id="{8ABECD70-2D6F-43C2-9B47-55E90DB9EE6E}"/>
              </a:ext>
            </a:extLst>
          </p:cNvPr>
          <p:cNvSpPr>
            <a:spLocks xmlns:a="http://schemas.openxmlformats.org/drawingml/2006/main" noGrp="1"/>
          </p:cNvSpPr>
          <p:nvPr/>
        </p:nvSpPr>
        <p:spPr>
          <a:xfrm xmlns:a="http://schemas.openxmlformats.org/drawingml/2006/main">
            <a:off x="914400" y="5829300"/>
            <a:ext cx="509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THEORY OF CONSTRAINTS</a:t>
            </a:r>
          </a:p>
        </p:txBody>
      </p:sp>
      <p:sp>
        <p:nvSpPr>
          <p:cNvPr id="66" name="">
            <a:extLst xmlns:a="http://schemas.openxmlformats.org/drawingml/2006/main">
              <a:ext uri="{FF2B5EF4-FFF2-40B4-BE49-F238E27FC236}">
                <a16:creationId xmlns:a16="http://schemas.microsoft.com/office/drawing/2014/main" id="{FBD64121-E19E-4D58-96EE-8DEB0505361F}"/>
              </a:ext>
            </a:extLst>
          </p:cNvPr>
          <p:cNvSpPr>
            <a:spLocks xmlns:a="http://schemas.openxmlformats.org/drawingml/2006/main" noGrp="1"/>
          </p:cNvSpPr>
          <p:nvPr/>
        </p:nvSpPr>
        <p:spPr>
          <a:xfrm xmlns:a="http://schemas.openxmlformats.org/drawingml/2006/main">
            <a:off x="914400" y="6143625"/>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F4F7FA"/>
                </a:solidFill>
                <a:latin typeface="Arial"/>
                <a:ea typeface="Arial"/>
                <a:cs typeface="Arial"/>
              </a:defRPr>
            </a:pPr>
            <a:r>
              <a:rPr sz="1875" b="1">
                <a:solidFill>
                  <a:srgbClr val="F4F7FA"/>
                </a:solidFill>
                <a:latin typeface="Arial"/>
                <a:ea typeface="Arial"/>
                <a:cs typeface="Arial"/>
              </a:rPr>
              <a:t>Delivery stays at 8/week. WIP grows; overload can reduce quality.</a:t>
            </a:r>
          </a:p>
        </p:txBody>
      </p:sp>
      <p:sp>
        <p:nvSpPr>
          <p:cNvPr id="67" name="">
            <a:extLst xmlns:a="http://schemas.openxmlformats.org/drawingml/2006/main">
              <a:ext uri="{FF2B5EF4-FFF2-40B4-BE49-F238E27FC236}">
                <a16:creationId xmlns:a16="http://schemas.microsoft.com/office/drawing/2014/main" id="{DEC6A5C7-9F8C-4A89-BC56-EFAB2452465F}"/>
              </a:ext>
            </a:extLst>
          </p:cNvPr>
          <p:cNvSpPr>
            <a:spLocks xmlns:a="http://schemas.openxmlformats.org/drawingml/2006/main" noGrp="1"/>
          </p:cNvSpPr>
          <p:nvPr/>
        </p:nvSpPr>
        <p:spPr>
          <a:xfrm xmlns:a="http://schemas.openxmlformats.org/drawingml/2006/main">
            <a:off x="6381750" y="5829300"/>
            <a:ext cx="489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ADB8C5"/>
                </a:solidFill>
                <a:latin typeface="Arial"/>
                <a:ea typeface="Arial"/>
                <a:cs typeface="Arial"/>
              </a:defRPr>
            </a:pPr>
            <a:r>
              <a:rPr sz="1350" b="0">
                <a:solidFill>
                  <a:srgbClr val="ADB8C5"/>
                </a:solidFill>
                <a:latin typeface="Arial"/>
                <a:ea typeface="Arial"/>
                <a:cs typeface="Arial"/>
              </a:rPr>
              <a:t>Push system: no WIP limit, no discarded work.</a:t>
            </a:r>
          </a:p>
        </p:txBody>
      </p:sp>
    </p:spTree>
    <p:extLst>
      <p:ext uri="{BB962C8B-B14F-4D97-AF65-F5344CB8AC3E}">
        <p14:creationId xmlns:p14="http://schemas.microsoft.com/office/powerpoint/2010/main" val="430036407"/>
      </p:ext>
    </p:extLst>
  </p:cSld>
</p:sld>
</file>

<file path=ppt/slides/slide3.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5D2DFD1B-23D8-4DA0-862E-105B98048279}"/>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The Evidence Is Already Messy</a:t>
            </a:r>
          </a:p>
        </p:txBody>
      </p:sp>
      <p:sp>
        <p:nvSpPr>
          <p:cNvPr id="2" name="">
            <a:extLst xmlns:a="http://schemas.openxmlformats.org/drawingml/2006/main">
              <a:ext uri="{FF2B5EF4-FFF2-40B4-BE49-F238E27FC236}">
                <a16:creationId xmlns:a16="http://schemas.microsoft.com/office/drawing/2014/main" id="{D0F6FC83-1EF3-4074-8543-48CDA9E876D2}"/>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BA28DB65-FBEE-47DE-81CA-9E3D035A6B15}"/>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03DC1413-D0EF-4AAE-A7BE-65D5A8795C07}"/>
              </a:ext>
            </a:extLst>
          </p:cNvPr>
          <p:cNvSpPr>
            <a:spLocks xmlns:a="http://schemas.openxmlformats.org/drawingml/2006/main" noGrp="1"/>
          </p:cNvSpPr>
          <p:nvPr/>
        </p:nvSpPr>
        <p:spPr>
          <a:xfrm xmlns:a="http://schemas.openxmlformats.org/drawingml/2006/main">
            <a:off x="609600" y="11525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Different studies measure different outcomes — not one universal productivity effect.</a:t>
            </a:r>
          </a:p>
        </p:txBody>
      </p:sp>
      <p:sp>
        <p:nvSpPr>
          <p:cNvPr id="5" name="">
            <a:extLst xmlns:a="http://schemas.openxmlformats.org/drawingml/2006/main">
              <a:ext uri="{FF2B5EF4-FFF2-40B4-BE49-F238E27FC236}">
                <a16:creationId xmlns:a16="http://schemas.microsoft.com/office/drawing/2014/main" id="{3141AC38-9BFE-4BAE-ACE7-F4B3BC522F2D}"/>
              </a:ext>
            </a:extLst>
          </p:cNvPr>
          <p:cNvSpPr>
            <a:spLocks xmlns:a="http://schemas.openxmlformats.org/drawingml/2006/main" noGrp="1"/>
          </p:cNvSpPr>
          <p:nvPr/>
        </p:nvSpPr>
        <p:spPr>
          <a:xfrm xmlns:a="http://schemas.openxmlformats.org/drawingml/2006/main" flipH="0" flipV="0">
            <a:off x="5553075" y="1743075"/>
            <a:ext cx="0" cy="3648075"/>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6" name="">
            <a:extLst xmlns:a="http://schemas.openxmlformats.org/drawingml/2006/main">
              <a:ext uri="{FF2B5EF4-FFF2-40B4-BE49-F238E27FC236}">
                <a16:creationId xmlns:a16="http://schemas.microsoft.com/office/drawing/2014/main" id="{CD120600-9349-4891-88D6-115C988A9D4D}"/>
              </a:ext>
            </a:extLst>
          </p:cNvPr>
          <p:cNvSpPr>
            <a:spLocks xmlns:a="http://schemas.openxmlformats.org/drawingml/2006/main" noGrp="1"/>
          </p:cNvSpPr>
          <p:nvPr/>
        </p:nvSpPr>
        <p:spPr>
          <a:xfrm xmlns:a="http://schemas.openxmlformats.org/drawingml/2006/main">
            <a:off x="609600" y="1714500"/>
            <a:ext cx="4800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NBER · SEP 2026 · &gt;500K GITHUB DEVS</a:t>
            </a:r>
          </a:p>
        </p:txBody>
      </p:sp>
      <p:sp>
        <p:nvSpPr>
          <p:cNvPr id="7" name="">
            <a:extLst xmlns:a="http://schemas.openxmlformats.org/drawingml/2006/main">
              <a:ext uri="{FF2B5EF4-FFF2-40B4-BE49-F238E27FC236}">
                <a16:creationId xmlns:a16="http://schemas.microsoft.com/office/drawing/2014/main" id="{4FDAF2B5-B626-4D44-A465-829C57C8E053}"/>
              </a:ext>
            </a:extLst>
          </p:cNvPr>
          <p:cNvSpPr>
            <a:spLocks xmlns:a="http://schemas.openxmlformats.org/drawingml/2006/main" noGrp="1"/>
          </p:cNvSpPr>
          <p:nvPr/>
        </p:nvSpPr>
        <p:spPr>
          <a:xfrm xmlns:a="http://schemas.openxmlformats.org/drawingml/2006/main">
            <a:off x="609600" y="2085975"/>
            <a:ext cx="1495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25.5×</a:t>
            </a:r>
          </a:p>
        </p:txBody>
      </p:sp>
      <p:sp>
        <p:nvSpPr>
          <p:cNvPr id="8" name="">
            <a:extLst xmlns:a="http://schemas.openxmlformats.org/drawingml/2006/main">
              <a:ext uri="{FF2B5EF4-FFF2-40B4-BE49-F238E27FC236}">
                <a16:creationId xmlns:a16="http://schemas.microsoft.com/office/drawing/2014/main" id="{D782CD67-8636-47A0-9A0B-FA8F4D622EA2}"/>
              </a:ext>
            </a:extLst>
          </p:cNvPr>
          <p:cNvSpPr>
            <a:spLocks xmlns:a="http://schemas.openxmlformats.org/drawingml/2006/main" noGrp="1"/>
          </p:cNvSpPr>
          <p:nvPr/>
        </p:nvSpPr>
        <p:spPr>
          <a:xfrm xmlns:a="http://schemas.openxmlformats.org/drawingml/2006/main">
            <a:off x="609600" y="2600325"/>
            <a:ext cx="1495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changed LOC</a:t>
            </a:r>
          </a:p>
        </p:txBody>
      </p:sp>
      <p:sp>
        <p:nvSpPr>
          <p:cNvPr id="9" name="">
            <a:extLst xmlns:a="http://schemas.openxmlformats.org/drawingml/2006/main">
              <a:ext uri="{FF2B5EF4-FFF2-40B4-BE49-F238E27FC236}">
                <a16:creationId xmlns:a16="http://schemas.microsoft.com/office/drawing/2014/main" id="{AE9038B3-E8AD-422F-A424-4F2FDE85F1D9}"/>
              </a:ext>
            </a:extLst>
          </p:cNvPr>
          <p:cNvSpPr>
            <a:spLocks xmlns:a="http://schemas.openxmlformats.org/drawingml/2006/main" noGrp="1"/>
          </p:cNvSpPr>
          <p:nvPr/>
        </p:nvSpPr>
        <p:spPr>
          <a:xfrm xmlns:a="http://schemas.openxmlformats.org/drawingml/2006/main">
            <a:off x="2219325" y="2085975"/>
            <a:ext cx="1495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3.4×</a:t>
            </a:r>
          </a:p>
        </p:txBody>
      </p:sp>
      <p:sp>
        <p:nvSpPr>
          <p:cNvPr id="10" name="">
            <a:extLst xmlns:a="http://schemas.openxmlformats.org/drawingml/2006/main">
              <a:ext uri="{FF2B5EF4-FFF2-40B4-BE49-F238E27FC236}">
                <a16:creationId xmlns:a16="http://schemas.microsoft.com/office/drawing/2014/main" id="{63CCFAB3-3D48-4FED-AE3A-DADEDFD00F35}"/>
              </a:ext>
            </a:extLst>
          </p:cNvPr>
          <p:cNvSpPr>
            <a:spLocks xmlns:a="http://schemas.openxmlformats.org/drawingml/2006/main" noGrp="1"/>
          </p:cNvSpPr>
          <p:nvPr/>
        </p:nvSpPr>
        <p:spPr>
          <a:xfrm xmlns:a="http://schemas.openxmlformats.org/drawingml/2006/main">
            <a:off x="2219325" y="2600325"/>
            <a:ext cx="1495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commits</a:t>
            </a:r>
          </a:p>
        </p:txBody>
      </p:sp>
      <p:sp>
        <p:nvSpPr>
          <p:cNvPr id="11" name="">
            <a:extLst xmlns:a="http://schemas.openxmlformats.org/drawingml/2006/main">
              <a:ext uri="{FF2B5EF4-FFF2-40B4-BE49-F238E27FC236}">
                <a16:creationId xmlns:a16="http://schemas.microsoft.com/office/drawing/2014/main" id="{98690DCF-D994-4818-B02E-B8FE5AC597A1}"/>
              </a:ext>
            </a:extLst>
          </p:cNvPr>
          <p:cNvSpPr>
            <a:spLocks xmlns:a="http://schemas.openxmlformats.org/drawingml/2006/main" noGrp="1"/>
          </p:cNvSpPr>
          <p:nvPr/>
        </p:nvSpPr>
        <p:spPr>
          <a:xfrm xmlns:a="http://schemas.openxmlformats.org/drawingml/2006/main">
            <a:off x="3829050" y="2085975"/>
            <a:ext cx="1495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1.3×</a:t>
            </a:r>
          </a:p>
        </p:txBody>
      </p:sp>
      <p:sp>
        <p:nvSpPr>
          <p:cNvPr id="12" name="">
            <a:extLst xmlns:a="http://schemas.openxmlformats.org/drawingml/2006/main">
              <a:ext uri="{FF2B5EF4-FFF2-40B4-BE49-F238E27FC236}">
                <a16:creationId xmlns:a16="http://schemas.microsoft.com/office/drawing/2014/main" id="{EAF0B9F8-D02C-4805-AA41-094D0FC54DCB}"/>
              </a:ext>
            </a:extLst>
          </p:cNvPr>
          <p:cNvSpPr>
            <a:spLocks xmlns:a="http://schemas.openxmlformats.org/drawingml/2006/main" noGrp="1"/>
          </p:cNvSpPr>
          <p:nvPr/>
        </p:nvSpPr>
        <p:spPr>
          <a:xfrm xmlns:a="http://schemas.openxmlformats.org/drawingml/2006/main">
            <a:off x="3829050" y="2600325"/>
            <a:ext cx="1495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releases</a:t>
            </a:r>
          </a:p>
        </p:txBody>
      </p:sp>
      <p:sp>
        <p:nvSpPr>
          <p:cNvPr id="13" name="">
            <a:extLst xmlns:a="http://schemas.openxmlformats.org/drawingml/2006/main">
              <a:ext uri="{FF2B5EF4-FFF2-40B4-BE49-F238E27FC236}">
                <a16:creationId xmlns:a16="http://schemas.microsoft.com/office/drawing/2014/main" id="{44A6E0D6-DAAC-467E-9224-381E67E524B6}"/>
              </a:ext>
            </a:extLst>
          </p:cNvPr>
          <p:cNvSpPr>
            <a:spLocks xmlns:a="http://schemas.openxmlformats.org/drawingml/2006/main" noGrp="1"/>
          </p:cNvSpPr>
          <p:nvPr/>
        </p:nvSpPr>
        <p:spPr>
          <a:xfrm xmlns:a="http://schemas.openxmlformats.org/drawingml/2006/main">
            <a:off x="609600" y="29908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Cumulative across three tool generations</a:t>
            </a:r>
          </a:p>
        </p:txBody>
      </p:sp>
      <p:sp>
        <p:nvSpPr>
          <p:cNvPr id="14" name="">
            <a:extLst xmlns:a="http://schemas.openxmlformats.org/drawingml/2006/main">
              <a:ext uri="{FF2B5EF4-FFF2-40B4-BE49-F238E27FC236}">
                <a16:creationId xmlns:a16="http://schemas.microsoft.com/office/drawing/2014/main" id="{68C17D00-80DF-49DE-91C0-25129D5FDBCE}"/>
              </a:ext>
            </a:extLst>
          </p:cNvPr>
          <p:cNvSpPr>
            <a:spLocks xmlns:a="http://schemas.openxmlformats.org/drawingml/2006/main" noGrp="1"/>
          </p:cNvSpPr>
          <p:nvPr/>
        </p:nvSpPr>
        <p:spPr>
          <a:xfrm xmlns:a="http://schemas.openxmlformats.org/drawingml/2006/main">
            <a:off x="609600" y="3324225"/>
            <a:ext cx="4800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Changed LOC = additions + deletions.</a:t>
            </a:r>
          </a:p>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Fig. 1 rounded; async releases not estimated.</a:t>
            </a:r>
          </a:p>
        </p:txBody>
      </p:sp>
      <p:sp>
        <p:nvSpPr>
          <p:cNvPr id="15" name="">
            <a:extLst xmlns:a="http://schemas.openxmlformats.org/drawingml/2006/main">
              <a:ext uri="{FF2B5EF4-FFF2-40B4-BE49-F238E27FC236}">
                <a16:creationId xmlns:a16="http://schemas.microsoft.com/office/drawing/2014/main" id="{87A936E8-FCDA-4823-8327-15AC6C5ACE68}"/>
              </a:ext>
            </a:extLst>
          </p:cNvPr>
          <p:cNvSpPr>
            <a:spLocks xmlns:a="http://schemas.openxmlformats.org/drawingml/2006/main" noGrp="1"/>
          </p:cNvSpPr>
          <p:nvPr/>
        </p:nvSpPr>
        <p:spPr>
          <a:xfrm xmlns:a="http://schemas.openxmlformats.org/drawingml/2006/main">
            <a:off x="609600" y="3981450"/>
            <a:ext cx="4800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4F7FA"/>
                </a:solidFill>
                <a:latin typeface="Arial"/>
                <a:ea typeface="Arial"/>
                <a:cs typeface="Arial"/>
              </a:defRPr>
            </a:pPr>
            <a:r>
              <a:rPr sz="1725" b="1">
                <a:solidFill>
                  <a:srgbClr val="F4F7FA"/>
                </a:solidFill>
                <a:latin typeface="Arial"/>
                <a:ea typeface="Arial"/>
                <a:cs typeface="Arial"/>
              </a:rPr>
              <a:t>More apps. Low-usage shares rise.</a:t>
            </a:r>
          </a:p>
        </p:txBody>
      </p:sp>
      <p:sp>
        <p:nvSpPr>
          <p:cNvPr id="16" name="">
            <a:extLst xmlns:a="http://schemas.openxmlformats.org/drawingml/2006/main">
              <a:ext uri="{FF2B5EF4-FFF2-40B4-BE49-F238E27FC236}">
                <a16:creationId xmlns:a16="http://schemas.microsoft.com/office/drawing/2014/main" id="{2C22ED37-2FC7-49F9-9126-9E7649B9F20B}"/>
              </a:ext>
            </a:extLst>
          </p:cNvPr>
          <p:cNvSpPr>
            <a:spLocks xmlns:a="http://schemas.openxmlformats.org/drawingml/2006/main" noGrp="1"/>
          </p:cNvSpPr>
          <p:nvPr/>
        </p:nvSpPr>
        <p:spPr>
          <a:xfrm xmlns:a="http://schemas.openxmlformats.org/drawingml/2006/main">
            <a:off x="609600" y="4362450"/>
            <a:ext cx="2466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iOS: &lt;10 ratings</a:t>
            </a:r>
          </a:p>
        </p:txBody>
      </p:sp>
      <p:sp>
        <p:nvSpPr>
          <p:cNvPr id="17" name="">
            <a:extLst xmlns:a="http://schemas.openxmlformats.org/drawingml/2006/main">
              <a:ext uri="{FF2B5EF4-FFF2-40B4-BE49-F238E27FC236}">
                <a16:creationId xmlns:a16="http://schemas.microsoft.com/office/drawing/2014/main" id="{2C4E441D-7E3C-446E-B705-5199C3C3C00A}"/>
              </a:ext>
            </a:extLst>
          </p:cNvPr>
          <p:cNvSpPr>
            <a:spLocks xmlns:a="http://schemas.openxmlformats.org/drawingml/2006/main" noGrp="1"/>
          </p:cNvSpPr>
          <p:nvPr/>
        </p:nvSpPr>
        <p:spPr>
          <a:xfrm xmlns:a="http://schemas.openxmlformats.org/drawingml/2006/main">
            <a:off x="3076575" y="4362450"/>
            <a:ext cx="233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725" b="1">
                <a:solidFill>
                  <a:srgbClr val="F5B61C"/>
                </a:solidFill>
                <a:latin typeface="Arial"/>
                <a:ea typeface="Arial"/>
                <a:cs typeface="Arial"/>
              </a:defRPr>
            </a:pPr>
            <a:r>
              <a:rPr sz="1725" b="1">
                <a:solidFill>
                  <a:srgbClr val="F5B61C"/>
                </a:solidFill>
                <a:latin typeface="Arial"/>
                <a:ea typeface="Arial"/>
                <a:cs typeface="Arial"/>
              </a:rPr>
              <a:t>≈78% → 87%</a:t>
            </a:r>
          </a:p>
        </p:txBody>
      </p:sp>
      <p:sp>
        <p:nvSpPr>
          <p:cNvPr id="18" name="">
            <a:extLst xmlns:a="http://schemas.openxmlformats.org/drawingml/2006/main">
              <a:ext uri="{FF2B5EF4-FFF2-40B4-BE49-F238E27FC236}">
                <a16:creationId xmlns:a16="http://schemas.microsoft.com/office/drawing/2014/main" id="{C08C848D-4A0A-4B2C-B6AA-9CB910D2300D}"/>
              </a:ext>
            </a:extLst>
          </p:cNvPr>
          <p:cNvSpPr>
            <a:spLocks xmlns:a="http://schemas.openxmlformats.org/drawingml/2006/main" noGrp="1"/>
          </p:cNvSpPr>
          <p:nvPr/>
        </p:nvSpPr>
        <p:spPr>
          <a:xfrm xmlns:a="http://schemas.openxmlformats.org/drawingml/2006/main">
            <a:off x="609600" y="4667250"/>
            <a:ext cx="2466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Chrome: &lt;10 downloads</a:t>
            </a:r>
          </a:p>
        </p:txBody>
      </p:sp>
      <p:sp>
        <p:nvSpPr>
          <p:cNvPr id="19" name="">
            <a:extLst xmlns:a="http://schemas.openxmlformats.org/drawingml/2006/main">
              <a:ext uri="{FF2B5EF4-FFF2-40B4-BE49-F238E27FC236}">
                <a16:creationId xmlns:a16="http://schemas.microsoft.com/office/drawing/2014/main" id="{B7901632-9DA3-4C35-8198-8528F5898739}"/>
              </a:ext>
            </a:extLst>
          </p:cNvPr>
          <p:cNvSpPr>
            <a:spLocks xmlns:a="http://schemas.openxmlformats.org/drawingml/2006/main" noGrp="1"/>
          </p:cNvSpPr>
          <p:nvPr/>
        </p:nvSpPr>
        <p:spPr>
          <a:xfrm xmlns:a="http://schemas.openxmlformats.org/drawingml/2006/main">
            <a:off x="3076575" y="4667250"/>
            <a:ext cx="233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725" b="1">
                <a:solidFill>
                  <a:srgbClr val="F5B61C"/>
                </a:solidFill>
                <a:latin typeface="Arial"/>
                <a:ea typeface="Arial"/>
                <a:cs typeface="Arial"/>
              </a:defRPr>
            </a:pPr>
            <a:r>
              <a:rPr sz="1725" b="1">
                <a:solidFill>
                  <a:srgbClr val="F5B61C"/>
                </a:solidFill>
                <a:latin typeface="Arial"/>
                <a:ea typeface="Arial"/>
                <a:cs typeface="Arial"/>
              </a:rPr>
              <a:t>19% → 33%</a:t>
            </a:r>
          </a:p>
        </p:txBody>
      </p:sp>
      <p:sp>
        <p:nvSpPr>
          <p:cNvPr id="20" name="">
            <a:extLst xmlns:a="http://schemas.openxmlformats.org/drawingml/2006/main">
              <a:ext uri="{FF2B5EF4-FFF2-40B4-BE49-F238E27FC236}">
                <a16:creationId xmlns:a16="http://schemas.microsoft.com/office/drawing/2014/main" id="{60AB2631-07DC-4E82-AF0F-183E586791D6}"/>
              </a:ext>
            </a:extLst>
          </p:cNvPr>
          <p:cNvSpPr>
            <a:spLocks xmlns:a="http://schemas.openxmlformats.org/drawingml/2006/main" noGrp="1"/>
          </p:cNvSpPr>
          <p:nvPr/>
        </p:nvSpPr>
        <p:spPr>
          <a:xfrm xmlns:a="http://schemas.openxmlformats.org/drawingml/2006/main">
            <a:off x="609600" y="5010150"/>
            <a:ext cx="4800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4 marketplaces; iOS / Chrome shown.</a:t>
            </a:r>
          </a:p>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Jan 2025–Apr 2026; first 3 months.</a:t>
            </a:r>
          </a:p>
        </p:txBody>
      </p:sp>
      <p:sp>
        <p:nvSpPr>
          <p:cNvPr id="21" name="">
            <a:extLst xmlns:a="http://schemas.openxmlformats.org/drawingml/2006/main">
              <a:ext uri="{FF2B5EF4-FFF2-40B4-BE49-F238E27FC236}">
                <a16:creationId xmlns:a16="http://schemas.microsoft.com/office/drawing/2014/main" id="{0D46F468-96DF-4244-8BB5-9CAF30D88280}"/>
              </a:ext>
            </a:extLst>
          </p:cNvPr>
          <p:cNvSpPr>
            <a:spLocks xmlns:a="http://schemas.openxmlformats.org/drawingml/2006/main" noGrp="1"/>
          </p:cNvSpPr>
          <p:nvPr/>
        </p:nvSpPr>
        <p:spPr>
          <a:xfrm xmlns:a="http://schemas.openxmlformats.org/drawingml/2006/main">
            <a:off x="5867400" y="1714500"/>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DORA · 2025 · n = 4,867</a:t>
            </a:r>
          </a:p>
        </p:txBody>
      </p:sp>
      <p:sp>
        <p:nvSpPr>
          <p:cNvPr id="22" name="">
            <a:extLst xmlns:a="http://schemas.openxmlformats.org/drawingml/2006/main">
              <a:ext uri="{FF2B5EF4-FFF2-40B4-BE49-F238E27FC236}">
                <a16:creationId xmlns:a16="http://schemas.microsoft.com/office/drawing/2014/main" id="{15F276B9-0363-46F5-806A-FB51ADB20B34}"/>
              </a:ext>
            </a:extLst>
          </p:cNvPr>
          <p:cNvSpPr>
            <a:spLocks xmlns:a="http://schemas.openxmlformats.org/drawingml/2006/main" noGrp="1"/>
          </p:cNvSpPr>
          <p:nvPr/>
        </p:nvSpPr>
        <p:spPr>
          <a:xfrm xmlns:a="http://schemas.openxmlformats.org/drawingml/2006/main">
            <a:off x="5867400" y="2057400"/>
            <a:ext cx="571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F4F7FA"/>
                </a:solidFill>
                <a:latin typeface="Arial"/>
                <a:ea typeface="Arial"/>
                <a:cs typeface="Arial"/>
              </a:defRPr>
            </a:pPr>
            <a:r>
              <a:rPr sz="1575" b="1">
                <a:solidFill>
                  <a:srgbClr val="F4F7FA"/>
                </a:solidFill>
                <a:latin typeface="Arial"/>
                <a:ea typeface="Arial"/>
                <a:cs typeface="Arial"/>
              </a:rPr>
              <a:t>Respondents reporting improvement:</a:t>
            </a:r>
          </a:p>
          <a:p xmlns:a="http://schemas.openxmlformats.org/drawingml/2006/main">
            <a:pPr algn="l">
              <a:defRPr sz="1575" b="1">
                <a:solidFill>
                  <a:srgbClr val="F4F7FA"/>
                </a:solidFill>
                <a:latin typeface="Arial"/>
                <a:ea typeface="Arial"/>
                <a:cs typeface="Arial"/>
              </a:defRPr>
            </a:pPr>
            <a:r>
              <a:rPr sz="1575" b="1">
                <a:solidFill>
                  <a:srgbClr val="F4F7FA"/>
                </a:solidFill>
                <a:latin typeface="Arial"/>
                <a:ea typeface="Arial"/>
                <a:cs typeface="Arial"/>
              </a:rPr>
              <a:t>Productivity &gt;80% · Code quality 59%</a:t>
            </a:r>
          </a:p>
        </p:txBody>
      </p:sp>
      <p:sp>
        <p:nvSpPr>
          <p:cNvPr id="23" name="">
            <a:extLst xmlns:a="http://schemas.openxmlformats.org/drawingml/2006/main">
              <a:ext uri="{FF2B5EF4-FFF2-40B4-BE49-F238E27FC236}">
                <a16:creationId xmlns:a16="http://schemas.microsoft.com/office/drawing/2014/main" id="{0182A840-F863-4CA4-82CA-1FBC4EDFC66A}"/>
              </a:ext>
            </a:extLst>
          </p:cNvPr>
          <p:cNvSpPr>
            <a:spLocks xmlns:a="http://schemas.openxmlformats.org/drawingml/2006/main" noGrp="1"/>
          </p:cNvSpPr>
          <p:nvPr/>
        </p:nvSpPr>
        <p:spPr>
          <a:xfrm xmlns:a="http://schemas.openxmlformats.org/drawingml/2006/main">
            <a:off x="5867400" y="26289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5B61C"/>
                </a:solidFill>
                <a:latin typeface="Arial"/>
                <a:ea typeface="Arial"/>
                <a:cs typeface="Arial"/>
              </a:defRPr>
            </a:pPr>
            <a:r>
              <a:rPr sz="1500" b="1">
                <a:solidFill>
                  <a:srgbClr val="F5B61C"/>
                </a:solidFill>
                <a:latin typeface="Arial"/>
                <a:ea typeface="Arial"/>
                <a:cs typeface="Arial"/>
              </a:rPr>
              <a:t>Higher adoption ↔ throughput + instability</a:t>
            </a:r>
          </a:p>
        </p:txBody>
      </p:sp>
      <p:sp>
        <p:nvSpPr>
          <p:cNvPr id="24" name="">
            <a:extLst xmlns:a="http://schemas.openxmlformats.org/drawingml/2006/main">
              <a:ext uri="{FF2B5EF4-FFF2-40B4-BE49-F238E27FC236}">
                <a16:creationId xmlns:a16="http://schemas.microsoft.com/office/drawing/2014/main" id="{E903ECBC-6848-4A93-8A3E-EE7F5F7E2C1E}"/>
              </a:ext>
            </a:extLst>
          </p:cNvPr>
          <p:cNvSpPr>
            <a:spLocks xmlns:a="http://schemas.openxmlformats.org/drawingml/2006/main" noGrp="1"/>
          </p:cNvSpPr>
          <p:nvPr/>
        </p:nvSpPr>
        <p:spPr>
          <a:xfrm xmlns:a="http://schemas.openxmlformats.org/drawingml/2006/main">
            <a:off x="5867400" y="29241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Instability: failed production changes + unplanned fixes.</a:t>
            </a:r>
          </a:p>
        </p:txBody>
      </p:sp>
      <p:sp>
        <p:nvSpPr>
          <p:cNvPr id="25" name="">
            <a:extLst xmlns:a="http://schemas.openxmlformats.org/drawingml/2006/main">
              <a:ext uri="{FF2B5EF4-FFF2-40B4-BE49-F238E27FC236}">
                <a16:creationId xmlns:a16="http://schemas.microsoft.com/office/drawing/2014/main" id="{0665B7C4-B331-4860-8C33-0C12540CD25E}"/>
              </a:ext>
            </a:extLst>
          </p:cNvPr>
          <p:cNvSpPr>
            <a:spLocks xmlns:a="http://schemas.openxmlformats.org/drawingml/2006/main" noGrp="1"/>
          </p:cNvSpPr>
          <p:nvPr/>
        </p:nvSpPr>
        <p:spPr>
          <a:xfrm xmlns:a="http://schemas.openxmlformats.org/drawingml/2006/main">
            <a:off x="5867400" y="31718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Survey association; no causal estimate.</a:t>
            </a:r>
          </a:p>
        </p:txBody>
      </p:sp>
      <p:sp>
        <p:nvSpPr>
          <p:cNvPr id="26" name="">
            <a:extLst xmlns:a="http://schemas.openxmlformats.org/drawingml/2006/main">
              <a:ext uri="{FF2B5EF4-FFF2-40B4-BE49-F238E27FC236}">
                <a16:creationId xmlns:a16="http://schemas.microsoft.com/office/drawing/2014/main" id="{806CD37B-5529-46A6-8EE6-0E65C7A48BE9}"/>
              </a:ext>
            </a:extLst>
          </p:cNvPr>
          <p:cNvSpPr>
            <a:spLocks xmlns:a="http://schemas.openxmlformats.org/drawingml/2006/main" noGrp="1"/>
          </p:cNvSpPr>
          <p:nvPr/>
        </p:nvSpPr>
        <p:spPr>
          <a:xfrm xmlns:a="http://schemas.openxmlformats.org/drawingml/2006/main" flipH="0" flipV="0">
            <a:off x="5867400" y="3495675"/>
            <a:ext cx="57150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7" name="">
            <a:extLst xmlns:a="http://schemas.openxmlformats.org/drawingml/2006/main">
              <a:ext uri="{FF2B5EF4-FFF2-40B4-BE49-F238E27FC236}">
                <a16:creationId xmlns:a16="http://schemas.microsoft.com/office/drawing/2014/main" id="{BFF90E6A-EC93-422C-8545-F841E489BC81}"/>
              </a:ext>
            </a:extLst>
          </p:cNvPr>
          <p:cNvSpPr>
            <a:spLocks xmlns:a="http://schemas.openxmlformats.org/drawingml/2006/main" noGrp="1"/>
          </p:cNvSpPr>
          <p:nvPr/>
        </p:nvSpPr>
        <p:spPr>
          <a:xfrm xmlns:a="http://schemas.openxmlformats.org/drawingml/2006/main">
            <a:off x="5867400" y="35623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GITCLEAR · SHARES OF CHANGED LINES</a:t>
            </a:r>
          </a:p>
        </p:txBody>
      </p:sp>
      <p:graphicFrame>
        <p:nvGraphicFramePr>
          <p:cNvPr id="67" name=""/>
          <p:cNvGraphicFramePr/>
          <p:nvPr/>
        </p:nvGraphicFramePr>
        <p:xfrm>
          <a:off xmlns:a="http://schemas.openxmlformats.org/drawingml/2006/main" x="5867400" y="3886200"/>
          <a:ext xmlns:a="http://schemas.openxmlformats.org/drawingml/2006/main" cx="5715000" cy="942975"/>
        </p:xfrm>
        <a:graphic xmlns:a="http://schemas.openxmlformats.org/drawingml/2006/main">
          <a:graphicData uri="http://schemas.openxmlformats.org/drawingml/2006/table">
            <a:tbl>
              <a:tblPr/>
              <a:tblGrid>
                <a:gridCol w="2381250"/>
                <a:gridCol w="1524000"/>
                <a:gridCol w="1809750"/>
              </a:tblGrid>
              <a:tr h="314325">
                <a:tc>
                  <a:txBody>
                    <a:bodyPr lIns="171450" tIns="19050" rIns="171450" bIns="19050">
                      <a:noAutofit/>
                    </a:bodyPr>
                    <a:lstStyle/>
                    <a:p>
                      <a:r>
                        <a:rPr sz="1575" b="1">
                          <a:solidFill>
                            <a:srgbClr val="F4F7FA"/>
                          </a:solidFill>
                          <a:latin typeface="Arial"/>
                          <a:ea typeface="Arial"/>
                          <a:cs typeface="Arial"/>
                        </a:rPr>
                        <a:t>Metric</a:t>
                      </a:r>
                    </a:p>
                  </a:txBody>
                  <a:tcPr marL="91440" marR="91440" marT="45720" marB="45720" anchor="ctr">
                    <a:solidFill>
                      <a:srgbClr val="1A2734"/>
                    </a:solidFill>
                  </a:tcPr>
                </a:tc>
                <a:tc>
                  <a:txBody>
                    <a:bodyPr lIns="171450" tIns="19050" rIns="171450" bIns="19050">
                      <a:noAutofit/>
                    </a:bodyPr>
                    <a:lstStyle/>
                    <a:p>
                      <a:r>
                        <a:rPr sz="1575" b="1">
                          <a:solidFill>
                            <a:srgbClr val="F4F7FA"/>
                          </a:solidFill>
                          <a:latin typeface="Arial"/>
                          <a:ea typeface="Arial"/>
                          <a:cs typeface="Arial"/>
                        </a:rPr>
                        <a:t>2021¹</a:t>
                      </a:r>
                    </a:p>
                  </a:txBody>
                  <a:tcPr marL="91440" marR="91440" marT="45720" marB="45720" anchor="ctr">
                    <a:solidFill>
                      <a:srgbClr val="1A2734"/>
                    </a:solidFill>
                  </a:tcPr>
                </a:tc>
                <a:tc>
                  <a:txBody>
                    <a:bodyPr lIns="171450" tIns="19050" rIns="171450" bIns="19050">
                      <a:noAutofit/>
                    </a:bodyPr>
                    <a:lstStyle/>
                    <a:p>
                      <a:r>
                        <a:rPr sz="1575" b="1">
                          <a:solidFill>
                            <a:srgbClr val="28C7F7"/>
                          </a:solidFill>
                          <a:latin typeface="Arial"/>
                          <a:ea typeface="Arial"/>
                          <a:cs typeface="Arial"/>
                        </a:rPr>
                        <a:t>2026²</a:t>
                      </a:r>
                    </a:p>
                  </a:txBody>
                  <a:tcPr marL="91440" marR="91440" marT="45720" marB="45720" anchor="ctr">
                    <a:solidFill>
                      <a:srgbClr val="1A2734"/>
                    </a:solidFill>
                  </a:tcPr>
                </a:tc>
              </a:tr>
              <a:tr h="314325">
                <a:tc>
                  <a:txBody>
                    <a:bodyPr lIns="171450" tIns="19050" rIns="171450" bIns="19050">
                      <a:noAutofit/>
                    </a:bodyPr>
                    <a:lstStyle/>
                    <a:p>
                      <a:r>
                        <a:rPr sz="1500" b="1">
                          <a:solidFill>
                            <a:srgbClr val="F4F7FA"/>
                          </a:solidFill>
                          <a:latin typeface="Arial"/>
                          <a:ea typeface="Arial"/>
                          <a:cs typeface="Arial"/>
                        </a:rPr>
                        <a:t>Moved code</a:t>
                      </a:r>
                    </a:p>
                  </a:txBody>
                  <a:tcPr marL="91440" marR="91440" marT="45720" marB="45720" anchor="ctr">
                    <a:solidFill>
                      <a:srgbClr val="0B0F14"/>
                    </a:solidFill>
                  </a:tcPr>
                </a:tc>
                <a:tc>
                  <a:txBody>
                    <a:bodyPr lIns="171450" tIns="19050" rIns="171450" bIns="19050">
                      <a:noAutofit/>
                    </a:bodyPr>
                    <a:lstStyle/>
                    <a:p>
                      <a:r>
                        <a:rPr sz="1500" b="0">
                          <a:solidFill>
                            <a:srgbClr val="F4F7FA"/>
                          </a:solidFill>
                          <a:latin typeface="Arial"/>
                          <a:ea typeface="Arial"/>
                          <a:cs typeface="Arial"/>
                        </a:rPr>
                        <a:t>24.65%</a:t>
                      </a:r>
                    </a:p>
                  </a:txBody>
                  <a:tcPr marL="91440" marR="91440" marT="45720" marB="45720" anchor="ctr">
                    <a:solidFill>
                      <a:srgbClr val="0B0F14"/>
                    </a:solidFill>
                  </a:tcPr>
                </a:tc>
                <a:tc>
                  <a:txBody>
                    <a:bodyPr lIns="171450" tIns="19050" rIns="171450" bIns="19050">
                      <a:noAutofit/>
                    </a:bodyPr>
                    <a:lstStyle/>
                    <a:p>
                      <a:r>
                        <a:rPr sz="1500" b="0">
                          <a:solidFill>
                            <a:srgbClr val="28C7F7"/>
                          </a:solidFill>
                          <a:latin typeface="Arial"/>
                          <a:ea typeface="Arial"/>
                          <a:cs typeface="Arial"/>
                        </a:rPr>
                        <a:t>3.8% YTD</a:t>
                      </a:r>
                    </a:p>
                  </a:txBody>
                  <a:tcPr marL="91440" marR="91440" marT="45720" marB="45720" anchor="ctr">
                    <a:solidFill>
                      <a:srgbClr val="0B0F14"/>
                    </a:solidFill>
                  </a:tcPr>
                </a:tc>
              </a:tr>
              <a:tr h="314325">
                <a:tc>
                  <a:txBody>
                    <a:bodyPr lIns="171450" tIns="19050" rIns="171450" bIns="19050">
                      <a:noAutofit/>
                    </a:bodyPr>
                    <a:lstStyle/>
                    <a:p>
                      <a:r>
                        <a:rPr sz="1500" b="1">
                          <a:solidFill>
                            <a:srgbClr val="F4F7FA"/>
                          </a:solidFill>
                          <a:latin typeface="Arial"/>
                          <a:ea typeface="Arial"/>
                          <a:cs typeface="Arial"/>
                        </a:rPr>
                        <a:t>Copy/paste</a:t>
                      </a:r>
                    </a:p>
                  </a:txBody>
                  <a:tcPr marL="91440" marR="91440" marT="45720" marB="45720" anchor="ctr">
                    <a:solidFill>
                      <a:srgbClr val="0B0F14"/>
                    </a:solidFill>
                  </a:tcPr>
                </a:tc>
                <a:tc>
                  <a:txBody>
                    <a:bodyPr lIns="171450" tIns="19050" rIns="171450" bIns="19050">
                      <a:noAutofit/>
                    </a:bodyPr>
                    <a:lstStyle/>
                    <a:p>
                      <a:r>
                        <a:rPr sz="1500" b="0">
                          <a:solidFill>
                            <a:srgbClr val="F4F7FA"/>
                          </a:solidFill>
                          <a:latin typeface="Arial"/>
                          <a:ea typeface="Arial"/>
                          <a:cs typeface="Arial"/>
                        </a:rPr>
                        <a:t>8.66%</a:t>
                      </a:r>
                    </a:p>
                  </a:txBody>
                  <a:tcPr marL="91440" marR="91440" marT="45720" marB="45720" anchor="ctr">
                    <a:solidFill>
                      <a:srgbClr val="0B0F14"/>
                    </a:solidFill>
                  </a:tcPr>
                </a:tc>
                <a:tc>
                  <a:txBody>
                    <a:bodyPr lIns="171450" tIns="19050" rIns="171450" bIns="19050">
                      <a:noAutofit/>
                    </a:bodyPr>
                    <a:lstStyle/>
                    <a:p>
                      <a:r>
                        <a:rPr sz="1500" b="0">
                          <a:solidFill>
                            <a:srgbClr val="28C7F7"/>
                          </a:solidFill>
                          <a:latin typeface="Arial"/>
                          <a:ea typeface="Arial"/>
                          <a:cs typeface="Arial"/>
                        </a:rPr>
                        <a:t>15.7% H1</a:t>
                      </a:r>
                    </a:p>
                  </a:txBody>
                  <a:tcPr marL="91440" marR="91440" marT="45720" marB="45720" anchor="ctr">
                    <a:solidFill>
                      <a:srgbClr val="0B0F14"/>
                    </a:solidFill>
                  </a:tcPr>
                </a:tc>
              </a:tr>
            </a:tbl>
          </a:graphicData>
        </a:graphic>
      </p:graphicFrame>
      <p:sp>
        <p:nvSpPr>
          <p:cNvPr id="29" name="">
            <a:extLst xmlns:a="http://schemas.openxmlformats.org/drawingml/2006/main">
              <a:ext uri="{FF2B5EF4-FFF2-40B4-BE49-F238E27FC236}">
                <a16:creationId xmlns:a16="http://schemas.microsoft.com/office/drawing/2014/main" id="{F5EE1500-4B5C-47EF-9403-A10EB3027CEE}"/>
              </a:ext>
            </a:extLst>
          </p:cNvPr>
          <p:cNvSpPr>
            <a:spLocks xmlns:a="http://schemas.openxmlformats.org/drawingml/2006/main" noGrp="1"/>
          </p:cNvSpPr>
          <p:nvPr/>
        </p:nvSpPr>
        <p:spPr>
          <a:xfrm xmlns:a="http://schemas.openxmlformats.org/drawingml/2006/main">
            <a:off x="5867400" y="487680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¹2025 report  ²2026 report; different samples.</a:t>
            </a:r>
          </a:p>
        </p:txBody>
      </p:sp>
      <p:sp>
        <p:nvSpPr>
          <p:cNvPr id="30" name="">
            <a:extLst xmlns:a="http://schemas.openxmlformats.org/drawingml/2006/main">
              <a:ext uri="{FF2B5EF4-FFF2-40B4-BE49-F238E27FC236}">
                <a16:creationId xmlns:a16="http://schemas.microsoft.com/office/drawing/2014/main" id="{9264C81D-09AD-41EB-8F63-028A526DCC76}"/>
              </a:ext>
            </a:extLst>
          </p:cNvPr>
          <p:cNvSpPr>
            <a:spLocks xmlns:a="http://schemas.openxmlformats.org/drawingml/2006/main" noGrp="1"/>
          </p:cNvSpPr>
          <p:nvPr/>
        </p:nvSpPr>
        <p:spPr>
          <a:xfrm xmlns:a="http://schemas.openxmlformats.org/drawingml/2006/main">
            <a:off x="5867400" y="51244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F5B61C"/>
                </a:solidFill>
                <a:latin typeface="Arial"/>
                <a:ea typeface="Arial"/>
                <a:cs typeface="Arial"/>
              </a:defRPr>
            </a:pPr>
            <a:r>
              <a:rPr sz="1350" b="0">
                <a:solidFill>
                  <a:srgbClr val="F5B61C"/>
                </a:solidFill>
                <a:latin typeface="Arial"/>
                <a:ea typeface="Arial"/>
                <a:cs typeface="Arial"/>
              </a:rPr>
              <a:t>Snapshots only; no comparable trend or causal estimate.</a:t>
            </a:r>
          </a:p>
        </p:txBody>
      </p:sp>
      <p:sp>
        <p:nvSpPr>
          <p:cNvPr id="31" name="">
            <a:extLst xmlns:a="http://schemas.openxmlformats.org/drawingml/2006/main">
              <a:ext uri="{FF2B5EF4-FFF2-40B4-BE49-F238E27FC236}">
                <a16:creationId xmlns:a16="http://schemas.microsoft.com/office/drawing/2014/main" id="{E09859F7-8260-4235-9991-22F870BDFBFC}"/>
              </a:ext>
            </a:extLst>
          </p:cNvPr>
          <p:cNvSpPr>
            <a:spLocks xmlns:a="http://schemas.openxmlformats.org/drawingml/2006/main" noGrp="1"/>
          </p:cNvSpPr>
          <p:nvPr/>
        </p:nvSpPr>
        <p:spPr>
          <a:xfrm xmlns:a="http://schemas.openxmlformats.org/drawingml/2006/main" flipH="0" flipV="0">
            <a:off x="609600" y="5495925"/>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2" name="">
            <a:extLst xmlns:a="http://schemas.openxmlformats.org/drawingml/2006/main">
              <a:ext uri="{FF2B5EF4-FFF2-40B4-BE49-F238E27FC236}">
                <a16:creationId xmlns:a16="http://schemas.microsoft.com/office/drawing/2014/main" id="{BCE50901-83C2-4EBD-8494-C75681CFBED9}"/>
              </a:ext>
            </a:extLst>
          </p:cNvPr>
          <p:cNvSpPr>
            <a:spLocks xmlns:a="http://schemas.openxmlformats.org/drawingml/2006/main" noGrp="1"/>
          </p:cNvSpPr>
          <p:nvPr/>
        </p:nvSpPr>
        <p:spPr>
          <a:xfrm xmlns:a="http://schemas.openxmlformats.org/drawingml/2006/main">
            <a:off x="609600" y="5581650"/>
            <a:ext cx="5257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METR · MAY 2026 · n = 349</a:t>
            </a:r>
          </a:p>
        </p:txBody>
      </p:sp>
      <p:sp>
        <p:nvSpPr>
          <p:cNvPr id="33" name="">
            <a:extLst xmlns:a="http://schemas.openxmlformats.org/drawingml/2006/main">
              <a:ext uri="{FF2B5EF4-FFF2-40B4-BE49-F238E27FC236}">
                <a16:creationId xmlns:a16="http://schemas.microsoft.com/office/drawing/2014/main" id="{FD80D0FA-7B21-437C-937C-565229B22D0C}"/>
              </a:ext>
            </a:extLst>
          </p:cNvPr>
          <p:cNvSpPr>
            <a:spLocks xmlns:a="http://schemas.openxmlformats.org/drawingml/2006/main" noGrp="1"/>
          </p:cNvSpPr>
          <p:nvPr/>
        </p:nvSpPr>
        <p:spPr>
          <a:xfrm xmlns:a="http://schemas.openxmlformats.org/drawingml/2006/main">
            <a:off x="609600" y="5895975"/>
            <a:ext cx="525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4F7FA"/>
                </a:solidFill>
                <a:latin typeface="Arial"/>
                <a:ea typeface="Arial"/>
                <a:cs typeface="Arial"/>
              </a:defRPr>
            </a:pPr>
            <a:r>
              <a:rPr sz="1725" b="1">
                <a:solidFill>
                  <a:srgbClr val="F4F7FA"/>
                </a:solidFill>
                <a:latin typeface="Arial"/>
                <a:ea typeface="Arial"/>
                <a:cs typeface="Arial"/>
              </a:rPr>
              <a:t>1.4–2× self-reported work value</a:t>
            </a:r>
          </a:p>
        </p:txBody>
      </p:sp>
      <p:sp>
        <p:nvSpPr>
          <p:cNvPr id="34" name="">
            <a:extLst xmlns:a="http://schemas.openxmlformats.org/drawingml/2006/main">
              <a:ext uri="{FF2B5EF4-FFF2-40B4-BE49-F238E27FC236}">
                <a16:creationId xmlns:a16="http://schemas.microsoft.com/office/drawing/2014/main" id="{3F967FAA-FEF0-4A45-B788-99A409A98171}"/>
              </a:ext>
            </a:extLst>
          </p:cNvPr>
          <p:cNvSpPr>
            <a:spLocks xmlns:a="http://schemas.openxmlformats.org/drawingml/2006/main" noGrp="1"/>
          </p:cNvSpPr>
          <p:nvPr/>
        </p:nvSpPr>
        <p:spPr>
          <a:xfrm xmlns:a="http://schemas.openxmlformats.org/drawingml/2006/main">
            <a:off x="609600" y="6191250"/>
            <a:ext cx="525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Medians across three questions.</a:t>
            </a:r>
          </a:p>
        </p:txBody>
      </p:sp>
      <p:sp>
        <p:nvSpPr>
          <p:cNvPr id="35" name="">
            <a:extLst xmlns:a="http://schemas.openxmlformats.org/drawingml/2006/main">
              <a:ext uri="{FF2B5EF4-FFF2-40B4-BE49-F238E27FC236}">
                <a16:creationId xmlns:a16="http://schemas.microsoft.com/office/drawing/2014/main" id="{AFCEA862-9C53-4900-A1B9-7FE9748E37BD}"/>
              </a:ext>
            </a:extLst>
          </p:cNvPr>
          <p:cNvSpPr>
            <a:spLocks xmlns:a="http://schemas.openxmlformats.org/drawingml/2006/main" noGrp="1"/>
          </p:cNvSpPr>
          <p:nvPr/>
        </p:nvSpPr>
        <p:spPr>
          <a:xfrm xmlns:a="http://schemas.openxmlformats.org/drawingml/2006/main">
            <a:off x="609600" y="6448425"/>
            <a:ext cx="525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Technical workers; no causal estimate.</a:t>
            </a:r>
          </a:p>
        </p:txBody>
      </p:sp>
      <p:sp>
        <p:nvSpPr>
          <p:cNvPr id="36" name="">
            <a:extLst xmlns:a="http://schemas.openxmlformats.org/drawingml/2006/main">
              <a:ext uri="{FF2B5EF4-FFF2-40B4-BE49-F238E27FC236}">
                <a16:creationId xmlns:a16="http://schemas.microsoft.com/office/drawing/2014/main" id="{E3FF626B-6639-4197-BF52-5594AFDC817B}"/>
              </a:ext>
            </a:extLst>
          </p:cNvPr>
          <p:cNvSpPr>
            <a:spLocks xmlns:a="http://schemas.openxmlformats.org/drawingml/2006/main" noGrp="1"/>
          </p:cNvSpPr>
          <p:nvPr/>
        </p:nvSpPr>
        <p:spPr>
          <a:xfrm xmlns:a="http://schemas.openxmlformats.org/drawingml/2006/main">
            <a:off x="6153150" y="5581650"/>
            <a:ext cx="5257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AGARWAL · JAN 2026 · 1,197 REPOS</a:t>
            </a:r>
          </a:p>
        </p:txBody>
      </p:sp>
      <p:sp>
        <p:nvSpPr>
          <p:cNvPr id="37" name="">
            <a:extLst xmlns:a="http://schemas.openxmlformats.org/drawingml/2006/main">
              <a:ext uri="{FF2B5EF4-FFF2-40B4-BE49-F238E27FC236}">
                <a16:creationId xmlns:a16="http://schemas.microsoft.com/office/drawing/2014/main" id="{E84F1321-0644-4FB3-A496-E028A6862104}"/>
              </a:ext>
            </a:extLst>
          </p:cNvPr>
          <p:cNvSpPr>
            <a:spLocks xmlns:a="http://schemas.openxmlformats.org/drawingml/2006/main" noGrp="1"/>
          </p:cNvSpPr>
          <p:nvPr/>
        </p:nvSpPr>
        <p:spPr>
          <a:xfrm xmlns:a="http://schemas.openxmlformats.org/drawingml/2006/main">
            <a:off x="6153150" y="5895975"/>
            <a:ext cx="525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Cognitive complexity after agent adoption</a:t>
            </a:r>
          </a:p>
        </p:txBody>
      </p:sp>
      <p:sp>
        <p:nvSpPr>
          <p:cNvPr id="38" name="">
            <a:extLst xmlns:a="http://schemas.openxmlformats.org/drawingml/2006/main">
              <a:ext uri="{FF2B5EF4-FFF2-40B4-BE49-F238E27FC236}">
                <a16:creationId xmlns:a16="http://schemas.microsoft.com/office/drawing/2014/main" id="{1EBA12CE-7F34-43C6-8A11-9FB2DF554E79}"/>
              </a:ext>
            </a:extLst>
          </p:cNvPr>
          <p:cNvSpPr>
            <a:spLocks xmlns:a="http://schemas.openxmlformats.org/drawingml/2006/main" noGrp="1"/>
          </p:cNvSpPr>
          <p:nvPr/>
        </p:nvSpPr>
        <p:spPr>
          <a:xfrm xmlns:a="http://schemas.openxmlformats.org/drawingml/2006/main">
            <a:off x="6153150" y="6191250"/>
            <a:ext cx="525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F4F7FA"/>
                </a:solidFill>
                <a:latin typeface="Arial"/>
                <a:ea typeface="Arial"/>
                <a:cs typeface="Arial"/>
              </a:defRPr>
            </a:pPr>
            <a:r>
              <a:rPr sz="1425" b="0">
                <a:solidFill>
                  <a:srgbClr val="F4F7FA"/>
                </a:solidFill>
                <a:latin typeface="Arial"/>
                <a:ea typeface="Arial"/>
                <a:cs typeface="Arial"/>
              </a:rPr>
              <a:t>Agent-first +34.85% · Prior AI-IDE +42.87%</a:t>
            </a:r>
          </a:p>
        </p:txBody>
      </p:sp>
      <p:sp>
        <p:nvSpPr>
          <p:cNvPr id="39" name="">
            <a:extLst xmlns:a="http://schemas.openxmlformats.org/drawingml/2006/main">
              <a:ext uri="{FF2B5EF4-FFF2-40B4-BE49-F238E27FC236}">
                <a16:creationId xmlns:a16="http://schemas.microsoft.com/office/drawing/2014/main" id="{A60D3B73-1608-471A-B06F-8B7B51175D45}"/>
              </a:ext>
            </a:extLst>
          </p:cNvPr>
          <p:cNvSpPr>
            <a:spLocks xmlns:a="http://schemas.openxmlformats.org/drawingml/2006/main" noGrp="1"/>
          </p:cNvSpPr>
          <p:nvPr/>
        </p:nvSpPr>
        <p:spPr>
          <a:xfrm xmlns:a="http://schemas.openxmlformats.org/drawingml/2006/main">
            <a:off x="6153150" y="6448425"/>
            <a:ext cx="525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Matched controls; 19,236 repo-months.</a:t>
            </a:r>
          </a:p>
        </p:txBody>
      </p:sp>
    </p:spTree>
    <p:extLst>
      <p:ext uri="{BB962C8B-B14F-4D97-AF65-F5344CB8AC3E}">
        <p14:creationId xmlns:p14="http://schemas.microsoft.com/office/powerpoint/2010/main" val="382677822"/>
      </p:ext>
    </p:extLst>
  </p:cSld>
</p:sld>
</file>

<file path=ppt/slides/slide4.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0F61564-7EC1-48B1-B159-6BACB6611A38}"/>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The New Scarcity Is Human Comprehension</a:t>
            </a:r>
          </a:p>
        </p:txBody>
      </p:sp>
      <p:sp>
        <p:nvSpPr>
          <p:cNvPr id="2" name="">
            <a:extLst xmlns:a="http://schemas.openxmlformats.org/drawingml/2006/main">
              <a:ext uri="{FF2B5EF4-FFF2-40B4-BE49-F238E27FC236}">
                <a16:creationId xmlns:a16="http://schemas.microsoft.com/office/drawing/2014/main" id="{3BDD678B-3C22-4322-8383-45EA4270DE8D}"/>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6FF9C4C5-E915-430D-9401-EBF6976EB629}"/>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0D0C3C3A-CC8D-4C98-BF13-7C70C48E229C}"/>
              </a:ext>
            </a:extLst>
          </p:cNvPr>
          <p:cNvSpPr>
            <a:spLocks xmlns:a="http://schemas.openxmlformats.org/drawingml/2006/main" noGrp="1"/>
          </p:cNvSpPr>
          <p:nvPr/>
        </p:nvSpPr>
        <p:spPr>
          <a:xfrm xmlns:a="http://schemas.openxmlformats.org/drawingml/2006/main" flipH="0" flipV="0">
            <a:off x="838200" y="4695825"/>
            <a:ext cx="66865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5" name="">
            <a:extLst xmlns:a="http://schemas.openxmlformats.org/drawingml/2006/main">
              <a:ext uri="{FF2B5EF4-FFF2-40B4-BE49-F238E27FC236}">
                <a16:creationId xmlns:a16="http://schemas.microsoft.com/office/drawing/2014/main" id="{991D6D29-2A47-4B87-81AE-5098D8F68A8C}"/>
              </a:ext>
            </a:extLst>
          </p:cNvPr>
          <p:cNvSpPr>
            <a:spLocks xmlns:a="http://schemas.openxmlformats.org/drawingml/2006/main" noGrp="1"/>
          </p:cNvSpPr>
          <p:nvPr/>
        </p:nvSpPr>
        <p:spPr>
          <a:xfrm xmlns:a="http://schemas.openxmlformats.org/drawingml/2006/main" flipH="0" flipV="1">
            <a:off x="838200" y="2171700"/>
            <a:ext cx="0" cy="2524125"/>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6" name="">
            <a:extLst xmlns:a="http://schemas.openxmlformats.org/drawingml/2006/main">
              <a:ext uri="{FF2B5EF4-FFF2-40B4-BE49-F238E27FC236}">
                <a16:creationId xmlns:a16="http://schemas.microsoft.com/office/drawing/2014/main" id="{F6F4BC3C-187B-4B5A-871D-B2331E2232C8}"/>
              </a:ext>
            </a:extLst>
          </p:cNvPr>
          <p:cNvSpPr>
            <a:spLocks xmlns:a="http://schemas.openxmlformats.org/drawingml/2006/main" noGrp="1"/>
          </p:cNvSpPr>
          <p:nvPr/>
        </p:nvSpPr>
        <p:spPr>
          <a:xfrm xmlns:a="http://schemas.openxmlformats.org/drawingml/2006/main">
            <a:off x="952500" y="2238375"/>
            <a:ext cx="6143625" cy="2190750"/>
          </a:xfrm>
          <a:custGeom xmlns:a="http://schemas.openxmlformats.org/drawingml/2006/main">
            <a:pathLst>
              <a:path w="6143625" h="2190750">
                <a:moveTo>
                  <a:pt x="0" y="2190750"/>
                </a:moveTo>
                <a:lnTo>
                  <a:pt x="51197" y="2187339"/>
                </a:lnTo>
                <a:lnTo>
                  <a:pt x="102394" y="2183679"/>
                </a:lnTo>
                <a:lnTo>
                  <a:pt x="153591" y="2179769"/>
                </a:lnTo>
                <a:lnTo>
                  <a:pt x="204788" y="2175609"/>
                </a:lnTo>
                <a:lnTo>
                  <a:pt x="255984" y="2171201"/>
                </a:lnTo>
                <a:lnTo>
                  <a:pt x="307181" y="2166542"/>
                </a:lnTo>
                <a:lnTo>
                  <a:pt x="358378" y="2161634"/>
                </a:lnTo>
                <a:lnTo>
                  <a:pt x="409575" y="2156477"/>
                </a:lnTo>
                <a:lnTo>
                  <a:pt x="460772" y="2151070"/>
                </a:lnTo>
                <a:lnTo>
                  <a:pt x="511969" y="2145414"/>
                </a:lnTo>
                <a:lnTo>
                  <a:pt x="563166" y="2139508"/>
                </a:lnTo>
                <a:lnTo>
                  <a:pt x="614363" y="2133352"/>
                </a:lnTo>
                <a:lnTo>
                  <a:pt x="665559" y="2126947"/>
                </a:lnTo>
                <a:lnTo>
                  <a:pt x="716756" y="2120293"/>
                </a:lnTo>
                <a:lnTo>
                  <a:pt x="767953" y="2113389"/>
                </a:lnTo>
                <a:lnTo>
                  <a:pt x="819150" y="2106236"/>
                </a:lnTo>
                <a:lnTo>
                  <a:pt x="870347" y="2098833"/>
                </a:lnTo>
                <a:lnTo>
                  <a:pt x="921544" y="2091180"/>
                </a:lnTo>
                <a:lnTo>
                  <a:pt x="972741" y="2083278"/>
                </a:lnTo>
                <a:lnTo>
                  <a:pt x="1023938" y="2075127"/>
                </a:lnTo>
                <a:lnTo>
                  <a:pt x="1075134" y="2066726"/>
                </a:lnTo>
                <a:lnTo>
                  <a:pt x="1126331" y="2058076"/>
                </a:lnTo>
                <a:lnTo>
                  <a:pt x="1177528" y="2049176"/>
                </a:lnTo>
                <a:lnTo>
                  <a:pt x="1228725" y="2040026"/>
                </a:lnTo>
                <a:lnTo>
                  <a:pt x="1279922" y="2030627"/>
                </a:lnTo>
                <a:lnTo>
                  <a:pt x="1331119" y="2020979"/>
                </a:lnTo>
                <a:lnTo>
                  <a:pt x="1382316" y="2011081"/>
                </a:lnTo>
                <a:lnTo>
                  <a:pt x="1433513" y="2000934"/>
                </a:lnTo>
                <a:lnTo>
                  <a:pt x="1484709" y="1990537"/>
                </a:lnTo>
                <a:lnTo>
                  <a:pt x="1535906" y="1979890"/>
                </a:lnTo>
                <a:lnTo>
                  <a:pt x="1587103" y="1968994"/>
                </a:lnTo>
                <a:lnTo>
                  <a:pt x="1638300" y="1957849"/>
                </a:lnTo>
                <a:lnTo>
                  <a:pt x="1689497" y="1946454"/>
                </a:lnTo>
                <a:lnTo>
                  <a:pt x="1740694" y="1934810"/>
                </a:lnTo>
                <a:lnTo>
                  <a:pt x="1791891" y="1922916"/>
                </a:lnTo>
                <a:lnTo>
                  <a:pt x="1843088" y="1910772"/>
                </a:lnTo>
                <a:lnTo>
                  <a:pt x="1894284" y="1898379"/>
                </a:lnTo>
                <a:lnTo>
                  <a:pt x="1945481" y="1885737"/>
                </a:lnTo>
                <a:lnTo>
                  <a:pt x="1996678" y="1872845"/>
                </a:lnTo>
                <a:lnTo>
                  <a:pt x="2047875" y="1859703"/>
                </a:lnTo>
                <a:lnTo>
                  <a:pt x="2099072" y="1846312"/>
                </a:lnTo>
                <a:lnTo>
                  <a:pt x="2150269" y="1832672"/>
                </a:lnTo>
                <a:lnTo>
                  <a:pt x="2201466" y="1818782"/>
                </a:lnTo>
                <a:lnTo>
                  <a:pt x="2252662" y="1804642"/>
                </a:lnTo>
                <a:lnTo>
                  <a:pt x="2303859" y="1790254"/>
                </a:lnTo>
                <a:lnTo>
                  <a:pt x="2355056" y="1775615"/>
                </a:lnTo>
                <a:lnTo>
                  <a:pt x="2406253" y="1760727"/>
                </a:lnTo>
                <a:lnTo>
                  <a:pt x="2457450" y="1745590"/>
                </a:lnTo>
                <a:lnTo>
                  <a:pt x="2508647" y="1730203"/>
                </a:lnTo>
                <a:lnTo>
                  <a:pt x="2559844" y="1714566"/>
                </a:lnTo>
                <a:lnTo>
                  <a:pt x="2611041" y="1698680"/>
                </a:lnTo>
                <a:lnTo>
                  <a:pt x="2662238" y="1682545"/>
                </a:lnTo>
                <a:lnTo>
                  <a:pt x="2713434" y="1666160"/>
                </a:lnTo>
                <a:lnTo>
                  <a:pt x="2764631" y="1649525"/>
                </a:lnTo>
                <a:lnTo>
                  <a:pt x="2815828" y="1632641"/>
                </a:lnTo>
                <a:lnTo>
                  <a:pt x="2867025" y="1615508"/>
                </a:lnTo>
                <a:lnTo>
                  <a:pt x="2918222" y="1598125"/>
                </a:lnTo>
                <a:lnTo>
                  <a:pt x="2969419" y="1580492"/>
                </a:lnTo>
                <a:lnTo>
                  <a:pt x="3020616" y="1562610"/>
                </a:lnTo>
                <a:lnTo>
                  <a:pt x="3071813" y="1544479"/>
                </a:lnTo>
                <a:lnTo>
                  <a:pt x="3123009" y="1526098"/>
                </a:lnTo>
                <a:lnTo>
                  <a:pt x="3174206" y="1507467"/>
                </a:lnTo>
                <a:lnTo>
                  <a:pt x="3225403" y="1488587"/>
                </a:lnTo>
                <a:lnTo>
                  <a:pt x="3276600" y="1469458"/>
                </a:lnTo>
                <a:lnTo>
                  <a:pt x="3327797" y="1450079"/>
                </a:lnTo>
                <a:lnTo>
                  <a:pt x="3378994" y="1430450"/>
                </a:lnTo>
                <a:lnTo>
                  <a:pt x="3430191" y="1410572"/>
                </a:lnTo>
                <a:lnTo>
                  <a:pt x="3481388" y="1390445"/>
                </a:lnTo>
                <a:lnTo>
                  <a:pt x="3532584" y="1370068"/>
                </a:lnTo>
                <a:lnTo>
                  <a:pt x="3583781" y="1349441"/>
                </a:lnTo>
                <a:lnTo>
                  <a:pt x="3634978" y="1328565"/>
                </a:lnTo>
                <a:lnTo>
                  <a:pt x="3686175" y="1307440"/>
                </a:lnTo>
                <a:lnTo>
                  <a:pt x="3737372" y="1286065"/>
                </a:lnTo>
                <a:lnTo>
                  <a:pt x="3788569" y="1264440"/>
                </a:lnTo>
                <a:lnTo>
                  <a:pt x="3839766" y="1242566"/>
                </a:lnTo>
                <a:lnTo>
                  <a:pt x="3890963" y="1220442"/>
                </a:lnTo>
                <a:lnTo>
                  <a:pt x="3942159" y="1198069"/>
                </a:lnTo>
                <a:lnTo>
                  <a:pt x="3993356" y="1175447"/>
                </a:lnTo>
                <a:lnTo>
                  <a:pt x="4044553" y="1152575"/>
                </a:lnTo>
                <a:lnTo>
                  <a:pt x="4095750" y="1129453"/>
                </a:lnTo>
                <a:lnTo>
                  <a:pt x="4146947" y="1106082"/>
                </a:lnTo>
                <a:lnTo>
                  <a:pt x="4198144" y="1082462"/>
                </a:lnTo>
                <a:lnTo>
                  <a:pt x="4249341" y="1058592"/>
                </a:lnTo>
                <a:lnTo>
                  <a:pt x="4300537" y="1034472"/>
                </a:lnTo>
                <a:lnTo>
                  <a:pt x="4351734" y="1010103"/>
                </a:lnTo>
                <a:lnTo>
                  <a:pt x="4402931" y="985485"/>
                </a:lnTo>
                <a:lnTo>
                  <a:pt x="4454128" y="960616"/>
                </a:lnTo>
                <a:lnTo>
                  <a:pt x="4505325" y="935499"/>
                </a:lnTo>
                <a:lnTo>
                  <a:pt x="4556522" y="910132"/>
                </a:lnTo>
                <a:lnTo>
                  <a:pt x="4607719" y="884515"/>
                </a:lnTo>
                <a:lnTo>
                  <a:pt x="4658916" y="858649"/>
                </a:lnTo>
                <a:lnTo>
                  <a:pt x="4710113" y="832534"/>
                </a:lnTo>
                <a:lnTo>
                  <a:pt x="4761309" y="806169"/>
                </a:lnTo>
                <a:lnTo>
                  <a:pt x="4812506" y="779554"/>
                </a:lnTo>
                <a:lnTo>
                  <a:pt x="4863703" y="752690"/>
                </a:lnTo>
                <a:lnTo>
                  <a:pt x="4914900" y="725576"/>
                </a:lnTo>
                <a:lnTo>
                  <a:pt x="4966097" y="698213"/>
                </a:lnTo>
                <a:lnTo>
                  <a:pt x="5017294" y="670601"/>
                </a:lnTo>
                <a:lnTo>
                  <a:pt x="5068491" y="642739"/>
                </a:lnTo>
                <a:lnTo>
                  <a:pt x="5119688" y="614627"/>
                </a:lnTo>
                <a:lnTo>
                  <a:pt x="5170884" y="586266"/>
                </a:lnTo>
                <a:lnTo>
                  <a:pt x="5222081" y="557655"/>
                </a:lnTo>
                <a:lnTo>
                  <a:pt x="5273278" y="528795"/>
                </a:lnTo>
                <a:lnTo>
                  <a:pt x="5324475" y="499686"/>
                </a:lnTo>
                <a:lnTo>
                  <a:pt x="5375672" y="470327"/>
                </a:lnTo>
                <a:lnTo>
                  <a:pt x="5426869" y="440718"/>
                </a:lnTo>
                <a:lnTo>
                  <a:pt x="5478066" y="410860"/>
                </a:lnTo>
                <a:lnTo>
                  <a:pt x="5529263" y="380752"/>
                </a:lnTo>
                <a:lnTo>
                  <a:pt x="5580459" y="350395"/>
                </a:lnTo>
                <a:lnTo>
                  <a:pt x="5631656" y="319789"/>
                </a:lnTo>
                <a:lnTo>
                  <a:pt x="5682853" y="288933"/>
                </a:lnTo>
                <a:lnTo>
                  <a:pt x="5734050" y="257827"/>
                </a:lnTo>
                <a:lnTo>
                  <a:pt x="5785247" y="226472"/>
                </a:lnTo>
                <a:lnTo>
                  <a:pt x="5836444" y="194867"/>
                </a:lnTo>
                <a:lnTo>
                  <a:pt x="5887641" y="163013"/>
                </a:lnTo>
                <a:lnTo>
                  <a:pt x="5938838" y="130909"/>
                </a:lnTo>
                <a:lnTo>
                  <a:pt x="5990034" y="98556"/>
                </a:lnTo>
                <a:lnTo>
                  <a:pt x="6041231" y="65954"/>
                </a:lnTo>
                <a:lnTo>
                  <a:pt x="6092428" y="33102"/>
                </a:lnTo>
                <a:lnTo>
                  <a:pt x="6143625" y="0"/>
                </a:lnTo>
              </a:path>
            </a:pathLst>
          </a:custGeom>
          <a:noFill xmlns:a="http://schemas.openxmlformats.org/drawingml/2006/main"/>
          <a:ln xmlns:a="http://schemas.openxmlformats.org/drawingml/2006/main" w="38100">
            <a:solidFill>
              <a:srgbClr val="28C7F7"/>
            </a:solidFill>
            <a:prstDash val="solid"/>
          </a:ln>
        </p:spPr>
      </p:sp>
      <p:sp>
        <p:nvSpPr>
          <p:cNvPr id="7" name="">
            <a:extLst xmlns:a="http://schemas.openxmlformats.org/drawingml/2006/main">
              <a:ext uri="{FF2B5EF4-FFF2-40B4-BE49-F238E27FC236}">
                <a16:creationId xmlns:a16="http://schemas.microsoft.com/office/drawing/2014/main" id="{8730F7C4-4241-44EE-84AF-1CE2D9FD8C11}"/>
              </a:ext>
            </a:extLst>
          </p:cNvPr>
          <p:cNvSpPr>
            <a:spLocks xmlns:a="http://schemas.openxmlformats.org/drawingml/2006/main" noGrp="1"/>
          </p:cNvSpPr>
          <p:nvPr/>
        </p:nvSpPr>
        <p:spPr>
          <a:xfrm xmlns:a="http://schemas.openxmlformats.org/drawingml/2006/main" flipH="0" flipV="0">
            <a:off x="952500" y="4429125"/>
            <a:ext cx="6143625" cy="0"/>
          </a:xfrm>
          <a:prstGeom xmlns:a="http://schemas.openxmlformats.org/drawingml/2006/main" prst="line">
            <a:avLst/>
          </a:prstGeom>
          <a:noFill xmlns:a="http://schemas.openxmlformats.org/drawingml/2006/main"/>
          <a:ln xmlns:a="http://schemas.openxmlformats.org/drawingml/2006/main" w="38100">
            <a:solidFill>
              <a:srgbClr val="F5B61C"/>
            </a:solidFill>
            <a:prstDash val="solid"/>
          </a:ln>
        </p:spPr>
      </p:sp>
      <p:sp>
        <p:nvSpPr>
          <p:cNvPr id="8" name="">
            <a:extLst xmlns:a="http://schemas.openxmlformats.org/drawingml/2006/main">
              <a:ext uri="{FF2B5EF4-FFF2-40B4-BE49-F238E27FC236}">
                <a16:creationId xmlns:a16="http://schemas.microsoft.com/office/drawing/2014/main" id="{5C96F6D3-6918-4344-9F4A-1A32145868C7}"/>
              </a:ext>
            </a:extLst>
          </p:cNvPr>
          <p:cNvSpPr>
            <a:spLocks xmlns:a="http://schemas.openxmlformats.org/drawingml/2006/main" noGrp="1"/>
          </p:cNvSpPr>
          <p:nvPr/>
        </p:nvSpPr>
        <p:spPr>
          <a:xfrm xmlns:a="http://schemas.openxmlformats.org/drawingml/2006/main">
            <a:off x="1047750" y="18383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28C7F7"/>
                </a:solidFill>
                <a:latin typeface="Arial"/>
                <a:ea typeface="Arial"/>
                <a:cs typeface="Arial"/>
              </a:defRPr>
            </a:pPr>
            <a:r>
              <a:rPr sz="1875" b="1">
                <a:solidFill>
                  <a:srgbClr val="28C7F7"/>
                </a:solidFill>
                <a:latin typeface="Arial"/>
                <a:ea typeface="Arial"/>
                <a:cs typeface="Arial"/>
              </a:rPr>
              <a:t>Machine generation capacity</a:t>
            </a:r>
          </a:p>
        </p:txBody>
      </p:sp>
      <p:sp>
        <p:nvSpPr>
          <p:cNvPr id="9" name="">
            <a:extLst xmlns:a="http://schemas.openxmlformats.org/drawingml/2006/main">
              <a:ext uri="{FF2B5EF4-FFF2-40B4-BE49-F238E27FC236}">
                <a16:creationId xmlns:a16="http://schemas.microsoft.com/office/drawing/2014/main" id="{6529C8D8-2625-4144-82BF-F5D39D5E0843}"/>
              </a:ext>
            </a:extLst>
          </p:cNvPr>
          <p:cNvSpPr>
            <a:spLocks xmlns:a="http://schemas.openxmlformats.org/drawingml/2006/main" noGrp="1"/>
          </p:cNvSpPr>
          <p:nvPr/>
        </p:nvSpPr>
        <p:spPr>
          <a:xfrm xmlns:a="http://schemas.openxmlformats.org/drawingml/2006/main">
            <a:off x="1028700" y="4857750"/>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F5B61C"/>
                </a:solidFill>
                <a:latin typeface="Arial"/>
                <a:ea typeface="Arial"/>
                <a:cs typeface="Arial"/>
              </a:defRPr>
            </a:pPr>
            <a:r>
              <a:rPr sz="1725" b="0">
                <a:solidFill>
                  <a:srgbClr val="F5B61C"/>
                </a:solidFill>
                <a:latin typeface="Arial"/>
                <a:ea typeface="Arial"/>
                <a:cs typeface="Arial"/>
              </a:rPr>
              <a:t>Human comprehension capacity</a:t>
            </a:r>
          </a:p>
        </p:txBody>
      </p:sp>
      <p:sp>
        <p:nvSpPr>
          <p:cNvPr id="10" name="">
            <a:extLst xmlns:a="http://schemas.openxmlformats.org/drawingml/2006/main">
              <a:ext uri="{FF2B5EF4-FFF2-40B4-BE49-F238E27FC236}">
                <a16:creationId xmlns:a16="http://schemas.microsoft.com/office/drawing/2014/main" id="{60F02E5C-C357-4DE1-B9F3-89DD844538C5}"/>
              </a:ext>
            </a:extLst>
          </p:cNvPr>
          <p:cNvSpPr>
            <a:spLocks xmlns:a="http://schemas.openxmlformats.org/drawingml/2006/main" noGrp="1"/>
          </p:cNvSpPr>
          <p:nvPr/>
        </p:nvSpPr>
        <p:spPr>
          <a:xfrm xmlns:a="http://schemas.openxmlformats.org/drawingml/2006/main">
            <a:off x="5000625" y="352425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Potential</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comprehension gap</a:t>
            </a:r>
          </a:p>
        </p:txBody>
      </p:sp>
      <p:sp>
        <p:nvSpPr>
          <p:cNvPr id="11" name="">
            <a:extLst xmlns:a="http://schemas.openxmlformats.org/drawingml/2006/main">
              <a:ext uri="{FF2B5EF4-FFF2-40B4-BE49-F238E27FC236}">
                <a16:creationId xmlns:a16="http://schemas.microsoft.com/office/drawing/2014/main" id="{7185BB0D-B86F-431A-9EE5-4672C31D6F01}"/>
              </a:ext>
            </a:extLst>
          </p:cNvPr>
          <p:cNvSpPr>
            <a:spLocks xmlns:a="http://schemas.openxmlformats.org/drawingml/2006/main" noGrp="1"/>
          </p:cNvSpPr>
          <p:nvPr/>
        </p:nvSpPr>
        <p:spPr>
          <a:xfrm xmlns:a="http://schemas.openxmlformats.org/drawingml/2006/main">
            <a:off x="5572125" y="46958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Adoption / time</a:t>
            </a:r>
          </a:p>
        </p:txBody>
      </p:sp>
      <p:sp>
        <p:nvSpPr>
          <p:cNvPr id="12" name="">
            <a:extLst xmlns:a="http://schemas.openxmlformats.org/drawingml/2006/main">
              <a:ext uri="{FF2B5EF4-FFF2-40B4-BE49-F238E27FC236}">
                <a16:creationId xmlns:a16="http://schemas.microsoft.com/office/drawing/2014/main" id="{688D689A-6FF0-41CE-A459-AE95817EDE68}"/>
              </a:ext>
            </a:extLst>
          </p:cNvPr>
          <p:cNvSpPr>
            <a:spLocks xmlns:a="http://schemas.openxmlformats.org/drawingml/2006/main" noGrp="1"/>
          </p:cNvSpPr>
          <p:nvPr/>
        </p:nvSpPr>
        <p:spPr>
          <a:xfrm xmlns:a="http://schemas.openxmlformats.org/drawingml/2006/main">
            <a:off x="8048549" y="2148840"/>
            <a:ext cx="3524098"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0:p xmlns:ns0="http://schemas.openxmlformats.org/drawingml/2006/main">
            <ns0:pPr algn="l">
              <ns0:defRPr sz="2200" b="0">
                <ns0:solidFill>
                  <ns0:srgbClr val="F4F7FA"/>
                </ns0:solidFill>
                <ns0:latin typeface="Arial"/>
                <ns0:ea typeface="Arial"/>
                <ns0:cs typeface="Arial"/>
              </ns0:defRPr>
            </ns0:pPr>
            <ns0:r>
              <ns0:rPr sz="2200" b="0">
                <ns0:solidFill>
                  <ns0:srgbClr val="F4F7FA"/>
                </ns0:solidFill>
                <ns0:latin typeface="Arial"/>
                <ns0:ea typeface="Arial"/>
                <ns0:cs typeface="Arial"/>
              </ns0:rPr>
              <ns0:t>Can we explain</ns0:t>
            </ns0:r>
          </ns0:p>
          <ns1:p xmlns:ns1="http://schemas.openxmlformats.org/drawingml/2006/main">
            <ns1:pPr algn="l">
              <ns1:defRPr sz="2200" b="0">
                <ns1:solidFill>
                  <ns1:srgbClr val="F4F7FA"/>
                </ns1:solidFill>
                <ns1:latin typeface="Arial"/>
                <ns1:ea typeface="Arial"/>
                <ns1:cs typeface="Arial"/>
              </ns1:defRPr>
            </ns1:pPr>
            <ns1:r>
              <ns1:rPr sz="2200" b="0">
                <ns1:solidFill>
                  <ns1:srgbClr val="F4F7FA"/>
                </ns1:solidFill>
                <ns1:latin typeface="Arial"/>
                <ns1:ea typeface="Arial"/>
                <ns1:cs typeface="Arial"/>
              </ns1:rPr>
              <ns1:t>the change?</ns1:t>
            </ns1:r>
          </ns1:p>
        </p:txBody>
      </p:sp>
      <p:sp>
        <p:nvSpPr>
          <p:cNvPr id="14" name="">
            <a:extLst xmlns:a="http://schemas.openxmlformats.org/drawingml/2006/main">
              <a:ext uri="{FF2B5EF4-FFF2-40B4-BE49-F238E27FC236}">
                <a16:creationId xmlns:a16="http://schemas.microsoft.com/office/drawing/2014/main" id="{E5F9F1C3-202F-4F5F-BD0E-F92712140D3A}"/>
              </a:ext>
            </a:extLst>
          </p:cNvPr>
          <p:cNvSpPr>
            <a:spLocks xmlns:a="http://schemas.openxmlformats.org/drawingml/2006/main" noGrp="1"/>
          </p:cNvSpPr>
          <p:nvPr/>
        </p:nvSpPr>
        <p:spPr>
          <a:xfrm xmlns:a="http://schemas.openxmlformats.org/drawingml/2006/main">
            <a:off x="8048549" y="3182112"/>
            <a:ext cx="3524098"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p xmlns:ns2="http://schemas.openxmlformats.org/drawingml/2006/main">
            <ns2:pPr algn="l">
              <ns2:defRPr sz="2200" b="0">
                <ns2:solidFill>
                  <ns2:srgbClr val="F4F7FA"/>
                </ns2:solidFill>
                <ns2:latin typeface="Arial"/>
                <ns2:ea typeface="Arial"/>
                <ns2:cs typeface="Arial"/>
              </ns2:defRPr>
            </ns2:pPr>
            <ns2:r>
              <ns2:rPr sz="2200" b="0">
                <ns2:solidFill>
                  <ns2:srgbClr val="F4F7FA"/>
                </ns2:solidFill>
                <ns2:latin typeface="Arial"/>
                <ns2:ea typeface="Arial"/>
                <ns2:cs typeface="Arial"/>
              </ns2:rPr>
              <ns2:t>Can we maintain</ns2:t>
            </ns2:r>
          </ns2:p>
          <ns3:p xmlns:ns3="http://schemas.openxmlformats.org/drawingml/2006/main">
            <ns3:pPr algn="l">
              <ns3:defRPr sz="2200" b="0">
                <ns3:solidFill>
                  <ns3:srgbClr val="F4F7FA"/>
                </ns3:solidFill>
                <ns3:latin typeface="Arial"/>
                <ns3:ea typeface="Arial"/>
                <ns3:cs typeface="Arial"/>
              </ns3:defRPr>
            </ns3:pPr>
            <ns3:r>
              <ns3:rPr sz="2200" b="0">
                <ns3:solidFill>
                  <ns3:srgbClr val="F4F7FA"/>
                </ns3:solidFill>
                <ns3:latin typeface="Arial"/>
                <ns3:ea typeface="Arial"/>
                <ns3:cs typeface="Arial"/>
              </ns3:rPr>
              <ns3:t>the dependency?</ns3:t>
            </ns3:r>
          </ns3:p>
        </p:txBody>
      </p:sp>
      <p:sp>
        <p:nvSpPr>
          <p:cNvPr id="16" name="">
            <a:extLst xmlns:a="http://schemas.openxmlformats.org/drawingml/2006/main">
              <a:ext uri="{FF2B5EF4-FFF2-40B4-BE49-F238E27FC236}">
                <a16:creationId xmlns:a16="http://schemas.microsoft.com/office/drawing/2014/main" id="{ACF33074-DA5E-4A2D-ABD7-316E110F171B}"/>
              </a:ext>
            </a:extLst>
          </p:cNvPr>
          <p:cNvSpPr>
            <a:spLocks xmlns:a="http://schemas.openxmlformats.org/drawingml/2006/main" noGrp="1"/>
          </p:cNvSpPr>
          <p:nvPr/>
        </p:nvSpPr>
        <p:spPr>
          <a:xfrm xmlns:a="http://schemas.openxmlformats.org/drawingml/2006/main">
            <a:off x="8048549" y="4215384"/>
            <a:ext cx="3524098"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4:p xmlns:ns4="http://schemas.openxmlformats.org/drawingml/2006/main">
            <ns4:pPr algn="l">
              <ns4:defRPr sz="2200" b="0">
                <ns4:solidFill>
                  <ns4:srgbClr val="F4F7FA"/>
                </ns4:solidFill>
                <ns4:latin typeface="Arial"/>
                <ns4:ea typeface="Arial"/>
                <ns4:cs typeface="Arial"/>
              </ns4:defRPr>
            </ns4:pPr>
            <ns4:r>
              <ns4:rPr sz="2200" b="0">
                <ns4:solidFill>
                  <ns4:srgbClr val="F4F7FA"/>
                </ns4:solidFill>
                <ns4:latin typeface="Arial"/>
                <ns4:ea typeface="Arial"/>
                <ns4:cs typeface="Arial"/>
              </ns4:rPr>
              <ns4:t>Can we recover</ns4:t>
            </ns4:r>
          </ns4:p>
          <ns5:p xmlns:ns5="http://schemas.openxmlformats.org/drawingml/2006/main">
            <ns5:pPr algn="l">
              <ns5:defRPr sz="2200" b="0">
                <ns5:solidFill>
                  <ns5:srgbClr val="F4F7FA"/>
                </ns5:solidFill>
                <ns5:latin typeface="Arial"/>
                <ns5:ea typeface="Arial"/>
                <ns5:cs typeface="Arial"/>
              </ns5:defRPr>
            </ns5:pPr>
            <ns5:r>
              <ns5:rPr sz="2200" b="0">
                <ns5:solidFill>
                  <ns5:srgbClr val="F4F7FA"/>
                </ns5:solidFill>
                <ns5:latin typeface="Arial"/>
                <ns5:ea typeface="Arial"/>
                <ns5:cs typeface="Arial"/>
              </ns5:rPr>
              <ns5:t>the system?</ns5:t>
            </ns5:r>
          </ns5:p>
        </p:txBody>
      </p:sp>
      <p:sp>
        <p:nvSpPr>
          <p:cNvPr id="18" name="">
            <a:extLst xmlns:a="http://schemas.openxmlformats.org/drawingml/2006/main">
              <a:ext uri="{FF2B5EF4-FFF2-40B4-BE49-F238E27FC236}">
                <a16:creationId xmlns:a16="http://schemas.microsoft.com/office/drawing/2014/main" id="{13262338-56D5-4079-AF5D-13D306205415}"/>
              </a:ext>
            </a:extLst>
          </p:cNvPr>
          <p:cNvSpPr>
            <a:spLocks xmlns:a="http://schemas.openxmlformats.org/drawingml/2006/main" noGrp="1"/>
          </p:cNvSpPr>
          <p:nvPr/>
        </p:nvSpPr>
        <p:spPr>
          <a:xfrm xmlns:a="http://schemas.openxmlformats.org/drawingml/2006/main">
            <a:off x="838200" y="53435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6:p xmlns:ns6="http://schemas.openxmlformats.org/drawingml/2006/main">
            <ns6:pPr algn="l">
              <ns6:defRPr sz="1450" b="0">
                <ns6:solidFill>
                  <ns6:srgbClr val="ADB8C5"/>
                </ns6:solidFill>
                <ns6:latin typeface="Arial"/>
                <ns6:ea typeface="Arial"/>
                <ns6:cs typeface="Arial"/>
              </ns6:defRPr>
            </ns6:pPr>
            <ns6:r>
              <ns6:rPr sz="1450" b="0">
                <ns6:solidFill>
                  <ns6:srgbClr val="ADB8C5"/>
                </ns6:solidFill>
                <ns6:latin typeface="Arial"/>
                <ns6:ea typeface="Arial"/>
                <ns6:cs typeface="Arial"/>
              </ns6:rPr>
              <ns6:t>Illustrative overload hypothesis; motivated by the evidence, not measured by those studies.</ns6:t>
            </ns6:r>
          </ns6:p>
        </p:txBody>
      </p:sp>
      <p:sp>
        <p:nvSpPr>
          <p:cNvPr id="19" name="">
            <a:extLst xmlns:a="http://schemas.openxmlformats.org/drawingml/2006/main">
              <a:ext uri="{FF2B5EF4-FFF2-40B4-BE49-F238E27FC236}">
                <a16:creationId xmlns:a16="http://schemas.microsoft.com/office/drawing/2014/main" id="{C7E794E0-9EBF-4AA4-9202-4A3798358511}"/>
              </a:ext>
            </a:extLst>
          </p:cNvPr>
          <p:cNvSpPr>
            <a:spLocks xmlns:a="http://schemas.openxmlformats.org/drawingml/2006/main" noGrp="1"/>
          </p:cNvSpPr>
          <p:nvPr/>
        </p:nvSpPr>
        <p:spPr>
          <a:xfrm xmlns:a="http://schemas.openxmlformats.org/drawingml/2006/main" flipH="0" flipV="0">
            <a:off x="609600" y="573405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0" name="">
            <a:extLst xmlns:a="http://schemas.openxmlformats.org/drawingml/2006/main">
              <a:ext uri="{FF2B5EF4-FFF2-40B4-BE49-F238E27FC236}">
                <a16:creationId xmlns:a16="http://schemas.microsoft.com/office/drawing/2014/main" id="{DF37E198-CED7-4202-AE33-750A2A444B6E}"/>
              </a:ext>
            </a:extLst>
          </p:cNvPr>
          <p:cNvSpPr>
            <a:spLocks xmlns:a="http://schemas.openxmlformats.org/drawingml/2006/main" noGrp="1"/>
          </p:cNvSpPr>
          <p:nvPr/>
        </p:nvSpPr>
        <p:spPr>
          <a:xfrm xmlns:a="http://schemas.openxmlformats.org/drawingml/2006/main">
            <a:off x="609600" y="5905500"/>
            <a:ext cx="10648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7:p xmlns:ns7="http://schemas.openxmlformats.org/drawingml/2006/main">
            <ns7:pPr algn="l">
              <ns7:defRPr sz="2200" b="1">
                <ns7:solidFill>
                  <ns7:srgbClr val="F4F7FA"/>
                </ns7:solidFill>
                <ns7:latin typeface="Arial"/>
                <ns7:ea typeface="Arial"/>
                <ns7:cs typeface="Arial"/>
              </ns7:defRPr>
            </ns7:pPr>
            <ns7:r>
              <ns7:rPr sz="2200" b="1">
                <ns7:solidFill>
                  <ns7:srgbClr val="F4F7FA"/>
                </ns7:solidFill>
                <ns7:latin typeface="Arial"/>
                <ns7:ea typeface="Arial"/>
                <ns7:cs typeface="Arial"/>
              </ns7:rPr>
              <ns7:t>If AI cannot recover the system, the team still must.</ns7:t>
            </ns7:r>
          </ns7:p>
        </p:txBody>
      </p:sp>
    </p:spTree>
    <p:extLst>
      <p:ext uri="{BB962C8B-B14F-4D97-AF65-F5344CB8AC3E}">
        <p14:creationId xmlns:p14="http://schemas.microsoft.com/office/powerpoint/2010/main" val="326020407"/>
      </p:ext>
    </p:extLst>
  </p:cSld>
</p:sld>
</file>

<file path=ppt/slides/slide5.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8193453-7990-4B7C-9819-A81F6404FA9D}"/>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We Are Searching for a New</a:t>
            </a:r>
          </a:p>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SDLC Equilibrium</a:t>
            </a:r>
          </a:p>
        </p:txBody>
      </p:sp>
      <p:sp>
        <p:nvSpPr>
          <p:cNvPr id="2" name="">
            <a:extLst xmlns:a="http://schemas.openxmlformats.org/drawingml/2006/main">
              <a:ext uri="{FF2B5EF4-FFF2-40B4-BE49-F238E27FC236}">
                <a16:creationId xmlns:a16="http://schemas.microsoft.com/office/drawing/2014/main" id="{2A60C43F-71EC-4F45-BB95-90CF31E1B1BD}"/>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760797D8-5887-4329-8327-FB3AB5F1B2E7}"/>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D087E1AF-FDA4-4946-936D-176EEFFAA147}"/>
              </a:ext>
            </a:extLst>
          </p:cNvPr>
          <p:cNvSpPr>
            <a:spLocks xmlns:a="http://schemas.openxmlformats.org/drawingml/2006/main" noGrp="1"/>
          </p:cNvSpPr>
          <p:nvPr/>
        </p:nvSpPr>
        <p:spPr>
          <a:xfrm xmlns:a="http://schemas.openxmlformats.org/drawingml/2006/main">
            <a:off x="609905" y="1810512"/>
            <a:ext cx="3390595"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0:p xmlns:ns0="http://schemas.openxmlformats.org/drawingml/2006/main">
            <ns0:pPr algn="l">
              <ns0:defRPr sz="1750" b="1">
                <ns0:solidFill>
                  <ns0:srgbClr val="28C7F7"/>
                </ns0:solidFill>
                <ns0:latin typeface="Arial"/>
                <ns0:ea typeface="Arial"/>
                <ns0:cs typeface="Arial"/>
              </ns0:defRPr>
            </ns0:pPr>
            <ns0:r>
              <ns0:rPr sz="1750" b="1">
                <ns0:solidFill>
                  <ns0:srgbClr val="28C7F7"/>
                </ns0:solidFill>
                <ns0:latin typeface="Arial"/>
                <ns0:ea typeface="Arial"/>
                <ns0:cs typeface="Arial"/>
              </ns0:rPr>
              <ns0:t>CAPABILITIES CHANGE</ns0:t>
            </ns0:r>
          </ns0:p>
        </p:txBody>
      </p:sp>
      <p:sp>
        <p:nvSpPr>
          <p:cNvPr id="5" name="">
            <a:extLst xmlns:a="http://schemas.openxmlformats.org/drawingml/2006/main">
              <a:ext uri="{FF2B5EF4-FFF2-40B4-BE49-F238E27FC236}">
                <a16:creationId xmlns:a16="http://schemas.microsoft.com/office/drawing/2014/main" id="{0FA6B746-B350-435E-B2C2-E470A18DA275}"/>
              </a:ext>
            </a:extLst>
          </p:cNvPr>
          <p:cNvSpPr>
            <a:spLocks xmlns:a="http://schemas.openxmlformats.org/drawingml/2006/main" noGrp="1"/>
          </p:cNvSpPr>
          <p:nvPr/>
        </p:nvSpPr>
        <p:spPr>
          <a:xfrm xmlns:a="http://schemas.openxmlformats.org/drawingml/2006/main">
            <a:off x="609905" y="2606040"/>
            <a:ext cx="3390595" cy="2423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4:p xmlns:ns4="http://schemas.openxmlformats.org/drawingml/2006/main">
            <ns4:pPr algn="l">
              <ns4:defRPr sz="2300" b="0">
                <ns4:solidFill>
                  <ns4:srgbClr val="F4F7FA"/>
                </ns4:solidFill>
                <ns4:latin typeface="Arial"/>
                <ns4:ea typeface="Arial"/>
                <ns4:cs typeface="Arial"/>
              </ns4:defRPr>
            </ns4:pPr>
            <ns4:r>
              <ns4:rPr sz="2300" b="0">
                <ns4:solidFill>
                  <ns4:srgbClr val="F4F7FA"/>
                </ns4:solidFill>
                <ns4:latin typeface="Arial"/>
                <ns4:ea typeface="Arial"/>
                <ns4:cs typeface="Arial"/>
              </ns4:rPr>
              <ns4:t>Generation</ns4:t>
            </ns4:r>
          </ns4:p>
          <ns5:p xmlns:ns5="http://schemas.openxmlformats.org/drawingml/2006/main">
            <ns5:pPr algn="l">
              <ns5:defRPr sz="2300" b="0">
                <ns5:solidFill>
                  <ns5:srgbClr val="F4F7FA"/>
                </ns5:solidFill>
                <ns5:latin typeface="Arial"/>
                <ns5:ea typeface="Arial"/>
                <ns5:cs typeface="Arial"/>
              </ns5:defRPr>
            </ns5:pPr>
            <ns5:r>
              <ns5:rPr sz="2300" b="0">
                <ns5:solidFill>
                  <ns5:srgbClr val="F4F7FA"/>
                </ns5:solidFill>
                <ns5:latin typeface="Arial"/>
                <ns5:ea typeface="Arial"/>
                <ns5:cs typeface="Arial"/>
              </ns5:rPr>
              <ns5:t>Review</ns5:t>
            </ns5:r>
          </ns5:p>
          <ns6:p xmlns:ns6="http://schemas.openxmlformats.org/drawingml/2006/main">
            <ns6:pPr algn="l">
              <ns6:defRPr sz="2300" b="0">
                <ns6:solidFill>
                  <ns6:srgbClr val="F4F7FA"/>
                </ns6:solidFill>
                <ns6:latin typeface="Arial"/>
                <ns6:ea typeface="Arial"/>
                <ns6:cs typeface="Arial"/>
              </ns6:defRPr>
            </ns6:pPr>
            <ns6:r>
              <ns6:rPr sz="2300" b="0">
                <ns6:solidFill>
                  <ns6:srgbClr val="F4F7FA"/>
                </ns6:solidFill>
                <ns6:latin typeface="Arial"/>
                <ns6:ea typeface="Arial"/>
                <ns6:cs typeface="Arial"/>
              </ns6:rPr>
              <ns6:t>Integration</ns6:t>
            </ns6:r>
          </ns6:p>
          <ns7:p xmlns:ns7="http://schemas.openxmlformats.org/drawingml/2006/main">
            <ns7:pPr algn="l">
              <ns7:defRPr sz="2300" b="0">
                <ns7:solidFill>
                  <ns7:srgbClr val="F4F7FA"/>
                </ns7:solidFill>
                <ns7:latin typeface="Arial"/>
                <ns7:ea typeface="Arial"/>
                <ns7:cs typeface="Arial"/>
              </ns7:defRPr>
            </ns7:pPr>
            <ns7:r>
              <ns7:rPr sz="2300" b="0">
                <ns7:solidFill>
                  <ns7:srgbClr val="F4F7FA"/>
                </ns7:solidFill>
                <ns7:latin typeface="Arial"/>
                <ns7:ea typeface="Arial"/>
                <ns7:cs typeface="Arial"/>
              </ns7:rPr>
              <ns7:t>Understanding</ns7:t>
            </ns7:r>
          </ns7:p>
        </p:txBody>
      </p:sp>
      <p:sp>
        <p:nvSpPr>
          <p:cNvPr id="6" name="">
            <a:extLst xmlns:a="http://schemas.openxmlformats.org/drawingml/2006/main">
              <a:ext uri="{FF2B5EF4-FFF2-40B4-BE49-F238E27FC236}">
                <a16:creationId xmlns:a16="http://schemas.microsoft.com/office/drawing/2014/main" id="{24BE07E1-86D8-4BF0-86C5-68D0A0DD6B56}"/>
              </a:ext>
            </a:extLst>
          </p:cNvPr>
          <p:cNvSpPr>
            <a:spLocks xmlns:a="http://schemas.openxmlformats.org/drawingml/2006/main" noGrp="1"/>
          </p:cNvSpPr>
          <p:nvPr/>
        </p:nvSpPr>
        <p:spPr>
          <a:xfrm xmlns:a="http://schemas.openxmlformats.org/drawingml/2006/main">
            <a:off x="4400093" y="1810512"/>
            <a:ext cx="3390595"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p xmlns:ns1="http://schemas.openxmlformats.org/drawingml/2006/main">
            <ns1:pPr algn="l">
              <ns1:defRPr sz="1750" b="1">
                <ns1:solidFill>
                  <ns1:srgbClr val="28C7F7"/>
                </ns1:solidFill>
                <ns1:latin typeface="Arial"/>
                <ns1:ea typeface="Arial"/>
                <ns1:cs typeface="Arial"/>
              </ns1:defRPr>
            </ns1:pPr>
            <ns1:r>
              <ns1:rPr sz="1750" b="1">
                <ns1:solidFill>
                  <ns1:srgbClr val="28C7F7"/>
                </ns1:solidFill>
                <ns1:latin typeface="Arial"/>
                <ns1:ea typeface="Arial"/>
                <ns1:cs typeface="Arial"/>
              </ns1:rPr>
              <ns1:t>OPERATING MODEL</ns1:t>
            </ns1:r>
          </ns1:p>
          <ns2:p xmlns:ns2="http://schemas.openxmlformats.org/drawingml/2006/main">
            <ns2:pPr algn="l">
              <ns2:defRPr sz="1750" b="1">
                <ns2:solidFill>
                  <ns2:srgbClr val="28C7F7"/>
                </ns2:solidFill>
                <ns2:latin typeface="Arial"/>
                <ns2:ea typeface="Arial"/>
                <ns2:cs typeface="Arial"/>
              </ns2:defRPr>
            </ns2:pPr>
            <ns2:r>
              <ns2:rPr sz="1750" b="1">
                <ns2:solidFill>
                  <ns2:srgbClr val="28C7F7"/>
                </ns2:solidFill>
                <ns2:latin typeface="Arial"/>
                <ns2:ea typeface="Arial"/>
                <ns2:cs typeface="Arial"/>
              </ns2:rPr>
              <ns2:t>MUST ADAPT</ns2:t>
            </ns2:r>
          </ns2:p>
        </p:txBody>
      </p:sp>
      <p:sp>
        <p:nvSpPr>
          <p:cNvPr id="7" name="">
            <a:extLst xmlns:a="http://schemas.openxmlformats.org/drawingml/2006/main">
              <a:ext uri="{FF2B5EF4-FFF2-40B4-BE49-F238E27FC236}">
                <a16:creationId xmlns:a16="http://schemas.microsoft.com/office/drawing/2014/main" id="{19A85357-7E94-4543-B18D-503D912898F4}"/>
              </a:ext>
            </a:extLst>
          </p:cNvPr>
          <p:cNvSpPr>
            <a:spLocks xmlns:a="http://schemas.openxmlformats.org/drawingml/2006/main" noGrp="1"/>
          </p:cNvSpPr>
          <p:nvPr/>
        </p:nvSpPr>
        <p:spPr>
          <a:xfrm xmlns:a="http://schemas.openxmlformats.org/drawingml/2006/main">
            <a:off x="4400093" y="2606040"/>
            <a:ext cx="3390595" cy="2423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8:p xmlns:ns8="http://schemas.openxmlformats.org/drawingml/2006/main">
            <ns8:pPr algn="l">
              <ns8:defRPr sz="2300" b="0">
                <ns8:solidFill>
                  <ns8:srgbClr val="F4F7FA"/>
                </ns8:solidFill>
                <ns8:latin typeface="Arial"/>
                <ns8:ea typeface="Arial"/>
                <ns8:cs typeface="Arial"/>
              </ns8:defRPr>
            </ns8:pPr>
            <ns8:r>
              <ns8:rPr sz="2300" b="0">
                <ns8:solidFill>
                  <ns8:srgbClr val="F4F7FA"/>
                </ns8:solidFill>
                <ns8:latin typeface="Arial"/>
                <ns8:ea typeface="Arial"/>
                <ns8:cs typeface="Arial"/>
              </ns8:rPr>
              <ns8:t>Work allocation</ns8:t>
            </ns8:r>
          </ns8:p>
          <ns9:p xmlns:ns9="http://schemas.openxmlformats.org/drawingml/2006/main">
            <ns9:pPr algn="l">
              <ns9:defRPr sz="2300" b="0">
                <ns9:solidFill>
                  <ns9:srgbClr val="F4F7FA"/>
                </ns9:solidFill>
                <ns9:latin typeface="Arial"/>
                <ns9:ea typeface="Arial"/>
                <ns9:cs typeface="Arial"/>
              </ns9:defRPr>
            </ns9:pPr>
            <ns9:r>
              <ns9:rPr sz="2300" b="0">
                <ns9:solidFill>
                  <ns9:srgbClr val="F4F7FA"/>
                </ns9:solidFill>
                <ns9:latin typeface="Arial"/>
                <ns9:ea typeface="Arial"/>
                <ns9:cs typeface="Arial"/>
              </ns9:rPr>
              <ns9:t>Ownership</ns9:t>
            </ns9:r>
          </ns9:p>
          <ns10:p xmlns:ns10="http://schemas.openxmlformats.org/drawingml/2006/main">
            <ns10:pPr algn="l">
              <ns10:defRPr sz="2300" b="0">
                <ns10:solidFill>
                  <ns10:srgbClr val="F4F7FA"/>
                </ns10:solidFill>
                <ns10:latin typeface="Arial"/>
                <ns10:ea typeface="Arial"/>
                <ns10:cs typeface="Arial"/>
              </ns10:defRPr>
            </ns10:pPr>
            <ns10:r>
              <ns10:rPr sz="2300" b="0">
                <ns10:solidFill>
                  <ns10:srgbClr val="F4F7FA"/>
                </ns10:solidFill>
                <ns10:latin typeface="Arial"/>
                <ns10:ea typeface="Arial"/>
                <ns10:cs typeface="Arial"/>
              </ns10:rPr>
              <ns10:t>Learning</ns10:t>
            </ns10:r>
          </ns10:p>
          <ns11:p xmlns:ns11="http://schemas.openxmlformats.org/drawingml/2006/main">
            <ns11:pPr algn="l">
              <ns11:defRPr sz="2300" b="0">
                <ns11:solidFill>
                  <ns11:srgbClr val="F4F7FA"/>
                </ns11:solidFill>
                <ns11:latin typeface="Arial"/>
                <ns11:ea typeface="Arial"/>
                <ns11:cs typeface="Arial"/>
              </ns11:defRPr>
            </ns11:pPr>
            <ns11:r>
              <ns11:rPr sz="2300" b="0">
                <ns11:solidFill>
                  <ns11:srgbClr val="F4F7FA"/>
                </ns11:solidFill>
                <ns11:latin typeface="Arial"/>
                <ns11:ea typeface="Arial"/>
                <ns11:cs typeface="Arial"/>
              </ns11:rPr>
              <ns11:t>Feedback</ns11:t>
            </ns11:r>
          </ns11:p>
        </p:txBody>
      </p:sp>
      <p:sp>
        <p:nvSpPr>
          <p:cNvPr id="8" name="">
            <a:extLst xmlns:a="http://schemas.openxmlformats.org/drawingml/2006/main">
              <a:ext uri="{FF2B5EF4-FFF2-40B4-BE49-F238E27FC236}">
                <a16:creationId xmlns:a16="http://schemas.microsoft.com/office/drawing/2014/main" id="{7AD3A518-7691-49EA-82AC-BCC21D393751}"/>
              </a:ext>
            </a:extLst>
          </p:cNvPr>
          <p:cNvSpPr>
            <a:spLocks xmlns:a="http://schemas.openxmlformats.org/drawingml/2006/main" noGrp="1"/>
          </p:cNvSpPr>
          <p:nvPr/>
        </p:nvSpPr>
        <p:spPr>
          <a:xfrm xmlns:a="http://schemas.openxmlformats.org/drawingml/2006/main">
            <a:off x="8191195" y="1810512"/>
            <a:ext cx="3390595"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3:p xmlns:ns3="http://schemas.openxmlformats.org/drawingml/2006/main">
            <ns3:pPr algn="l">
              <ns3:defRPr sz="1750" b="1">
                <ns3:solidFill>
                  <ns3:srgbClr val="F5B61C"/>
                </ns3:solidFill>
                <ns3:latin typeface="Arial"/>
                <ns3:ea typeface="Arial"/>
                <ns3:cs typeface="Arial"/>
              </ns3:defRPr>
            </ns3:pPr>
            <ns3:r>
              <ns3:rPr sz="1750" b="1">
                <ns3:solidFill>
                  <ns3:srgbClr val="F5B61C"/>
                </ns3:solidFill>
                <ns3:latin typeface="Arial"/>
                <ns3:ea typeface="Arial"/>
                <ns3:cs typeface="Arial"/>
              </ns3:rPr>
              <ns3:t>WORKING HYPOTHESES</ns3:t>
            </ns3:r>
          </ns3:p>
        </p:txBody>
      </p:sp>
      <p:sp>
        <p:nvSpPr>
          <p:cNvPr id="9" name="">
            <a:extLst xmlns:a="http://schemas.openxmlformats.org/drawingml/2006/main">
              <a:ext uri="{FF2B5EF4-FFF2-40B4-BE49-F238E27FC236}">
                <a16:creationId xmlns:a16="http://schemas.microsoft.com/office/drawing/2014/main" id="{262DC350-232B-499C-AC14-E584FEF80CB0}"/>
              </a:ext>
            </a:extLst>
          </p:cNvPr>
          <p:cNvSpPr>
            <a:spLocks xmlns:a="http://schemas.openxmlformats.org/drawingml/2006/main" noGrp="1"/>
          </p:cNvSpPr>
          <p:nvPr/>
        </p:nvSpPr>
        <p:spPr>
          <a:xfrm xmlns:a="http://schemas.openxmlformats.org/drawingml/2006/main">
            <a:off x="8191195" y="2606040"/>
            <a:ext cx="3390595" cy="2423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2:p xmlns:ns12="http://schemas.openxmlformats.org/drawingml/2006/main">
            <ns12:pPr algn="l">
              <ns12:defRPr sz="2000" b="0">
                <ns12:solidFill>
                  <ns12:srgbClr val="F4F7FA"/>
                </ns12:solidFill>
                <ns12:latin typeface="Arial"/>
                <ns12:ea typeface="Arial"/>
                <ns12:cs typeface="Arial"/>
              </ns12:defRPr>
            </ns12:pPr>
            <ns12:r>
              <ns12:rPr sz="2000" b="0">
                <ns12:solidFill>
                  <ns12:srgbClr val="F4F7FA"/>
                </ns12:solidFill>
                <ns12:latin typeface="Arial"/>
                <ns12:ea typeface="Arial"/>
                <ns12:cs typeface="Arial"/>
              </ns12:rPr>
              <ns12:t>Which constraint does this address?</ns12:t>
            </ns12:r>
          </ns12:p>
          <ns13:p xmlns:ns13="http://schemas.openxmlformats.org/drawingml/2006/main">
            <ns13:pPr algn="l">
              <ns13:defRPr sz="2000" b="0">
                <ns13:solidFill>
                  <ns13:srgbClr val="F4F7FA"/>
                </ns13:solidFill>
                <ns13:latin typeface="Arial"/>
                <ns13:ea typeface="Arial"/>
                <ns13:cs typeface="Arial"/>
              </ns13:defRPr>
            </ns13:pPr>
            <ns13:r>
              <ns13:rPr sz="2000" b="0">
                <ns13:solidFill>
                  <ns13:srgbClr val="F4F7FA"/>
                </ns13:solidFill>
                <ns13:latin typeface="Arial"/>
                <ns13:ea typeface="Arial"/>
                <ns13:cs typeface="Arial"/>
              </ns13:rPr>
              <ns13:t>What must be true for it to work?</ns13:t>
            </ns13:r>
          </ns13:p>
          <ns14:p xmlns:ns14="http://schemas.openxmlformats.org/drawingml/2006/main">
            <ns14:pPr algn="l">
              <ns14:defRPr sz="2000" b="0">
                <ns14:solidFill>
                  <ns14:srgbClr val="F4F7FA"/>
                </ns14:solidFill>
                <ns14:latin typeface="Arial"/>
                <ns14:ea typeface="Arial"/>
                <ns14:cs typeface="Arial"/>
              </ns14:defRPr>
            </ns14:pPr>
            <ns14:r>
              <ns14:rPr sz="2000" b="0">
                <ns14:solidFill>
                  <ns14:srgbClr val="F4F7FA"/>
                </ns14:solidFill>
                <ns14:latin typeface="Arial"/>
                <ns14:ea typeface="Arial"/>
                <ns14:cs typeface="Arial"/>
              </ns14:rPr>
              <ns14:t>What would make us revise it?</ns14:t>
            </ns14:r>
          </ns14:p>
        </p:txBody>
      </p:sp>
      <p:sp>
        <p:nvSpPr>
          <p:cNvPr id="10" name="">
            <a:extLst xmlns:a="http://schemas.openxmlformats.org/drawingml/2006/main">
              <a:ext uri="{FF2B5EF4-FFF2-40B4-BE49-F238E27FC236}">
                <a16:creationId xmlns:a16="http://schemas.microsoft.com/office/drawing/2014/main" id="{7DBB225B-43CD-4ECE-B131-901C9959417B}"/>
              </a:ext>
            </a:extLst>
          </p:cNvPr>
          <p:cNvSpPr>
            <a:spLocks xmlns:a="http://schemas.openxmlformats.org/drawingml/2006/main" noGrp="1"/>
          </p:cNvSpPr>
          <p:nvPr/>
        </p:nvSpPr>
        <p:spPr>
          <a:xfrm xmlns:a="http://schemas.openxmlformats.org/drawingml/2006/main" flipH="0" flipV="0">
            <a:off x="609905" y="5285232"/>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0" name="">
            <a:extLst xmlns:a="http://schemas.openxmlformats.org/drawingml/2006/main">
              <a:ext uri="{FF2B5EF4-FFF2-40B4-BE49-F238E27FC236}">
                <a16:creationId xmlns:a16="http://schemas.microsoft.com/office/drawing/2014/main" id="{539146E0-32BA-4F6A-8A42-55CD9861B301}"/>
              </a:ext>
            </a:extLst>
          </p:cNvPr>
          <p:cNvSpPr>
            <a:spLocks xmlns:a="http://schemas.openxmlformats.org/drawingml/2006/main" noGrp="1"/>
          </p:cNvSpPr>
          <p:nvPr/>
        </p:nvSpPr>
        <p:spPr>
          <a:xfrm xmlns:a="http://schemas.openxmlformats.org/drawingml/2006/main">
            <a:off x="609905" y="5486400"/>
            <a:ext cx="109728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5:p xmlns:ns15="http://schemas.openxmlformats.org/drawingml/2006/main">
            <ns15:pPr algn="l">
              <ns15:defRPr sz="2300" b="1">
                <ns15:solidFill>
                  <ns15:srgbClr val="F4F7FA"/>
                </ns15:solidFill>
                <ns15:latin typeface="Arial"/>
                <ns15:ea typeface="Arial"/>
                <ns15:cs typeface="Arial"/>
              </ns15:defRPr>
            </ns15:pPr>
            <ns15:r>
              <ns15:rPr sz="2300" b="1">
                <ns15:solidFill>
                  <ns15:srgbClr val="F4F7FA"/>
                </ns15:solidFill>
                <ns15:latin typeface="Arial"/>
                <ns15:ea typeface="Arial"/>
                <ns15:cs typeface="Arial"/>
              </ns15:rPr>
              <ns15:t>Test delivery, quality, full cost and team health.</ns15:t>
            </ns15:r>
          </ns15:p>
        </p:txBody>
      </p:sp>
      <p:sp>
        <p:nvSpPr>
          <p:cNvPr id="31" name="">
            <a:extLst xmlns:a="http://schemas.openxmlformats.org/drawingml/2006/main">
              <a:ext uri="{FF2B5EF4-FFF2-40B4-BE49-F238E27FC236}">
                <a16:creationId xmlns:a16="http://schemas.microsoft.com/office/drawing/2014/main" id="{256FD84E-5225-40F3-8B96-A707D85C24E4}"/>
              </a:ext>
            </a:extLst>
          </p:cNvPr>
          <p:cNvSpPr>
            <a:spLocks xmlns:a="http://schemas.openxmlformats.org/drawingml/2006/main" noGrp="1"/>
          </p:cNvSpPr>
          <p:nvPr/>
        </p:nvSpPr>
        <p:spPr>
          <a:xfrm xmlns:a="http://schemas.openxmlformats.org/drawingml/2006/main">
            <a:off x="609905" y="6126480"/>
            <a:ext cx="1060704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6:p xmlns:ns16="http://schemas.openxmlformats.org/drawingml/2006/main">
            <ns16:pPr algn="l">
              <ns16:defRPr sz="1800" b="0">
                <ns16:solidFill>
                  <ns16:srgbClr val="ADB8C5"/>
                </ns16:solidFill>
                <ns16:latin typeface="Arial"/>
                <ns16:ea typeface="Arial"/>
                <ns16:cs typeface="Arial"/>
              </ns16:defRPr>
            </ns16:pPr>
            <ns16:r>
              <ns16:rPr sz="1800" b="0">
                <ns16:solidFill>
                  <ns16:srgbClr val="ADB8C5"/>
                </ns16:solidFill>
                <ns16:latin typeface="Arial"/>
                <ns16:ea typeface="Arial"/>
                <ns16:cs typeface="Arial"/>
              </ns16:rPr>
              <ns16:t>Proposed operating models remain hypotheses about this context.</ns16:t>
            </ns16:r>
          </ns16:p>
        </p:txBody>
      </p:sp>
      <p:cxnSp>
        <p:nvCxnSpPr>
          <p:cNvPr id="70" name="DevCon R2 70"/>
          <p:cNvCxnSpPr/>
          <p:nvPr/>
        </p:nvCxnSpPr>
        <p:spPr>
          <a:xfrm xmlns:a="http://schemas.openxmlformats.org/drawingml/2006/main">
            <a:off x="4023360" y="3749040"/>
            <a:ext cx="274320" cy="0"/>
          </a:xfrm>
          <a:prstGeom xmlns:a="http://schemas.openxmlformats.org/drawingml/2006/main" prst="straightConnector1">
            <a:avLst/>
          </a:prstGeom>
          <a:ln xmlns:a="http://schemas.openxmlformats.org/drawingml/2006/main" w="19050">
            <a:solidFill>
              <a:srgbClr val="28C7F7"/>
            </a:solidFill>
            <a:prstDash val="solid"/>
            <a:tailEnd type="triangle" w="sm" len="sm"/>
          </a:ln>
        </p:spPr>
      </p:cxnSp>
      <p:cxnSp>
        <p:nvCxnSpPr>
          <p:cNvPr id="71" name="DevCon R2 71"/>
          <p:cNvCxnSpPr/>
          <p:nvPr/>
        </p:nvCxnSpPr>
        <p:spPr>
          <a:xfrm xmlns:a="http://schemas.openxmlformats.org/drawingml/2006/main">
            <a:off x="7818120" y="3749040"/>
            <a:ext cx="274320" cy="0"/>
          </a:xfrm>
          <a:prstGeom xmlns:a="http://schemas.openxmlformats.org/drawingml/2006/main" prst="straightConnector1">
            <a:avLst/>
          </a:prstGeom>
          <a:ln xmlns:a="http://schemas.openxmlformats.org/drawingml/2006/main" w="19050">
            <a:solidFill>
              <a:srgbClr val="F5B61C"/>
            </a:solidFill>
            <a:prstDash val="solid"/>
            <a:tailEnd type="triangle" w="sm" len="sm"/>
          </a:ln>
        </p:spPr>
      </p:cxnSp>
    </p:spTree>
    <p:extLst>
      <p:ext uri="{BB962C8B-B14F-4D97-AF65-F5344CB8AC3E}">
        <p14:creationId xmlns:p14="http://schemas.microsoft.com/office/powerpoint/2010/main" val="1686489309"/>
      </p:ext>
    </p:extLst>
  </p:cSld>
</p:sld>
</file>

<file path=ppt/slides/slide6.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513142D7-0D47-4C16-A2B0-6D48E01A688F}"/>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0:p xmlns:ns0="http://schemas.openxmlformats.org/drawingml/2006/main">
            <ns0:pPr algn="l">
              <ns0:defRPr sz="3000" b="1">
                <ns0:solidFill>
                  <ns0:srgbClr val="F4F7FA"/>
                </ns0:solidFill>
                <ns0:latin typeface="Arial"/>
                <ns0:ea typeface="Arial"/>
                <ns0:cs typeface="Arial"/>
              </ns0:defRPr>
            </ns0:pPr>
            <ns0:r>
              <ns0:rPr sz="3000" b="1">
                <ns0:solidFill>
                  <ns0:srgbClr val="F4F7FA"/>
                </ns0:solidFill>
                <ns0:latin typeface="Arial"/>
                <ns0:ea typeface="Arial"/>
                <ns0:cs typeface="Arial"/>
              </ns0:rPr>
              <ns0:t>When Software Starts Thinking</ns0:t>
            </ns0:r>
          </ns0:p>
        </p:txBody>
      </p:sp>
      <p:sp>
        <p:nvSpPr>
          <p:cNvPr id="2" name="">
            <a:extLst xmlns:a="http://schemas.openxmlformats.org/drawingml/2006/main">
              <a:ext uri="{FF2B5EF4-FFF2-40B4-BE49-F238E27FC236}">
                <a16:creationId xmlns:a16="http://schemas.microsoft.com/office/drawing/2014/main" id="{40570848-A269-43BD-9274-8A86C6CF0DDA}"/>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D1A5C5D8-5C54-4BC9-927B-10E60C879394}"/>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12D13C8A-2AA9-4647-95ED-96682A5022D8}"/>
              </a:ext>
            </a:extLst>
          </p:cNvPr>
          <p:cNvSpPr>
            <a:spLocks xmlns:a="http://schemas.openxmlformats.org/drawingml/2006/main" noGrp="1"/>
          </p:cNvSpPr>
          <p:nvPr/>
        </p:nvSpPr>
        <p:spPr>
          <a:xfrm xmlns:a="http://schemas.openxmlformats.org/drawingml/2006/main">
            <a:off x="609905" y="1719072"/>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p xmlns:ns1="http://schemas.openxmlformats.org/drawingml/2006/main">
            <ns1:pPr algn="l">
              <ns1:defRPr sz="2100" b="1">
                <ns1:solidFill>
                  <ns1:srgbClr val="F4F7FA"/>
                </ns1:solidFill>
                <ns1:latin typeface="Arial"/>
                <ns1:ea typeface="Arial"/>
                <ns1:cs typeface="Arial"/>
              </ns1:defRPr>
            </ns1:pPr>
            <ns1:r>
              <ns1:rPr sz="2100" b="1">
                <ns1:solidFill>
                  <ns1:srgbClr val="F4F7FA"/>
                </ns1:solidFill>
                <ns1:latin typeface="Arial"/>
                <ns1:ea typeface="Arial"/>
                <ns1:cs typeface="Arial"/>
              </ns1:rPr>
              <ns1:t>A system where consequential runtime responsibility</ns1:t>
            </ns1:r>
          </ns1:p>
          <ns2:p xmlns:ns2="http://schemas.openxmlformats.org/drawingml/2006/main">
            <ns2:pPr algn="l">
              <ns2:defRPr sz="2100" b="1">
                <ns2:solidFill>
                  <ns2:srgbClr val="F4F7FA"/>
                </ns2:solidFill>
                <ns2:latin typeface="Arial"/>
                <ns2:ea typeface="Arial"/>
                <ns2:cs typeface="Arial"/>
              </ns2:defRPr>
            </ns2:pPr>
            <ns2:r>
              <ns2:rPr sz="2100" b="1">
                <ns2:solidFill>
                  <ns2:srgbClr val="F4F7FA"/>
                </ns2:solidFill>
                <ns2:latin typeface="Arial"/>
                <ns2:ea typeface="Arial"/>
                <ns2:cs typeface="Arial"/>
              </ns2:rPr>
              <ns2:t>partly depends on probabilistic Model Judgment.</ns2:t>
            </ns2:r>
          </ns2:p>
        </p:txBody>
      </p:sp>
      <p:sp>
        <p:nvSpPr>
          <p:cNvPr id="6" name="">
            <a:extLst xmlns:a="http://schemas.openxmlformats.org/drawingml/2006/main">
              <a:ext uri="{FF2B5EF4-FFF2-40B4-BE49-F238E27FC236}">
                <a16:creationId xmlns:a16="http://schemas.microsoft.com/office/drawing/2014/main" id="{596D99EA-8648-4D63-8A5E-BB1313B8B473}"/>
              </a:ext>
            </a:extLst>
          </p:cNvPr>
          <p:cNvSpPr>
            <a:spLocks xmlns:a="http://schemas.openxmlformats.org/drawingml/2006/main" noGrp="1"/>
          </p:cNvSpPr>
          <p:nvPr/>
        </p:nvSpPr>
        <p:spPr>
          <a:xfrm xmlns:a="http://schemas.openxmlformats.org/drawingml/2006/main">
            <a:off x="609905" y="2724912"/>
            <a:ext cx="402336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3:p xmlns:ns3="http://schemas.openxmlformats.org/drawingml/2006/main">
            <ns3:pPr algn="l">
              <ns3:defRPr sz="1800" b="1">
                <ns3:solidFill>
                  <ns3:srgbClr val="28C7F7"/>
                </ns3:solidFill>
                <ns3:latin typeface="Arial"/>
                <ns3:ea typeface="Arial"/>
                <ns3:cs typeface="Arial"/>
              </ns3:defRPr>
            </ns3:pPr>
            <ns3:r>
              <ns3:rPr sz="1800" b="1">
                <ns3:solidFill>
                  <ns3:srgbClr val="28C7F7"/>
                </ns3:solidFill>
                <ns3:latin typeface="Arial"/>
                <ns3:ea typeface="Arial"/>
                <ns3:cs typeface="Arial"/>
              </ns3:rPr>
              <ns3:t>IT ASSISTANT</ns3:t>
            </ns3:r>
          </ns3:p>
        </p:txBody>
      </p:sp>
      <p:sp>
        <p:nvSpPr>
          <p:cNvPr id="16" name="">
            <a:extLst xmlns:a="http://schemas.openxmlformats.org/drawingml/2006/main">
              <a:ext uri="{FF2B5EF4-FFF2-40B4-BE49-F238E27FC236}">
                <a16:creationId xmlns:a16="http://schemas.microsoft.com/office/drawing/2014/main" id="{FEB487ED-9528-4DBD-901A-690D23294583}"/>
              </a:ext>
            </a:extLst>
          </p:cNvPr>
          <p:cNvSpPr>
            <a:spLocks xmlns:a="http://schemas.openxmlformats.org/drawingml/2006/main" noGrp="1"/>
          </p:cNvSpPr>
          <p:nvPr/>
        </p:nvSpPr>
        <p:spPr>
          <a:xfrm xmlns:a="http://schemas.openxmlformats.org/drawingml/2006/main">
            <a:off x="609905" y="3182112"/>
            <a:ext cx="4023360" cy="1051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4:p xmlns:ns4="http://schemas.openxmlformats.org/drawingml/2006/main">
            <ns4:pPr algn="l">
              <ns4:defRPr sz="2700" b="0">
                <ns4:solidFill>
                  <ns4:srgbClr val="F4F7FA"/>
                </ns4:solidFill>
                <ns4:latin typeface="Arial"/>
                <ns4:ea typeface="Arial"/>
                <ns4:cs typeface="Arial"/>
              </ns4:defRPr>
            </ns4:pPr>
            <ns4:r>
              <ns4:rPr sz="2700" b="0">
                <ns4:solidFill>
                  <ns4:srgbClr val="F4F7FA"/>
                </ns4:solidFill>
                <ns4:latin typeface="Arial"/>
                <ns4:ea typeface="Arial"/>
                <ns4:cs typeface="Arial"/>
              </ns4:rPr>
              <ns4:t>“Help employees</ns4:t>
            </ns4:r>
          </ns4:p>
          <ns5:p xmlns:ns5="http://schemas.openxmlformats.org/drawingml/2006/main">
            <ns5:pPr algn="l">
              <ns5:defRPr sz="2700" b="0">
                <ns5:solidFill>
                  <ns5:srgbClr val="F4F7FA"/>
                </ns5:solidFill>
                <ns5:latin typeface="Arial"/>
                <ns5:ea typeface="Arial"/>
                <ns5:cs typeface="Arial"/>
              </ns5:defRPr>
            </ns5:pPr>
            <ns5:r>
              <ns5:rPr sz="2700" b="0">
                <ns5:solidFill>
                  <ns5:srgbClr val="F4F7FA"/>
                </ns5:solidFill>
                <ns5:latin typeface="Arial"/>
                <ns5:ea typeface="Arial"/>
                <ns5:cs typeface="Arial"/>
              </ns5:rPr>
              <ns5:t>recover access.”</ns5:t>
            </ns5:r>
          </ns5:p>
        </p:txBody>
      </p:sp>
      <p:sp>
        <p:nvSpPr>
          <p:cNvPr id="17" name="">
            <a:extLst xmlns:a="http://schemas.openxmlformats.org/drawingml/2006/main">
              <a:ext uri="{FF2B5EF4-FFF2-40B4-BE49-F238E27FC236}">
                <a16:creationId xmlns:a16="http://schemas.microsoft.com/office/drawing/2014/main" id="{1F7534AE-8779-41FE-840F-C6218BB5D250}"/>
              </a:ext>
            </a:extLst>
          </p:cNvPr>
          <p:cNvSpPr>
            <a:spLocks xmlns:a="http://schemas.openxmlformats.org/drawingml/2006/main" noGrp="1"/>
          </p:cNvSpPr>
          <p:nvPr/>
        </p:nvSpPr>
        <p:spPr>
          <a:xfrm xmlns:a="http://schemas.openxmlformats.org/drawingml/2006/main">
            <a:off x="609905" y="4416552"/>
            <a:ext cx="4206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6:p xmlns:ns6="http://schemas.openxmlformats.org/drawingml/2006/main">
            <ns6:pPr algn="l">
              <ns6:defRPr sz="2100" b="0">
                <ns6:solidFill>
                  <ns6:srgbClr val="ADB8C5"/>
                </ns6:solidFill>
                <ns6:latin typeface="Arial"/>
                <ns6:ea typeface="Arial"/>
                <ns6:cs typeface="Arial"/>
              </ns6:defRPr>
            </ns6:pPr>
            <ns6:r>
              <ns6:rPr sz="2100" b="0">
                <ns6:solidFill>
                  <ns6:srgbClr val="ADB8C5"/>
                </ns6:solidFill>
                <ns6:latin typeface="Arial"/>
                <ns6:ea typeface="Arial"/>
                <ns6:cs typeface="Arial"/>
              </ns6:rPr>
              <ns6:t>Approved guidance</ns6:t>
            </ns6:r>
          </ns6:p>
          <ns7:p xmlns:ns7="http://schemas.openxmlformats.org/drawingml/2006/main">
            <ns7:pPr algn="l">
              <ns7:defRPr sz="2100" b="0">
                <ns7:solidFill>
                  <ns7:srgbClr val="ADB8C5"/>
                </ns7:solidFill>
                <ns7:latin typeface="Arial"/>
                <ns7:ea typeface="Arial"/>
                <ns7:cs typeface="Arial"/>
              </ns7:defRPr>
            </ns7:pPr>
            <ns7:r>
              <ns7:rPr sz="2100" b="0">
                <ns7:solidFill>
                  <ns7:srgbClr val="ADB8C5"/>
                </ns7:solidFill>
                <ns7:latin typeface="Arial"/>
                <ns7:ea typeface="Arial"/>
                <ns7:cs typeface="Arial"/>
              </ns7:rPr>
              <ns7:t>and permitted actions</ns7:t>
            </ns7:r>
          </ns7:p>
        </p:txBody>
      </p:sp>
      <p:sp>
        <p:nvSpPr>
          <p:cNvPr id="19" name="">
            <a:extLst xmlns:a="http://schemas.openxmlformats.org/drawingml/2006/main">
              <a:ext uri="{FF2B5EF4-FFF2-40B4-BE49-F238E27FC236}">
                <a16:creationId xmlns:a16="http://schemas.microsoft.com/office/drawing/2014/main" id="{BB6F9419-C26B-4138-BA9D-E6644D5C0749}"/>
              </a:ext>
            </a:extLst>
          </p:cNvPr>
          <p:cNvSpPr>
            <a:spLocks xmlns:a="http://schemas.openxmlformats.org/drawingml/2006/main" noGrp="1"/>
          </p:cNvSpPr>
          <p:nvPr/>
        </p:nvSpPr>
        <p:spPr>
          <a:xfrm xmlns:a="http://schemas.openxmlformats.org/drawingml/2006/main">
            <a:off x="5305349" y="2724912"/>
            <a:ext cx="627735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8:p xmlns:ns8="http://schemas.openxmlformats.org/drawingml/2006/main">
            <ns8:pPr algn="l">
              <ns8:defRPr sz="1650" b="0">
                <ns8:solidFill>
                  <ns8:srgbClr val="F4F7FA"/>
                </ns8:solidFill>
                <ns8:latin typeface="Arial"/>
                <ns8:ea typeface="Arial"/>
                <ns8:cs typeface="Arial"/>
              </ns8:defRPr>
            </ns8:pPr>
            <ns8:r>
              <ns8:rPr sz="1650" b="0">
                <ns8:solidFill>
                  <ns8:srgbClr val="F4F7FA"/>
                </ns8:solidFill>
                <ns8:latin typeface="Arial"/>
                <ns8:ea typeface="Arial"/>
                <ns8:cs typeface="Arial"/>
              </ns8:rPr>
              <ns8:t>Intents · Context · Data · Permissions</ns8:t>
            </ns8:r>
          </ns8:p>
        </p:txBody>
      </p:sp>
      <p:sp>
        <p:nvSpPr>
          <p:cNvPr id="20" name="">
            <a:extLst xmlns:a="http://schemas.openxmlformats.org/drawingml/2006/main">
              <a:ext uri="{FF2B5EF4-FFF2-40B4-BE49-F238E27FC236}">
                <a16:creationId xmlns:a16="http://schemas.microsoft.com/office/drawing/2014/main" id="{3CB91018-0635-46B8-BF0E-390F84092954}"/>
              </a:ext>
            </a:extLst>
          </p:cNvPr>
          <p:cNvSpPr>
            <a:spLocks xmlns:a="http://schemas.openxmlformats.org/drawingml/2006/main" noGrp="1"/>
          </p:cNvSpPr>
          <p:nvPr/>
        </p:nvSpPr>
        <p:spPr>
          <a:xfrm xmlns:a="http://schemas.openxmlformats.org/drawingml/2006/main" flipH="0" flipV="0">
            <a:off x="5305425" y="3698748"/>
            <a:ext cx="6172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1" name="">
            <a:extLst xmlns:a="http://schemas.openxmlformats.org/drawingml/2006/main">
              <a:ext uri="{FF2B5EF4-FFF2-40B4-BE49-F238E27FC236}">
                <a16:creationId xmlns:a16="http://schemas.microsoft.com/office/drawing/2014/main" id="{610C1865-D9F6-4585-AD2D-57A56ED83D14}"/>
              </a:ext>
            </a:extLst>
          </p:cNvPr>
          <p:cNvSpPr>
            <a:spLocks xmlns:a="http://schemas.openxmlformats.org/drawingml/2006/main" noGrp="1"/>
          </p:cNvSpPr>
          <p:nvPr/>
        </p:nvSpPr>
        <p:spPr>
          <a:xfrm xmlns:a="http://schemas.openxmlformats.org/drawingml/2006/main" flipH="0" flipV="0">
            <a:off x="5305425" y="4032123"/>
            <a:ext cx="6172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2" name="">
            <a:extLst xmlns:a="http://schemas.openxmlformats.org/drawingml/2006/main">
              <a:ext uri="{FF2B5EF4-FFF2-40B4-BE49-F238E27FC236}">
                <a16:creationId xmlns:a16="http://schemas.microsoft.com/office/drawing/2014/main" id="{298DF2B7-C07D-42E7-8014-5C9D6EEB0B61}"/>
              </a:ext>
            </a:extLst>
          </p:cNvPr>
          <p:cNvSpPr>
            <a:spLocks xmlns:a="http://schemas.openxmlformats.org/drawingml/2006/main" noGrp="1"/>
          </p:cNvSpPr>
          <p:nvPr/>
        </p:nvSpPr>
        <p:spPr>
          <a:xfrm xmlns:a="http://schemas.openxmlformats.org/drawingml/2006/main" flipH="0" flipV="0">
            <a:off x="5305425" y="4365498"/>
            <a:ext cx="6172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3" name="">
            <a:extLst xmlns:a="http://schemas.openxmlformats.org/drawingml/2006/main">
              <a:ext uri="{FF2B5EF4-FFF2-40B4-BE49-F238E27FC236}">
                <a16:creationId xmlns:a16="http://schemas.microsoft.com/office/drawing/2014/main" id="{D3B3268B-788A-44C9-94F1-DD565411F270}"/>
              </a:ext>
            </a:extLst>
          </p:cNvPr>
          <p:cNvSpPr>
            <a:spLocks xmlns:a="http://schemas.openxmlformats.org/drawingml/2006/main" noGrp="1"/>
          </p:cNvSpPr>
          <p:nvPr/>
        </p:nvSpPr>
        <p:spPr>
          <a:xfrm xmlns:a="http://schemas.openxmlformats.org/drawingml/2006/main" flipH="0" flipV="0">
            <a:off x="5305425" y="4698873"/>
            <a:ext cx="6172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4" name="">
            <a:extLst xmlns:a="http://schemas.openxmlformats.org/drawingml/2006/main">
              <a:ext uri="{FF2B5EF4-FFF2-40B4-BE49-F238E27FC236}">
                <a16:creationId xmlns:a16="http://schemas.microsoft.com/office/drawing/2014/main" id="{2AC5018C-62C3-48AB-A532-6F3DEA693D63}"/>
              </a:ext>
            </a:extLst>
          </p:cNvPr>
          <p:cNvSpPr>
            <a:spLocks xmlns:a="http://schemas.openxmlformats.org/drawingml/2006/main" noGrp="1"/>
          </p:cNvSpPr>
          <p:nvPr/>
        </p:nvSpPr>
        <p:spPr>
          <a:xfrm xmlns:a="http://schemas.openxmlformats.org/drawingml/2006/main" flipH="0" flipV="1">
            <a:off x="5305425" y="3565398"/>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5" name="">
            <a:extLst xmlns:a="http://schemas.openxmlformats.org/drawingml/2006/main">
              <a:ext uri="{FF2B5EF4-FFF2-40B4-BE49-F238E27FC236}">
                <a16:creationId xmlns:a16="http://schemas.microsoft.com/office/drawing/2014/main" id="{02388104-2CB3-494E-ABD0-7E73F2D532C4}"/>
              </a:ext>
            </a:extLst>
          </p:cNvPr>
          <p:cNvSpPr>
            <a:spLocks xmlns:a="http://schemas.openxmlformats.org/drawingml/2006/main" noGrp="1"/>
          </p:cNvSpPr>
          <p:nvPr/>
        </p:nvSpPr>
        <p:spPr>
          <a:xfrm xmlns:a="http://schemas.openxmlformats.org/drawingml/2006/main" flipH="0" flipV="1">
            <a:off x="6353175" y="3565398"/>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6" name="">
            <a:extLst xmlns:a="http://schemas.openxmlformats.org/drawingml/2006/main">
              <a:ext uri="{FF2B5EF4-FFF2-40B4-BE49-F238E27FC236}">
                <a16:creationId xmlns:a16="http://schemas.microsoft.com/office/drawing/2014/main" id="{A61ED211-690F-48FB-B67D-4EA06772726F}"/>
              </a:ext>
            </a:extLst>
          </p:cNvPr>
          <p:cNvSpPr>
            <a:spLocks xmlns:a="http://schemas.openxmlformats.org/drawingml/2006/main" noGrp="1"/>
          </p:cNvSpPr>
          <p:nvPr/>
        </p:nvSpPr>
        <p:spPr>
          <a:xfrm xmlns:a="http://schemas.openxmlformats.org/drawingml/2006/main" flipH="0" flipV="1">
            <a:off x="7400925" y="3565398"/>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7" name="">
            <a:extLst xmlns:a="http://schemas.openxmlformats.org/drawingml/2006/main">
              <a:ext uri="{FF2B5EF4-FFF2-40B4-BE49-F238E27FC236}">
                <a16:creationId xmlns:a16="http://schemas.microsoft.com/office/drawing/2014/main" id="{97E86127-A38E-4B5D-8339-9BFE4072A2ED}"/>
              </a:ext>
            </a:extLst>
          </p:cNvPr>
          <p:cNvSpPr>
            <a:spLocks xmlns:a="http://schemas.openxmlformats.org/drawingml/2006/main" noGrp="1"/>
          </p:cNvSpPr>
          <p:nvPr/>
        </p:nvSpPr>
        <p:spPr>
          <a:xfrm xmlns:a="http://schemas.openxmlformats.org/drawingml/2006/main" flipH="0" flipV="1">
            <a:off x="8448675" y="3565398"/>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8" name="">
            <a:extLst xmlns:a="http://schemas.openxmlformats.org/drawingml/2006/main">
              <a:ext uri="{FF2B5EF4-FFF2-40B4-BE49-F238E27FC236}">
                <a16:creationId xmlns:a16="http://schemas.microsoft.com/office/drawing/2014/main" id="{E0126A5C-85D3-45B8-AA01-DB5CE0773A79}"/>
              </a:ext>
            </a:extLst>
          </p:cNvPr>
          <p:cNvSpPr>
            <a:spLocks xmlns:a="http://schemas.openxmlformats.org/drawingml/2006/main" noGrp="1"/>
          </p:cNvSpPr>
          <p:nvPr/>
        </p:nvSpPr>
        <p:spPr>
          <a:xfrm xmlns:a="http://schemas.openxmlformats.org/drawingml/2006/main" flipH="0" flipV="1">
            <a:off x="9496425" y="3565398"/>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9" name="">
            <a:extLst xmlns:a="http://schemas.openxmlformats.org/drawingml/2006/main">
              <a:ext uri="{FF2B5EF4-FFF2-40B4-BE49-F238E27FC236}">
                <a16:creationId xmlns:a16="http://schemas.microsoft.com/office/drawing/2014/main" id="{FE159F45-DB5F-47F7-BB7C-A42274DB4F72}"/>
              </a:ext>
            </a:extLst>
          </p:cNvPr>
          <p:cNvSpPr>
            <a:spLocks xmlns:a="http://schemas.openxmlformats.org/drawingml/2006/main" noGrp="1"/>
          </p:cNvSpPr>
          <p:nvPr/>
        </p:nvSpPr>
        <p:spPr>
          <a:xfrm xmlns:a="http://schemas.openxmlformats.org/drawingml/2006/main" flipH="0" flipV="1">
            <a:off x="10544175" y="3565398"/>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0" name="">
            <a:extLst xmlns:a="http://schemas.openxmlformats.org/drawingml/2006/main">
              <a:ext uri="{FF2B5EF4-FFF2-40B4-BE49-F238E27FC236}">
                <a16:creationId xmlns:a16="http://schemas.microsoft.com/office/drawing/2014/main" id="{3DD8BE8D-FFB9-4FCB-9129-263575DD1B9E}"/>
              </a:ext>
            </a:extLst>
          </p:cNvPr>
          <p:cNvSpPr>
            <a:spLocks xmlns:a="http://schemas.openxmlformats.org/drawingml/2006/main" noGrp="1"/>
          </p:cNvSpPr>
          <p:nvPr/>
        </p:nvSpPr>
        <p:spPr>
          <a:xfrm xmlns:a="http://schemas.openxmlformats.org/drawingml/2006/main">
            <a:off x="5810250" y="3593973"/>
            <a:ext cx="4476750" cy="1171575"/>
          </a:xfrm>
          <a:custGeom xmlns:a="http://schemas.openxmlformats.org/drawingml/2006/main">
            <a:pathLst>
              <a:path w="4476750" h="1171575">
                <a:moveTo>
                  <a:pt x="419100" y="0"/>
                </a:moveTo>
                <a:lnTo>
                  <a:pt x="4476750" y="0"/>
                </a:lnTo>
                <a:lnTo>
                  <a:pt x="4057650" y="1171575"/>
                </a:lnTo>
                <a:lnTo>
                  <a:pt x="0" y="1171575"/>
                </a:lnTo>
                <a:close/>
              </a:path>
            </a:pathLst>
          </a:custGeom>
          <a:solidFill xmlns:a="http://schemas.openxmlformats.org/drawingml/2006/main">
            <a:srgbClr val="24231B"/>
          </a:solidFill>
          <a:ln xmlns:a="http://schemas.openxmlformats.org/drawingml/2006/main" w="19050">
            <a:solidFill>
              <a:srgbClr val="F5B61C"/>
            </a:solidFill>
            <a:prstDash val="dash"/>
          </a:ln>
        </p:spPr>
      </p:sp>
      <p:sp>
        <p:nvSpPr>
          <p:cNvPr id="31" name="">
            <a:extLst xmlns:a="http://schemas.openxmlformats.org/drawingml/2006/main">
              <a:ext uri="{FF2B5EF4-FFF2-40B4-BE49-F238E27FC236}">
                <a16:creationId xmlns:a16="http://schemas.microsoft.com/office/drawing/2014/main" id="{F9F98C83-1BD6-4814-AAA2-6DAAE6C29426}"/>
              </a:ext>
            </a:extLst>
          </p:cNvPr>
          <p:cNvSpPr>
            <a:spLocks xmlns:a="http://schemas.openxmlformats.org/drawingml/2006/main" noGrp="1"/>
          </p:cNvSpPr>
          <p:nvPr/>
        </p:nvSpPr>
        <p:spPr>
          <a:xfrm xmlns:a="http://schemas.openxmlformats.org/drawingml/2006/main">
            <a:off x="6515100" y="3841623"/>
            <a:ext cx="3228975" cy="714375"/>
          </a:xfrm>
          <a:custGeom xmlns:a="http://schemas.openxmlformats.org/drawingml/2006/main">
            <a:pathLst>
              <a:path w="3228975" h="714375">
                <a:moveTo>
                  <a:pt x="219075" y="0"/>
                </a:moveTo>
                <a:lnTo>
                  <a:pt x="3228975" y="0"/>
                </a:lnTo>
                <a:lnTo>
                  <a:pt x="3009900" y="714375"/>
                </a:lnTo>
                <a:lnTo>
                  <a:pt x="0" y="714375"/>
                </a:lnTo>
                <a:close/>
              </a:path>
            </a:pathLst>
          </a:custGeom>
          <a:solidFill xmlns:a="http://schemas.openxmlformats.org/drawingml/2006/main">
            <a:srgbClr val="122934"/>
          </a:solidFill>
          <a:ln xmlns:a="http://schemas.openxmlformats.org/drawingml/2006/main" w="19050">
            <a:solidFill>
              <a:srgbClr val="28C7F7"/>
            </a:solidFill>
            <a:prstDash val="dash"/>
          </a:ln>
        </p:spPr>
      </p:sp>
      <p:sp>
        <p:nvSpPr>
          <p:cNvPr id="32" name="">
            <a:extLst xmlns:a="http://schemas.openxmlformats.org/drawingml/2006/main">
              <a:ext uri="{FF2B5EF4-FFF2-40B4-BE49-F238E27FC236}">
                <a16:creationId xmlns:a16="http://schemas.microsoft.com/office/drawing/2014/main" id="{7890D6B4-12D4-41B3-A2CD-E369DF192C42}"/>
              </a:ext>
            </a:extLst>
          </p:cNvPr>
          <p:cNvSpPr>
            <a:spLocks xmlns:a="http://schemas.openxmlformats.org/drawingml/2006/main" noGrp="1"/>
          </p:cNvSpPr>
          <p:nvPr/>
        </p:nvSpPr>
        <p:spPr>
          <a:xfrm xmlns:a="http://schemas.openxmlformats.org/drawingml/2006/main">
            <a:off x="6267450" y="3603498"/>
            <a:ext cx="37433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9:p xmlns:ns9="http://schemas.openxmlformats.org/drawingml/2006/main">
            <ns9:pPr algn="ctr">
              <ns9:defRPr sz="1250" b="0">
                <ns9:solidFill>
                  <ns9:srgbClr val="F5B61C"/>
                </ns9:solidFill>
                <ns9:latin typeface="Arial"/>
                <ns9:ea typeface="Arial"/>
                <ns9:cs typeface="Arial"/>
              </ns9:defRPr>
            </ns9:pPr>
            <ns9:r>
              <ns9:rPr sz="1250" b="0">
                <ns9:solidFill>
                  <ns9:srgbClr val="F5B61C"/>
                </ns9:solidFill>
                <ns9:latin typeface="Arial"/>
                <ns9:ea typeface="Arial"/>
                <ns9:cs typeface="Arial"/>
              </ns9:rPr>
              <ns9:t>Boundary cases need contextual judgment</ns9:t>
            </ns9:r>
          </ns9:p>
        </p:txBody>
      </p:sp>
      <p:sp>
        <p:nvSpPr>
          <p:cNvPr id="33" name="">
            <a:extLst xmlns:a="http://schemas.openxmlformats.org/drawingml/2006/main">
              <a:ext uri="{FF2B5EF4-FFF2-40B4-BE49-F238E27FC236}">
                <a16:creationId xmlns:a16="http://schemas.microsoft.com/office/drawing/2014/main" id="{F6E1B97D-6543-4543-96CD-4E3E8DA95805}"/>
              </a:ext>
            </a:extLst>
          </p:cNvPr>
          <p:cNvSpPr>
            <a:spLocks xmlns:a="http://schemas.openxmlformats.org/drawingml/2006/main" noGrp="1"/>
          </p:cNvSpPr>
          <p:nvPr/>
        </p:nvSpPr>
        <p:spPr>
          <a:xfrm xmlns:a="http://schemas.openxmlformats.org/drawingml/2006/main">
            <a:off x="6753225" y="3889248"/>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28C7F7"/>
                </a:solidFill>
                <a:latin typeface="Arial"/>
                <a:ea typeface="Arial"/>
                <a:cs typeface="Arial"/>
              </a:defRPr>
            </a:pPr>
            <a:r>
              <a:rPr sz="1425" b="1">
                <a:solidFill>
                  <a:srgbClr val="28C7F7"/>
                </a:solidFill>
                <a:latin typeface="Arial"/>
                <a:ea typeface="Arial"/>
                <a:cs typeface="Arial"/>
              </a:rPr>
              <a:t>Acceptable outputs / actions</a:t>
            </a:r>
          </a:p>
        </p:txBody>
      </p:sp>
      <p:sp>
        <p:nvSpPr>
          <p:cNvPr id="34" name="">
            <a:extLst xmlns:a="http://schemas.openxmlformats.org/drawingml/2006/main">
              <a:ext uri="{FF2B5EF4-FFF2-40B4-BE49-F238E27FC236}">
                <a16:creationId xmlns:a16="http://schemas.microsoft.com/office/drawing/2014/main" id="{BE12721F-F688-4806-8649-6115EE96A3F0}"/>
              </a:ext>
            </a:extLst>
          </p:cNvPr>
          <p:cNvSpPr>
            <a:spLocks xmlns:a="http://schemas.openxmlformats.org/drawingml/2006/main" noGrp="1"/>
          </p:cNvSpPr>
          <p:nvPr/>
        </p:nvSpPr>
        <p:spPr>
          <a:xfrm xmlns:a="http://schemas.openxmlformats.org/drawingml/2006/main">
            <a:off x="6829425" y="4279773"/>
            <a:ext cx="47625" cy="47625"/>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35" name="">
            <a:extLst xmlns:a="http://schemas.openxmlformats.org/drawingml/2006/main">
              <a:ext uri="{FF2B5EF4-FFF2-40B4-BE49-F238E27FC236}">
                <a16:creationId xmlns:a16="http://schemas.microsoft.com/office/drawing/2014/main" id="{CDE4D5A8-806C-49B5-86BA-7164D7EBAC45}"/>
              </a:ext>
            </a:extLst>
          </p:cNvPr>
          <p:cNvSpPr>
            <a:spLocks xmlns:a="http://schemas.openxmlformats.org/drawingml/2006/main" noGrp="1"/>
          </p:cNvSpPr>
          <p:nvPr/>
        </p:nvSpPr>
        <p:spPr>
          <a:xfrm xmlns:a="http://schemas.openxmlformats.org/drawingml/2006/main">
            <a:off x="6905625" y="4174998"/>
            <a:ext cx="10058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0:p xmlns:ns10="http://schemas.openxmlformats.org/drawingml/2006/main">
            <ns10:pPr algn="l">
              <ns10:defRPr sz="1500" b="0">
                <ns10:solidFill>
                  <ns10:srgbClr val="F4F7FA"/>
                </ns10:solidFill>
                <ns10:latin typeface="Arial"/>
                <ns10:ea typeface="Arial"/>
                <ns10:cs typeface="Arial"/>
              </ns10:defRPr>
            </ns10:pPr>
            <ns10:r>
              <ns10:rPr sz="1500" b="0">
                <ns10:solidFill>
                  <ns10:srgbClr val="F4F7FA"/>
                </ns10:solidFill>
                <ns10:latin typeface="Arial"/>
                <ns10:ea typeface="Arial"/>
                <ns10:cs typeface="Arial"/>
              </ns10:rPr>
              <ns10:t>Answer</ns10:t>
            </ns10:r>
          </ns10:p>
        </p:txBody>
      </p:sp>
      <p:sp>
        <p:nvSpPr>
          <p:cNvPr id="36" name="">
            <a:extLst xmlns:a="http://schemas.openxmlformats.org/drawingml/2006/main">
              <a:ext uri="{FF2B5EF4-FFF2-40B4-BE49-F238E27FC236}">
                <a16:creationId xmlns:a16="http://schemas.microsoft.com/office/drawing/2014/main" id="{A154BDAE-7AEE-424F-922C-9D2A8EF79DFA}"/>
              </a:ext>
            </a:extLst>
          </p:cNvPr>
          <p:cNvSpPr>
            <a:spLocks xmlns:a="http://schemas.openxmlformats.org/drawingml/2006/main" noGrp="1"/>
          </p:cNvSpPr>
          <p:nvPr/>
        </p:nvSpPr>
        <p:spPr>
          <a:xfrm xmlns:a="http://schemas.openxmlformats.org/drawingml/2006/main">
            <a:off x="7772400" y="4279773"/>
            <a:ext cx="47625" cy="47625"/>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37" name="">
            <a:extLst xmlns:a="http://schemas.openxmlformats.org/drawingml/2006/main">
              <a:ext uri="{FF2B5EF4-FFF2-40B4-BE49-F238E27FC236}">
                <a16:creationId xmlns:a16="http://schemas.microsoft.com/office/drawing/2014/main" id="{12A01D30-7680-4C06-A1E5-EC3E1D09D491}"/>
              </a:ext>
            </a:extLst>
          </p:cNvPr>
          <p:cNvSpPr>
            <a:spLocks xmlns:a="http://schemas.openxmlformats.org/drawingml/2006/main" noGrp="1"/>
          </p:cNvSpPr>
          <p:nvPr/>
        </p:nvSpPr>
        <p:spPr>
          <a:xfrm xmlns:a="http://schemas.openxmlformats.org/drawingml/2006/main">
            <a:off x="7848600" y="4174998"/>
            <a:ext cx="10058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1:p xmlns:ns11="http://schemas.openxmlformats.org/drawingml/2006/main">
            <ns11:pPr algn="l">
              <ns11:defRPr sz="1500" b="0">
                <ns11:solidFill>
                  <ns11:srgbClr val="F4F7FA"/>
                </ns11:solidFill>
                <ns11:latin typeface="Arial"/>
                <ns11:ea typeface="Arial"/>
                <ns11:cs typeface="Arial"/>
              </ns11:defRPr>
            </ns11:pPr>
            <ns11:r>
              <ns11:rPr sz="1500" b="0">
                <ns11:solidFill>
                  <ns11:srgbClr val="F4F7FA"/>
                </ns11:solidFill>
                <ns11:latin typeface="Arial"/>
                <ns11:ea typeface="Arial"/>
                <ns11:cs typeface="Arial"/>
              </ns11:rPr>
              <ns11:t>Clarify</ns11:t>
            </ns11:r>
          </ns11:p>
        </p:txBody>
      </p:sp>
      <p:sp>
        <p:nvSpPr>
          <p:cNvPr id="38" name="">
            <a:extLst xmlns:a="http://schemas.openxmlformats.org/drawingml/2006/main">
              <a:ext uri="{FF2B5EF4-FFF2-40B4-BE49-F238E27FC236}">
                <a16:creationId xmlns:a16="http://schemas.microsoft.com/office/drawing/2014/main" id="{8DAE10F2-44E0-468F-824C-199D90E454E9}"/>
              </a:ext>
            </a:extLst>
          </p:cNvPr>
          <p:cNvSpPr>
            <a:spLocks xmlns:a="http://schemas.openxmlformats.org/drawingml/2006/main" noGrp="1"/>
          </p:cNvSpPr>
          <p:nvPr/>
        </p:nvSpPr>
        <p:spPr>
          <a:xfrm xmlns:a="http://schemas.openxmlformats.org/drawingml/2006/main">
            <a:off x="8715375" y="4279773"/>
            <a:ext cx="47625" cy="47625"/>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39" name="">
            <a:extLst xmlns:a="http://schemas.openxmlformats.org/drawingml/2006/main">
              <a:ext uri="{FF2B5EF4-FFF2-40B4-BE49-F238E27FC236}">
                <a16:creationId xmlns:a16="http://schemas.microsoft.com/office/drawing/2014/main" id="{61B14132-065F-47C8-AFD5-1167F4B4D656}"/>
              </a:ext>
            </a:extLst>
          </p:cNvPr>
          <p:cNvSpPr>
            <a:spLocks xmlns:a="http://schemas.openxmlformats.org/drawingml/2006/main" noGrp="1"/>
          </p:cNvSpPr>
          <p:nvPr/>
        </p:nvSpPr>
        <p:spPr>
          <a:xfrm xmlns:a="http://schemas.openxmlformats.org/drawingml/2006/main">
            <a:off x="8791575" y="4174998"/>
            <a:ext cx="10058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2:p xmlns:ns12="http://schemas.openxmlformats.org/drawingml/2006/main">
            <ns12:pPr algn="l">
              <ns12:defRPr sz="1500" b="0">
                <ns12:solidFill>
                  <ns12:srgbClr val="F4F7FA"/>
                </ns12:solidFill>
                <ns12:latin typeface="Arial"/>
                <ns12:ea typeface="Arial"/>
                <ns12:cs typeface="Arial"/>
              </ns12:defRPr>
            </ns12:pPr>
            <ns12:r>
              <ns12:rPr sz="1500" b="0">
                <ns12:solidFill>
                  <ns12:srgbClr val="F4F7FA"/>
                </ns12:solidFill>
                <ns12:latin typeface="Arial"/>
                <ns12:ea typeface="Arial"/>
                <ns12:cs typeface="Arial"/>
              </ns12:rPr>
              <ns12:t>Escalate</ns12:t>
            </ns12:r>
          </ns12:p>
        </p:txBody>
      </p:sp>
      <p:sp>
        <p:nvSpPr>
          <p:cNvPr id="40" name="">
            <a:extLst xmlns:a="http://schemas.openxmlformats.org/drawingml/2006/main">
              <a:ext uri="{FF2B5EF4-FFF2-40B4-BE49-F238E27FC236}">
                <a16:creationId xmlns:a16="http://schemas.microsoft.com/office/drawing/2014/main" id="{72F4F25C-4284-4B13-A879-00D248839E88}"/>
              </a:ext>
            </a:extLst>
          </p:cNvPr>
          <p:cNvSpPr>
            <a:spLocks xmlns:a="http://schemas.openxmlformats.org/drawingml/2006/main" noGrp="1"/>
          </p:cNvSpPr>
          <p:nvPr/>
        </p:nvSpPr>
        <p:spPr>
          <a:xfrm xmlns:a="http://schemas.openxmlformats.org/drawingml/2006/main">
            <a:off x="11106150" y="3889248"/>
            <a:ext cx="95250" cy="95250"/>
          </a:xfrm>
          <a:prstGeom xmlns:a="http://schemas.openxmlformats.org/drawingml/2006/main" prst="rect">
            <a:avLst/>
          </a:prstGeom>
          <a:solidFill xmlns:a="http://schemas.openxmlformats.org/drawingml/2006/main">
            <a:srgbClr val="FF6B75"/>
          </a:solidFill>
          <a:ln xmlns:a="http://schemas.openxmlformats.org/drawingml/2006/main" w="0">
            <a:solidFill>
              <a:srgbClr val="FF6B75"/>
            </a:solidFill>
            <a:prstDash val="solid"/>
          </a:ln>
        </p:spPr>
      </p:sp>
      <p:sp>
        <p:nvSpPr>
          <p:cNvPr id="41" name="">
            <a:extLst xmlns:a="http://schemas.openxmlformats.org/drawingml/2006/main">
              <a:ext uri="{FF2B5EF4-FFF2-40B4-BE49-F238E27FC236}">
                <a16:creationId xmlns:a16="http://schemas.microsoft.com/office/drawing/2014/main" id="{CD4D5F8A-EDA8-4F2D-97EB-423FD3308B9E}"/>
              </a:ext>
            </a:extLst>
          </p:cNvPr>
          <p:cNvSpPr>
            <a:spLocks xmlns:a="http://schemas.openxmlformats.org/drawingml/2006/main" noGrp="1"/>
          </p:cNvSpPr>
          <p:nvPr/>
        </p:nvSpPr>
        <p:spPr>
          <a:xfrm xmlns:a="http://schemas.openxmlformats.org/drawingml/2006/main">
            <a:off x="10268712" y="4023360"/>
            <a:ext cx="13716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3:p xmlns:ns13="http://schemas.openxmlformats.org/drawingml/2006/main">
            <ns13:pPr algn="ctr">
              <ns13:defRPr sz="1500" b="0">
                <ns13:solidFill>
                  <ns13:srgbClr val="FF6472"/>
                </ns13:solidFill>
                <ns13:latin typeface="Arial"/>
                <ns13:ea typeface="Arial"/>
                <ns13:cs typeface="Arial"/>
              </ns13:defRPr>
            </ns13:pPr>
            <ns13:r>
              <ns13:rPr sz="1500" b="0">
                <ns13:solidFill>
                  <ns13:srgbClr val="FF6472"/>
                </ns13:solidFill>
                <ns13:latin typeface="Arial"/>
                <ns13:ea typeface="Arial"/>
                <ns13:cs typeface="Arial"/>
              </ns13:rPr>
              <ns13:t>Unauthorized</ns13:t>
            </ns13:r>
          </ns13:p>
          <ns14:p xmlns:ns14="http://schemas.openxmlformats.org/drawingml/2006/main">
            <ns14:pPr algn="ctr">
              <ns14:defRPr sz="1500" b="0">
                <ns14:solidFill>
                  <ns14:srgbClr val="FF6472"/>
                </ns14:solidFill>
                <ns14:latin typeface="Arial"/>
                <ns14:ea typeface="Arial"/>
                <ns14:cs typeface="Arial"/>
              </ns14:defRPr>
            </ns14:pPr>
            <ns14:r>
              <ns14:rPr sz="1500" b="0">
                <ns14:solidFill>
                  <ns14:srgbClr val="FF6472"/>
                </ns14:solidFill>
                <ns14:latin typeface="Arial"/>
                <ns14:ea typeface="Arial"/>
                <ns14:cs typeface="Arial"/>
              </ns14:rPr>
              <ns14:t>disclosure</ns14:t>
            </ns14:r>
          </ns14:p>
        </p:txBody>
      </p:sp>
      <p:sp>
        <p:nvSpPr>
          <p:cNvPr id="42" name="">
            <a:extLst xmlns:a="http://schemas.openxmlformats.org/drawingml/2006/main">
              <a:ext uri="{FF2B5EF4-FFF2-40B4-BE49-F238E27FC236}">
                <a16:creationId xmlns:a16="http://schemas.microsoft.com/office/drawing/2014/main" id="{A148C1ED-ADED-4E6A-A461-2B7D65AA2A0A}"/>
              </a:ext>
            </a:extLst>
          </p:cNvPr>
          <p:cNvSpPr>
            <a:spLocks xmlns:a="http://schemas.openxmlformats.org/drawingml/2006/main" noGrp="1"/>
          </p:cNvSpPr>
          <p:nvPr/>
        </p:nvSpPr>
        <p:spPr>
          <a:xfrm xmlns:a="http://schemas.openxmlformats.org/drawingml/2006/main">
            <a:off x="5305349" y="4892040"/>
            <a:ext cx="627735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5:p xmlns:ns15="http://schemas.openxmlformats.org/drawingml/2006/main">
            <ns15:pPr algn="l">
              <ns15:defRPr sz="1700" b="0">
                <ns15:solidFill>
                  <ns15:srgbClr val="F5B61C"/>
                </ns15:solidFill>
                <ns15:latin typeface="Arial"/>
                <ns15:ea typeface="Arial"/>
                <ns15:cs typeface="Arial"/>
              </ns15:defRPr>
            </ns15:pPr>
            <ns15:r>
              <ns15:rPr sz="1700" b="0">
                <ns15:solidFill>
                  <ns15:srgbClr val="F5B61C"/>
                </ns15:solidFill>
                <ns15:latin typeface="Arial"/>
                <ns15:ea typeface="Arial"/>
                <ns15:cs typeface="Arial"/>
              </ns15:rPr>
              <ns15:t>Prohibited: unauthorized disclosure</ns15:t>
            </ns15:r>
          </ns15:p>
        </p:txBody>
      </p:sp>
      <p:sp>
        <p:nvSpPr>
          <p:cNvPr id="43" name="">
            <a:extLst xmlns:a="http://schemas.openxmlformats.org/drawingml/2006/main">
              <a:ext uri="{FF2B5EF4-FFF2-40B4-BE49-F238E27FC236}">
                <a16:creationId xmlns:a16="http://schemas.microsoft.com/office/drawing/2014/main" id="{4F37898C-C8B3-44D0-8C44-2568EA8C3B2F}"/>
              </a:ext>
            </a:extLst>
          </p:cNvPr>
          <p:cNvSpPr>
            <a:spLocks xmlns:a="http://schemas.openxmlformats.org/drawingml/2006/main" noGrp="1"/>
          </p:cNvSpPr>
          <p:nvPr/>
        </p:nvSpPr>
        <p:spPr>
          <a:xfrm xmlns:a="http://schemas.openxmlformats.org/drawingml/2006/main">
            <a:off x="5305349" y="5349240"/>
            <a:ext cx="6277356"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6:p xmlns:ns16="http://schemas.openxmlformats.org/drawingml/2006/main">
            <ns16:pPr algn="l">
              <ns16:defRPr sz="1350" b="0">
                <ns16:solidFill>
                  <ns16:srgbClr val="ADB8C5"/>
                </ns16:solidFill>
                <ns16:latin typeface="Arial"/>
                <ns16:ea typeface="Arial"/>
                <ns16:cs typeface="Arial"/>
              </ns16:defRPr>
            </ns16:pPr>
            <ns16:r>
              <ns16:rPr sz="1350" b="0">
                <ns16:solidFill>
                  <ns16:srgbClr val="ADB8C5"/>
                </ns16:solidFill>
                <ns16:latin typeface="Arial"/>
                <ns16:ea typeface="Arial"/>
                <ns16:cs typeface="Arial"/>
              </ns16:rPr>
              <ns16:t>Schematic behavioral space; limits are product-specific.</ns16:t>
            </ns16:r>
          </ns16:p>
        </p:txBody>
      </p:sp>
      <p:sp>
        <p:nvSpPr>
          <p:cNvPr id="46" name="">
            <a:extLst xmlns:a="http://schemas.openxmlformats.org/drawingml/2006/main">
              <a:ext uri="{FF2B5EF4-FFF2-40B4-BE49-F238E27FC236}">
                <a16:creationId xmlns:a16="http://schemas.microsoft.com/office/drawing/2014/main" id="{E0088C29-CDF9-4E15-A624-77A1C14C30E6}"/>
              </a:ext>
            </a:extLst>
          </p:cNvPr>
          <p:cNvSpPr>
            <a:spLocks xmlns:a="http://schemas.openxmlformats.org/drawingml/2006/main" noGrp="1"/>
          </p:cNvSpPr>
          <p:nvPr/>
        </p:nvSpPr>
        <p:spPr>
          <a:xfrm xmlns:a="http://schemas.openxmlformats.org/drawingml/2006/main">
            <a:off x="609905" y="598932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7:p xmlns:ns17="http://schemas.openxmlformats.org/drawingml/2006/main">
            <ns17:pPr algn="l">
              <ns17:defRPr sz="2100" b="1">
                <ns17:solidFill>
                  <ns17:srgbClr val="F4F7FA"/>
                </ns17:solidFill>
                <ns17:latin typeface="Arial"/>
                <ns17:ea typeface="Arial"/>
                <ns17:cs typeface="Arial"/>
              </ns17:defRPr>
            </ns17:pPr>
            <ns17:r>
              <ns17:rPr sz="2100" b="1">
                <ns17:solidFill>
                  <ns17:srgbClr val="F4F7FA"/>
                </ns17:solidFill>
                <ns17:latin typeface="Arial"/>
                <ns17:ea typeface="Arial"/>
                <ns17:cs typeface="Arial"/>
              </ns17:rPr>
              <ns17:t>Requirements define acceptable behavior and prohibited effects.</ns17:t>
            </ns17:r>
          </ns17:p>
        </p:txBody>
      </p:sp>
    </p:spTree>
    <p:extLst>
      <p:ext uri="{BB962C8B-B14F-4D97-AF65-F5344CB8AC3E}">
        <p14:creationId xmlns:p14="http://schemas.microsoft.com/office/powerpoint/2010/main" val="697095126"/>
      </p:ext>
    </p:extLst>
  </p:cSld>
</p:sld>
</file>

<file path=ppt/slides/slide7.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4096C8E8-36E7-49DF-B751-8784F65CD6CD}"/>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0:p xmlns:ns0="http://schemas.openxmlformats.org/drawingml/2006/main">
            <ns0:pPr algn="l">
              <ns0:defRPr sz="3000" b="1">
                <ns0:solidFill>
                  <ns0:srgbClr val="F4F7FA"/>
                </ns0:solidFill>
                <ns0:latin typeface="Arial"/>
                <ns0:ea typeface="Arial"/>
                <ns0:cs typeface="Arial"/>
              </ns0:defRPr>
            </ns0:pPr>
            <ns0:r>
              <ns0:rPr sz="3000" b="1">
                <ns0:solidFill>
                  <ns0:srgbClr val="F4F7FA"/>
                </ns0:solidFill>
                <ns0:latin typeface="Arial"/>
                <ns0:ea typeface="Arial"/>
                <ns0:cs typeface="Arial"/>
              </ns0:rPr>
              <ns0:t>Evidence Changes the Release Decision</ns0:t>
            </ns0:r>
          </ns0:p>
        </p:txBody>
      </p:sp>
      <p:sp>
        <p:nvSpPr>
          <p:cNvPr id="2" name="">
            <a:extLst xmlns:a="http://schemas.openxmlformats.org/drawingml/2006/main">
              <a:ext uri="{FF2B5EF4-FFF2-40B4-BE49-F238E27FC236}">
                <a16:creationId xmlns:a16="http://schemas.microsoft.com/office/drawing/2014/main" id="{6B0694B5-DD2D-4633-A5D1-951416F82EA1}"/>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4DF53BFA-2A66-4B84-B870-02CD6266F63F}"/>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07</a:t>
            </a:r>
          </a:p>
        </p:txBody>
      </p:sp>
      <p:sp>
        <p:nvSpPr>
          <p:cNvPr id="34" name="">
            <a:extLst xmlns:a="http://schemas.openxmlformats.org/drawingml/2006/main">
              <a:ext uri="{FF2B5EF4-FFF2-40B4-BE49-F238E27FC236}">
                <a16:creationId xmlns:a16="http://schemas.microsoft.com/office/drawing/2014/main" id="{330BB240-3733-4237-BCFC-0C4D1139001E}"/>
              </a:ext>
            </a:extLst>
          </p:cNvPr>
          <p:cNvSpPr>
            <a:spLocks xmlns:a="http://schemas.openxmlformats.org/drawingml/2006/main" noGrp="1"/>
          </p:cNvSpPr>
          <p:nvPr/>
        </p:nvSpPr>
        <p:spPr>
          <a:xfrm xmlns:a="http://schemas.openxmlformats.org/drawingml/2006/main">
            <a:off x="609905" y="1874520"/>
            <a:ext cx="109728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p xmlns:ns1="http://schemas.openxmlformats.org/drawingml/2006/main">
            <ns1:pPr algn="l">
              <ns1:defRPr sz="1800" b="1">
                <ns1:solidFill>
                  <ns1:srgbClr val="28C7F7"/>
                </ns1:solidFill>
                <ns1:latin typeface="Arial"/>
                <ns1:ea typeface="Arial"/>
                <ns1:cs typeface="Arial"/>
              </ns1:defRPr>
            </ns1:pPr>
            <ns1:r>
              <ns1:rPr sz="1800" b="1">
                <ns1:solidFill>
                  <ns1:srgbClr val="28C7F7"/>
                </ns1:solidFill>
                <ns1:latin typeface="Arial"/>
                <ns1:ea typeface="Arial"/>
                <ns1:cs typeface="Arial"/>
              </ns1:rPr>
              <ns1:t>ILLUSTRATIVE INDEPENDENT SAMPLE · n = 200</ns1:t>
            </ns1:r>
          </ns1:p>
        </p:txBody>
      </p:sp>
      <p:graphicFrame>
        <p:nvGraphicFramePr>
          <p:cNvPr id="83" name="Chart"/>
          <p:cNvGraphicFramePr/>
          <p:nvPr/>
        </p:nvGraphicFramePr>
        <p:xfrm>
          <a:off xmlns:a="http://schemas.openxmlformats.org/drawingml/2006/main" x="609905" y="2743200"/>
          <a:ext xmlns:a="http://schemas.openxmlformats.org/drawingml/2006/main" cx="5486400" cy="2286000"/>
        </p:xfrm>
        <a:graphic xmlns:a="http://schemas.openxmlformats.org/drawingml/2006/main">
          <a:graphicData uri="http://schemas.openxmlformats.org/drawingml/2006/chart">
            <c:chart xmlns:r="http://schemas.openxmlformats.org/officeDocument/2006/relationships" xmlns:c="http://schemas.openxmlformats.org/drawingml/2006/chart" r:id="R7eb9f4f78216436c"/>
          </a:graphicData>
        </a:graphic>
      </p:graphicFrame>
      <p:sp>
        <p:nvSpPr>
          <p:cNvPr id="36" name="">
            <a:extLst xmlns:a="http://schemas.openxmlformats.org/drawingml/2006/main">
              <a:ext uri="{FF2B5EF4-FFF2-40B4-BE49-F238E27FC236}">
                <a16:creationId xmlns:a16="http://schemas.microsoft.com/office/drawing/2014/main" id="{21F1C814-C8AC-4441-BA63-261B40E4531D}"/>
              </a:ext>
            </a:extLst>
          </p:cNvPr>
          <p:cNvSpPr>
            <a:spLocks xmlns:a="http://schemas.openxmlformats.org/drawingml/2006/main" noGrp="1"/>
          </p:cNvSpPr>
          <p:nvPr/>
        </p:nvSpPr>
        <p:spPr>
          <a:xfrm xmlns:a="http://schemas.openxmlformats.org/drawingml/2006/main">
            <a:off x="1188720" y="2514600"/>
            <a:ext cx="141732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p xmlns:ns2="http://schemas.openxmlformats.org/drawingml/2006/main">
            <ns2:pPr algn="ctr">
              <ns2:defRPr sz="1600" b="1">
                <ns2:solidFill>
                  <ns2:srgbClr val="F4F7FA"/>
                </ns2:solidFill>
                <ns2:latin typeface="Arial"/>
                <ns2:ea typeface="Arial"/>
                <ns2:cs typeface="Arial"/>
              </ns2:defRPr>
            </ns2:pPr>
            <ns2:r>
              <ns2:rPr sz="1600" b="1">
                <ns2:solidFill>
                  <ns2:srgbClr val="F4F7FA"/>
                </ns2:solidFill>
                <ns2:latin typeface="Arial"/>
                <ns2:ea typeface="Arial"/>
                <ns2:cs typeface="Arial"/>
              </ns2:rPr>
              <ns2:t>196 (98%)</ns2:t>
            </ns2:r>
          </ns2:p>
        </p:txBody>
      </p:sp>
      <p:sp>
        <p:nvSpPr>
          <p:cNvPr id="37" name="">
            <a:extLst xmlns:a="http://schemas.openxmlformats.org/drawingml/2006/main">
              <a:ext uri="{FF2B5EF4-FFF2-40B4-BE49-F238E27FC236}">
                <a16:creationId xmlns:a16="http://schemas.microsoft.com/office/drawing/2014/main" id="{53C67369-1BC5-47DE-B816-03A83027BB50}"/>
              </a:ext>
            </a:extLst>
          </p:cNvPr>
          <p:cNvSpPr>
            <a:spLocks xmlns:a="http://schemas.openxmlformats.org/drawingml/2006/main" noGrp="1"/>
          </p:cNvSpPr>
          <p:nvPr/>
        </p:nvSpPr>
        <p:spPr>
          <a:xfrm xmlns:a="http://schemas.openxmlformats.org/drawingml/2006/main">
            <a:off x="2743200" y="4471416"/>
            <a:ext cx="141732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3:p xmlns:ns3="http://schemas.openxmlformats.org/drawingml/2006/main">
            <ns3:pPr algn="ctr">
              <ns3:defRPr sz="1600" b="1">
                <ns3:solidFill>
                  <ns3:srgbClr val="F4F7FA"/>
                </ns3:solidFill>
                <ns3:latin typeface="Arial"/>
                <ns3:ea typeface="Arial"/>
                <ns3:cs typeface="Arial"/>
              </ns3:defRPr>
            </ns3:pPr>
            <ns3:r>
              <ns3:rPr sz="1600" b="1">
                <ns3:solidFill>
                  <ns3:srgbClr val="F4F7FA"/>
                </ns3:solidFill>
                <ns3:latin typeface="Arial"/>
                <ns3:ea typeface="Arial"/>
                <ns3:cs typeface="Arial"/>
              </ns3:rPr>
              <ns3:t>3 (1.5%)</ns3:t>
            </ns3:r>
          </ns3:p>
        </p:txBody>
      </p:sp>
      <p:sp>
        <p:nvSpPr>
          <p:cNvPr id="38" name="">
            <a:extLst xmlns:a="http://schemas.openxmlformats.org/drawingml/2006/main">
              <a:ext uri="{FF2B5EF4-FFF2-40B4-BE49-F238E27FC236}">
                <a16:creationId xmlns:a16="http://schemas.microsoft.com/office/drawing/2014/main" id="{ED3869C1-51F0-47F5-B0BA-7757218ADFD9}"/>
              </a:ext>
            </a:extLst>
          </p:cNvPr>
          <p:cNvSpPr>
            <a:spLocks xmlns:a="http://schemas.openxmlformats.org/drawingml/2006/main" noGrp="1"/>
          </p:cNvSpPr>
          <p:nvPr/>
        </p:nvSpPr>
        <p:spPr>
          <a:xfrm xmlns:a="http://schemas.openxmlformats.org/drawingml/2006/main">
            <a:off x="4434840" y="4471416"/>
            <a:ext cx="141732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4:p xmlns:ns4="http://schemas.openxmlformats.org/drawingml/2006/main">
            <ns4:pPr algn="ctr">
              <ns4:defRPr sz="1600" b="1">
                <ns4:solidFill>
                  <ns4:srgbClr val="F4F7FA"/>
                </ns4:solidFill>
                <ns4:latin typeface="Arial"/>
                <ns4:ea typeface="Arial"/>
                <ns4:cs typeface="Arial"/>
              </ns4:defRPr>
            </ns4:pPr>
            <ns4:r>
              <ns4:rPr sz="1600" b="1">
                <ns4:solidFill>
                  <ns4:srgbClr val="F4F7FA"/>
                </ns4:solidFill>
                <ns4:latin typeface="Arial"/>
                <ns4:ea typeface="Arial"/>
                <ns4:cs typeface="Arial"/>
              </ns4:rPr>
              <ns4:t>1 (0.5%)</ns4:t>
            </ns4:r>
          </ns4:p>
        </p:txBody>
      </p:sp>
      <p:sp>
        <p:nvSpPr>
          <p:cNvPr id="40" name="">
            <a:extLst xmlns:a="http://schemas.openxmlformats.org/drawingml/2006/main">
              <a:ext uri="{FF2B5EF4-FFF2-40B4-BE49-F238E27FC236}">
                <a16:creationId xmlns:a16="http://schemas.microsoft.com/office/drawing/2014/main" id="{82820699-6BDF-4CE9-96F1-45833BE35322}"/>
              </a:ext>
            </a:extLst>
          </p:cNvPr>
          <p:cNvSpPr>
            <a:spLocks xmlns:a="http://schemas.openxmlformats.org/drawingml/2006/main" noGrp="1"/>
          </p:cNvSpPr>
          <p:nvPr/>
        </p:nvSpPr>
        <p:spPr>
          <a:xfrm xmlns:a="http://schemas.openxmlformats.org/drawingml/2006/main">
            <a:off x="6537960" y="2487168"/>
            <a:ext cx="50292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5:p xmlns:ns5="http://schemas.openxmlformats.org/drawingml/2006/main">
            <ns5:pPr algn="l">
              <ns5:defRPr sz="2300" b="1">
                <ns5:solidFill>
                  <ns5:srgbClr val="F4F7FA"/>
                </ns5:solidFill>
                <ns5:latin typeface="Arial"/>
                <ns5:ea typeface="Arial"/>
                <ns5:cs typeface="Arial"/>
              </ns5:defRPr>
            </ns5:pPr>
            <ns5:r>
              <ns5:rPr sz="2300" b="1">
                <ns5:solidFill>
                  <ns5:srgbClr val="F4F7FA"/>
                </ns5:solidFill>
                <ns5:latin typeface="Arial"/>
                <ns5:ea typeface="Arial"/>
                <ns5:cs typeface="Arial"/>
              </ns5:rPr>
              <ns5:t>196 acceptable responses</ns5:t>
            </ns5:r>
          </ns5:p>
        </p:txBody>
      </p:sp>
      <p:sp>
        <p:nvSpPr>
          <p:cNvPr id="43" name="">
            <a:extLst xmlns:a="http://schemas.openxmlformats.org/drawingml/2006/main">
              <a:ext uri="{FF2B5EF4-FFF2-40B4-BE49-F238E27FC236}">
                <a16:creationId xmlns:a16="http://schemas.microsoft.com/office/drawing/2014/main" id="{0E56C2A0-B13E-4574-B882-94EA5B4F64C9}"/>
              </a:ext>
            </a:extLst>
          </p:cNvPr>
          <p:cNvSpPr>
            <a:spLocks xmlns:a="http://schemas.openxmlformats.org/drawingml/2006/main" noGrp="1"/>
          </p:cNvSpPr>
          <p:nvPr/>
        </p:nvSpPr>
        <p:spPr>
          <a:xfrm xmlns:a="http://schemas.openxmlformats.org/drawingml/2006/main">
            <a:off x="6537960" y="3108960"/>
            <a:ext cx="5029200" cy="822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6:p xmlns:ns6="http://schemas.openxmlformats.org/drawingml/2006/main">
            <ns6:pPr algn="l">
              <ns6:defRPr sz="2200" b="0">
                <ns6:solidFill>
                  <ns6:srgbClr val="F4F7FA"/>
                </ns6:solidFill>
                <ns6:latin typeface="Arial"/>
                <ns6:ea typeface="Arial"/>
                <ns6:cs typeface="Arial"/>
              </ns6:defRPr>
            </ns6:pPr>
            <ns6:r>
              <ns6:rPr sz="2200" b="0">
                <ns6:solidFill>
                  <ns6:srgbClr val="F4F7FA"/>
                </ns6:solidFill>
                <ns6:latin typeface="Arial"/>
                <ns6:ea typeface="Arial"/>
                <ns6:cs typeface="Arial"/>
              </ns6:rPr>
              <ns6:t>3 incorrect instructions</ns6:t>
            </ns6:r>
          </ns6:p>
          <ns7:p xmlns:ns7="http://schemas.openxmlformats.org/drawingml/2006/main">
            <ns7:pPr algn="l">
              <ns7:defRPr sz="2200" b="0">
                <ns7:solidFill>
                  <ns7:srgbClr val="F4F7FA"/>
                </ns7:solidFill>
                <ns7:latin typeface="Arial"/>
                <ns7:ea typeface="Arial"/>
                <ns7:cs typeface="Arial"/>
              </ns7:defRPr>
            </ns7:pPr>
            <ns7:r>
              <ns7:rPr sz="2200" b="0">
                <ns7:solidFill>
                  <ns7:srgbClr val="F4F7FA"/>
                </ns7:solidFill>
                <ns7:latin typeface="Arial"/>
                <ns7:ea typeface="Arial"/>
                <ns7:cs typeface="Arial"/>
              </ns7:rPr>
              <ns7:t>Rework</ns7:t>
            </ns7:r>
          </ns7:p>
        </p:txBody>
      </p:sp>
      <p:sp>
        <p:nvSpPr>
          <p:cNvPr id="44" name="">
            <a:extLst xmlns:a="http://schemas.openxmlformats.org/drawingml/2006/main">
              <a:ext uri="{FF2B5EF4-FFF2-40B4-BE49-F238E27FC236}">
                <a16:creationId xmlns:a16="http://schemas.microsoft.com/office/drawing/2014/main" id="{C98EBBEF-A3EF-4C21-9394-C495D0DBA70F}"/>
              </a:ext>
            </a:extLst>
          </p:cNvPr>
          <p:cNvSpPr>
            <a:spLocks xmlns:a="http://schemas.openxmlformats.org/drawingml/2006/main" noGrp="1"/>
          </p:cNvSpPr>
          <p:nvPr/>
        </p:nvSpPr>
        <p:spPr>
          <a:xfrm xmlns:a="http://schemas.openxmlformats.org/drawingml/2006/main">
            <a:off x="6537960" y="4023360"/>
            <a:ext cx="5029200" cy="822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8:p xmlns:ns8="http://schemas.openxmlformats.org/drawingml/2006/main">
            <ns8:pPr algn="l">
              <ns8:defRPr sz="2200" b="0">
                <ns8:solidFill>
                  <ns8:srgbClr val="FF6472"/>
                </ns8:solidFill>
                <ns8:latin typeface="Arial"/>
                <ns8:ea typeface="Arial"/>
                <ns8:cs typeface="Arial"/>
              </ns8:defRPr>
            </ns8:pPr>
            <ns8:r>
              <ns8:rPr sz="2200" b="0">
                <ns8:solidFill>
                  <ns8:srgbClr val="FF6472"/>
                </ns8:solidFill>
                <ns8:latin typeface="Arial"/>
                <ns8:ea typeface="Arial"/>
                <ns8:cs typeface="Arial"/>
              </ns8:rPr>
              <ns8:t>1 privacy leak</ns8:t>
            </ns8:r>
          </ns8:p>
          <ns9:p xmlns:ns9="http://schemas.openxmlformats.org/drawingml/2006/main">
            <ns9:pPr algn="l">
              <ns9:defRPr sz="2200" b="0">
                <ns9:solidFill>
                  <ns9:srgbClr val="FF6472"/>
                </ns9:solidFill>
                <ns9:latin typeface="Arial"/>
                <ns9:ea typeface="Arial"/>
                <ns9:cs typeface="Arial"/>
              </ns9:defRPr>
            </ns9:pPr>
            <ns9:r>
              <ns9:rPr sz="2200" b="0">
                <ns9:solidFill>
                  <ns9:srgbClr val="FF6472"/>
                </ns9:solidFill>
                <ns9:latin typeface="Arial"/>
                <ns9:ea typeface="Arial"/>
                <ns9:cs typeface="Arial"/>
              </ns9:rPr>
              <ns9:t>Critical breach</ns9:t>
            </ns9:r>
          </ns9:p>
        </p:txBody>
      </p:sp>
      <p:sp>
        <p:nvSpPr>
          <p:cNvPr id="45" name="">
            <a:extLst xmlns:a="http://schemas.openxmlformats.org/drawingml/2006/main">
              <a:ext uri="{FF2B5EF4-FFF2-40B4-BE49-F238E27FC236}">
                <a16:creationId xmlns:a16="http://schemas.microsoft.com/office/drawing/2014/main" id="{BAD73FC2-6EF3-4DF3-B1AC-813D81AEFB6C}"/>
              </a:ext>
            </a:extLst>
          </p:cNvPr>
          <p:cNvSpPr>
            <a:spLocks xmlns:a="http://schemas.openxmlformats.org/drawingml/2006/main" noGrp="1"/>
          </p:cNvSpPr>
          <p:nvPr/>
        </p:nvSpPr>
        <p:spPr>
          <a:xfrm xmlns:a="http://schemas.openxmlformats.org/drawingml/2006/main">
            <a:off x="6537960" y="4910328"/>
            <a:ext cx="502920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0:p xmlns:ns10="http://schemas.openxmlformats.org/drawingml/2006/main">
            <ns10:pPr algn="l">
              <ns10:defRPr sz="2800" b="1">
                <ns10:solidFill>
                  <ns10:srgbClr val="FF6472"/>
                </ns10:solidFill>
                <ns10:latin typeface="Arial"/>
                <ns10:ea typeface="Arial"/>
                <ns10:cs typeface="Arial"/>
              </ns10:defRPr>
            </ns10:pPr>
            <ns10:r>
              <ns10:rPr sz="2800" b="1">
                <ns10:solidFill>
                  <ns10:srgbClr val="FF6472"/>
                </ns10:solidFill>
                <ns10:latin typeface="Arial"/>
                <ns10:ea typeface="Arial"/>
                <ns10:cs typeface="Arial"/>
              </ns10:rPr>
              <ns10:t>BLOCK RELEASE</ns10:t>
            </ns10:r>
          </ns10:p>
        </p:txBody>
      </p:sp>
      <p:sp>
        <p:nvSpPr>
          <p:cNvPr id="47" name="">
            <a:extLst xmlns:a="http://schemas.openxmlformats.org/drawingml/2006/main">
              <a:ext uri="{FF2B5EF4-FFF2-40B4-BE49-F238E27FC236}">
                <a16:creationId xmlns:a16="http://schemas.microsoft.com/office/drawing/2014/main" id="{6801E986-52CD-4DC4-BFD0-D51E6A861214}"/>
              </a:ext>
            </a:extLst>
          </p:cNvPr>
          <p:cNvSpPr>
            <a:spLocks xmlns:a="http://schemas.openxmlformats.org/drawingml/2006/main" noGrp="1"/>
          </p:cNvSpPr>
          <p:nvPr/>
        </p:nvSpPr>
        <p:spPr>
          <a:xfrm xmlns:a="http://schemas.openxmlformats.org/drawingml/2006/main">
            <a:off x="609905" y="6208776"/>
            <a:ext cx="1065276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2:p xmlns:ns12="http://schemas.openxmlformats.org/drawingml/2006/main">
            <ns12:pPr algn="l">
              <ns12:defRPr sz="1900" b="0">
                <ns12:solidFill>
                  <ns12:srgbClr val="28C7F7"/>
                </ns12:solidFill>
                <ns12:latin typeface="Arial"/>
                <ns12:ea typeface="Arial"/>
                <ns12:cs typeface="Arial"/>
              </ns12:defRPr>
            </ns12:pPr>
            <ns12:r>
              <ns12:rPr sz="1900" b="0">
                <ns12:solidFill>
                  <ns12:srgbClr val="28C7F7"/>
                </ns12:solidFill>
                <ns12:latin typeface="Arial"/>
                <ns12:ea typeface="Arial"/>
                <ns12:cs typeface="Arial"/>
              </ns12:rPr>
              <ns12:t>Readiness includes behavior, evidence and an operable control path.</ns12:t>
            </ns12:r>
          </ns12:p>
        </p:txBody>
      </p:sp>
      <p:sp>
        <p:nvSpPr>
          <p:cNvPr id="48" name="">
            <a:extLst xmlns:a="http://schemas.openxmlformats.org/drawingml/2006/main">
              <a:ext uri="{FF2B5EF4-FFF2-40B4-BE49-F238E27FC236}">
                <a16:creationId xmlns:a16="http://schemas.microsoft.com/office/drawing/2014/main" id="{80EFF33C-0656-4415-8EB5-99C5C9D79214}"/>
              </a:ext>
            </a:extLst>
          </p:cNvPr>
          <p:cNvSpPr>
            <a:spLocks xmlns:a="http://schemas.openxmlformats.org/drawingml/2006/main" noGrp="1"/>
          </p:cNvSpPr>
          <p:nvPr/>
        </p:nvSpPr>
        <p:spPr>
          <a:xfrm xmlns:a="http://schemas.openxmlformats.org/drawingml/2006/main">
            <a:off x="609905" y="5650992"/>
            <a:ext cx="109728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1:p xmlns:ns11="http://schemas.openxmlformats.org/drawingml/2006/main">
            <ns11:pPr algn="l">
              <ns11:defRPr sz="2000" b="1">
                <ns11:solidFill>
                  <ns11:srgbClr val="F4F7FA"/>
                </ns11:solidFill>
                <ns11:latin typeface="Arial"/>
                <ns11:ea typeface="Arial"/>
                <ns11:cs typeface="Arial"/>
              </ns11:defRPr>
            </ns11:pPr>
            <ns11:r>
              <ns11:rPr sz="2000" b="1">
                <ns11:solidFill>
                  <ns11:srgbClr val="F4F7FA"/>
                </ns11:solidFill>
                <ns11:latin typeface="Arial"/>
                <ns11:ea typeface="Arial"/>
                <ns11:cs typeface="Arial"/>
              </ns11:rPr>
              <ns11:t>A low average error rate does not excuse a prohibited disclosure.</ns11:t>
            </ns11:r>
          </ns11:p>
        </p:txBody>
      </p:sp>
    </p:spTree>
    <p:extLst>
      <p:ext uri="{BB962C8B-B14F-4D97-AF65-F5344CB8AC3E}">
        <p14:creationId xmlns:p14="http://schemas.microsoft.com/office/powerpoint/2010/main" val="1288085893"/>
      </p:ext>
    </p:extLst>
  </p:cSld>
</p:sld>
</file>

<file path=ppt/slides/slide8.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cxnSp>
        <p:nvCxnSpPr>
          <p:cNvPr id="55" name=""/>
          <p:cNvCxnSpPr>
            <ns19:stCxn xmlns:ns19="http://schemas.openxmlformats.org/drawingml/2006/main" id="21" idx="3"/>
            <ns20:endCxn xmlns:ns20="http://schemas.openxmlformats.org/drawingml/2006/main" id="23" idx="1"/>
          </p:cNvCxnSpPr>
          <p:nvPr/>
        </p:nvCxnSpPr>
        <p:spPr>
          <a:xfrm xmlns:a="http://schemas.openxmlformats.org/drawingml/2006/main">
            <a:off x="8366760" y="3241548"/>
            <a:ext cx="548640" cy="0"/>
          </a:xfrm>
          <a:prstGeom xmlns:a="http://schemas.openxmlformats.org/drawingml/2006/main" prst="straightConnector1">
            <a:avLst/>
          </a:prstGeom>
          <a:ln xmlns:a="http://schemas.openxmlformats.org/drawingml/2006/main" w="19050">
            <a:solidFill>
              <a:srgbClr val="28C7F7"/>
            </a:solidFill>
            <a:prstDash val="solid"/>
            <a:tailEnd type="triangle" w="sm" len="sm"/>
          </a:ln>
        </p:spPr>
      </p:cxnSp>
      <p:cxnSp>
        <p:nvCxnSpPr>
          <p:cNvPr id="56" name=""/>
          <p:cNvCxnSpPr>
            <ns17:stCxn xmlns:ns17="http://schemas.openxmlformats.org/drawingml/2006/main" id="19" idx="3"/>
            <ns18:endCxn xmlns:ns18="http://schemas.openxmlformats.org/drawingml/2006/main" id="21" idx="1"/>
          </p:cNvCxnSpPr>
          <p:nvPr/>
        </p:nvCxnSpPr>
        <p:spPr>
          <a:xfrm xmlns:a="http://schemas.openxmlformats.org/drawingml/2006/main">
            <a:off x="5166360" y="3241548"/>
            <a:ext cx="457200" cy="0"/>
          </a:xfrm>
          <a:prstGeom xmlns:a="http://schemas.openxmlformats.org/drawingml/2006/main" prst="straightConnector1">
            <a:avLst/>
          </a:prstGeom>
          <a:ln xmlns:a="http://schemas.openxmlformats.org/drawingml/2006/main" w="19050">
            <a:solidFill>
              <a:srgbClr val="28C7F7"/>
            </a:solidFill>
            <a:prstDash val="solid"/>
            <a:tailEnd type="triangle" w="sm" len="sm"/>
          </a:ln>
        </p:spPr>
      </p:cxnSp>
      <p:cxnSp>
        <p:nvCxnSpPr>
          <p:cNvPr id="57" name=""/>
          <p:cNvCxnSpPr>
            <ns15:stCxn xmlns:ns15="http://schemas.openxmlformats.org/drawingml/2006/main" id="17" idx="3"/>
            <ns16:endCxn xmlns:ns16="http://schemas.openxmlformats.org/drawingml/2006/main" id="19" idx="1"/>
          </p:cNvCxnSpPr>
          <p:nvPr/>
        </p:nvCxnSpPr>
        <p:spPr>
          <a:xfrm xmlns:a="http://schemas.openxmlformats.org/drawingml/2006/main">
            <a:off x="2438705" y="3241548"/>
            <a:ext cx="441655" cy="0"/>
          </a:xfrm>
          <a:prstGeom xmlns:a="http://schemas.openxmlformats.org/drawingml/2006/main" prst="straightConnector1">
            <a:avLst/>
          </a:prstGeom>
          <a:ln xmlns:a="http://schemas.openxmlformats.org/drawingml/2006/main" w="19050">
            <a:solidFill>
              <a:srgbClr val="28C7F7"/>
            </a:solidFill>
            <a:prstDash val="solid"/>
            <a:tailEnd type="triangle" w="sm" len="sm"/>
          </a:ln>
        </p:spPr>
      </p:cxnSp>
      <p:sp>
        <p:nvSpPr>
          <p:cNvPr id="58" name="">
            <a:extLst xmlns:a="http://schemas.openxmlformats.org/drawingml/2006/main">
              <a:ext uri="{FF2B5EF4-FFF2-40B4-BE49-F238E27FC236}">
                <a16:creationId xmlns:a16="http://schemas.microsoft.com/office/drawing/2014/main" id="{D1685580-2D1F-4A9F-9B8E-233ADDC2DE6E}"/>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0:p xmlns:ns0="http://schemas.openxmlformats.org/drawingml/2006/main">
            <ns0:pPr algn="l">
              <ns0:defRPr sz="3000" b="1">
                <ns0:solidFill>
                  <ns0:srgbClr val="F4F7FA"/>
                </ns0:solidFill>
                <ns0:latin typeface="Arial"/>
                <ns0:ea typeface="Arial"/>
                <ns0:cs typeface="Arial"/>
              </ns0:defRPr>
            </ns0:pPr>
            <ns0:r>
              <ns0:rPr sz="3000" b="1">
                <ns0:solidFill>
                  <ns0:srgbClr val="F4F7FA"/>
                </ns0:solidFill>
                <ns0:latin typeface="Arial"/>
                <ns0:ea typeface="Arial"/>
                <ns0:cs typeface="Arial"/>
              </ns0:rPr>
              <ns0:t>Control Is a Sociotechnical Capability</ns0:t>
            </ns0:r>
          </ns0:p>
        </p:txBody>
      </p:sp>
      <p:sp>
        <p:nvSpPr>
          <p:cNvPr id="2" name="">
            <a:extLst xmlns:a="http://schemas.openxmlformats.org/drawingml/2006/main">
              <a:ext uri="{FF2B5EF4-FFF2-40B4-BE49-F238E27FC236}">
                <a16:creationId xmlns:a16="http://schemas.microsoft.com/office/drawing/2014/main" id="{12BA7707-C2ED-4152-A23B-10486E02AD93}"/>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721689E8-EE2D-49B2-9BDF-914D32E9BCE5}"/>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4BBD3791-5A83-448B-B1E0-69D834CD7BB2}"/>
              </a:ext>
            </a:extLst>
          </p:cNvPr>
          <p:cNvSpPr>
            <a:spLocks xmlns:a="http://schemas.openxmlformats.org/drawingml/2006/main" noGrp="1"/>
          </p:cNvSpPr>
          <p:nvPr/>
        </p:nvSpPr>
        <p:spPr>
          <a:xfrm xmlns:a="http://schemas.openxmlformats.org/drawingml/2006/main">
            <a:off x="8339328" y="1746504"/>
            <a:ext cx="32004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5:p xmlns:ns5="http://schemas.openxmlformats.org/drawingml/2006/main">
            <ns5:pPr algn="l">
              <ns5:defRPr sz="2200" b="1">
                <ns5:solidFill>
                  <ns5:srgbClr val="F4F7FA"/>
                </ns5:solidFill>
                <ns5:latin typeface="Arial"/>
                <ns5:ea typeface="Arial"/>
                <ns5:cs typeface="Arial"/>
              </ns5:defRPr>
            </ns5:pPr>
            <ns5:r>
              <ns5:rPr sz="2200" b="1">
                <ns5:solidFill>
                  <ns5:srgbClr val="F4F7FA"/>
                </ns5:solidFill>
                <ns5:latin typeface="Arial"/>
                <ns5:ea typeface="Arial"/>
                <ns5:cs typeface="Arial"/>
              </ns5:rPr>
              <ns5:t>Capability</ns5:t>
            </ns5:r>
          </ns5:p>
          <ns6:p xmlns:ns6="http://schemas.openxmlformats.org/drawingml/2006/main">
            <ns6:pPr algn="l">
              <ns6:defRPr sz="2200" b="1">
                <ns6:solidFill>
                  <ns6:srgbClr val="F4F7FA"/>
                </ns6:solidFill>
                <ns6:latin typeface="Arial"/>
                <ns6:ea typeface="Arial"/>
                <ns6:cs typeface="Arial"/>
              </ns6:defRPr>
            </ns6:pPr>
            <ns6:r>
              <ns6:rPr sz="2200" b="1">
                <ns6:solidFill>
                  <ns6:srgbClr val="F4F7FA"/>
                </ns6:solidFill>
                <ns6:latin typeface="Arial"/>
                <ns6:ea typeface="Arial"/>
                <ns6:cs typeface="Arial"/>
              </ns6:rPr>
              <ns6:t>to act</ns6:t>
            </ns6:r>
          </ns6:p>
        </p:txBody>
      </p:sp>
      <p:sp>
        <p:nvSpPr>
          <p:cNvPr id="5" name="">
            <a:extLst xmlns:a="http://schemas.openxmlformats.org/drawingml/2006/main">
              <a:ext uri="{FF2B5EF4-FFF2-40B4-BE49-F238E27FC236}">
                <a16:creationId xmlns:a16="http://schemas.microsoft.com/office/drawing/2014/main" id="{CF794562-EFCD-48E7-B673-4A54B5E941A2}"/>
              </a:ext>
            </a:extLst>
          </p:cNvPr>
          <p:cNvSpPr>
            <a:spLocks xmlns:a="http://schemas.openxmlformats.org/drawingml/2006/main" noGrp="1"/>
          </p:cNvSpPr>
          <p:nvPr/>
        </p:nvSpPr>
        <p:spPr>
          <a:xfrm xmlns:a="http://schemas.openxmlformats.org/drawingml/2006/main">
            <a:off x="609905" y="1746504"/>
            <a:ext cx="36576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p xmlns:ns1="http://schemas.openxmlformats.org/drawingml/2006/main">
            <ns1:pPr algn="l">
              <ns1:defRPr sz="2200" b="1">
                <ns1:solidFill>
                  <ns1:srgbClr val="28C7F7"/>
                </ns1:solidFill>
                <ns1:latin typeface="Arial"/>
                <ns1:ea typeface="Arial"/>
                <ns1:cs typeface="Arial"/>
              </ns1:defRPr>
            </ns1:pPr>
            <ns1:r>
              <ns1:rPr sz="2200" b="1">
                <ns1:solidFill>
                  <ns1:srgbClr val="28C7F7"/>
                </ns1:solidFill>
                <ns1:latin typeface="Arial"/>
                <ns1:ea typeface="Arial"/>
                <ns1:cs typeface="Arial"/>
              </ns1:rPr>
              <ns1:t>Evidence against</ns1:t>
            </ns1:r>
          </ns1:p>
          <ns2:p xmlns:ns2="http://schemas.openxmlformats.org/drawingml/2006/main">
            <ns2:pPr algn="l">
              <ns2:defRPr sz="2200" b="1">
                <ns2:solidFill>
                  <ns2:srgbClr val="28C7F7"/>
                </ns2:solidFill>
                <ns2:latin typeface="Arial"/>
                <ns2:ea typeface="Arial"/>
                <ns2:cs typeface="Arial"/>
              </ns2:defRPr>
            </ns2:pPr>
            <ns2:r>
              <ns2:rPr sz="2200" b="1">
                <ns2:solidFill>
                  <ns2:srgbClr val="28C7F7"/>
                </ns2:solidFill>
                <ns2:latin typeface="Arial"/>
                <ns2:ea typeface="Arial"/>
                <ns2:cs typeface="Arial"/>
              </ns2:rPr>
              <ns2:t>agreed limits</ns2:t>
            </ns2:r>
          </ns2:p>
        </p:txBody>
      </p:sp>
      <p:sp>
        <p:nvSpPr>
          <p:cNvPr id="6" name="">
            <a:extLst xmlns:a="http://schemas.openxmlformats.org/drawingml/2006/main">
              <a:ext uri="{FF2B5EF4-FFF2-40B4-BE49-F238E27FC236}">
                <a16:creationId xmlns:a16="http://schemas.microsoft.com/office/drawing/2014/main" id="{F6F44DE8-77D2-4A5D-BB74-0B98B9923224}"/>
              </a:ext>
            </a:extLst>
          </p:cNvPr>
          <p:cNvSpPr>
            <a:spLocks xmlns:a="http://schemas.openxmlformats.org/drawingml/2006/main" noGrp="1"/>
          </p:cNvSpPr>
          <p:nvPr/>
        </p:nvSpPr>
        <p:spPr>
          <a:xfrm xmlns:a="http://schemas.openxmlformats.org/drawingml/2006/main">
            <a:off x="4526280" y="1746504"/>
            <a:ext cx="34747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3:p xmlns:ns3="http://schemas.openxmlformats.org/drawingml/2006/main">
            <ns3:pPr algn="l">
              <ns3:defRPr sz="2200" b="1">
                <ns3:solidFill>
                  <ns3:srgbClr val="F5B61C"/>
                </ns3:solidFill>
                <ns3:latin typeface="Arial"/>
                <ns3:ea typeface="Arial"/>
                <ns3:cs typeface="Arial"/>
              </ns3:defRPr>
            </ns3:pPr>
            <ns3:r>
              <ns3:rPr sz="2200" b="1">
                <ns3:solidFill>
                  <ns3:srgbClr val="F5B61C"/>
                </ns3:solidFill>
                <ns3:latin typeface="Arial"/>
                <ns3:ea typeface="Arial"/>
                <ns3:cs typeface="Arial"/>
              </ns3:rPr>
              <ns3:t>Authority</ns3:t>
            </ns3:r>
          </ns3:p>
          <ns4:p xmlns:ns4="http://schemas.openxmlformats.org/drawingml/2006/main">
            <ns4:pPr algn="l">
              <ns4:defRPr sz="2200" b="1">
                <ns4:solidFill>
                  <ns4:srgbClr val="F5B61C"/>
                </ns4:solidFill>
                <ns4:latin typeface="Arial"/>
                <ns4:ea typeface="Arial"/>
                <ns4:cs typeface="Arial"/>
              </ns4:defRPr>
            </ns4:pPr>
            <ns4:r>
              <ns4:rPr sz="2200" b="1">
                <ns4:solidFill>
                  <ns4:srgbClr val="F5B61C"/>
                </ns4:solidFill>
                <ns4:latin typeface="Arial"/>
                <ns4:ea typeface="Arial"/>
                <ns4:cs typeface="Arial"/>
              </ns4:rPr>
              <ns4:t>to decide</ns4:t>
            </ns4:r>
          </ns4:p>
        </p:txBody>
      </p:sp>
      <p:sp>
        <p:nvSpPr>
          <p:cNvPr id="17" name="">
            <a:extLst xmlns:a="http://schemas.openxmlformats.org/drawingml/2006/main">
              <a:ext uri="{FF2B5EF4-FFF2-40B4-BE49-F238E27FC236}">
                <a16:creationId xmlns:a16="http://schemas.microsoft.com/office/drawing/2014/main" id="{FEF85DC0-5458-4BE4-8969-05D65E68FFB7}"/>
              </a:ext>
            </a:extLst>
          </p:cNvPr>
          <p:cNvSpPr>
            <a:spLocks xmlns:a="http://schemas.openxmlformats.org/drawingml/2006/main" noGrp="1"/>
          </p:cNvSpPr>
          <p:nvPr/>
        </p:nvSpPr>
        <p:spPr>
          <a:xfrm xmlns:a="http://schemas.openxmlformats.org/drawingml/2006/main">
            <a:off x="609905" y="2852928"/>
            <a:ext cx="1828800" cy="77724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18" name="">
            <a:extLst xmlns:a="http://schemas.openxmlformats.org/drawingml/2006/main">
              <a:ext uri="{FF2B5EF4-FFF2-40B4-BE49-F238E27FC236}">
                <a16:creationId xmlns:a16="http://schemas.microsoft.com/office/drawing/2014/main" id="{DE24B02D-201A-4C8E-95C5-85CD54105147}"/>
              </a:ext>
            </a:extLst>
          </p:cNvPr>
          <p:cNvSpPr>
            <a:spLocks xmlns:a="http://schemas.openxmlformats.org/drawingml/2006/main" noGrp="1"/>
          </p:cNvSpPr>
          <p:nvPr/>
        </p:nvSpPr>
        <p:spPr>
          <a:xfrm xmlns:a="http://schemas.openxmlformats.org/drawingml/2006/main">
            <a:off x="701345" y="2926080"/>
            <a:ext cx="1645920"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7:p xmlns:ns7="http://schemas.openxmlformats.org/drawingml/2006/main">
            <ns7:pPr algn="ctr">
              <ns7:defRPr sz="1650" b="1">
                <ns7:solidFill>
                  <ns7:srgbClr val="F4F7FA"/>
                </ns7:solidFill>
                <ns7:latin typeface="Arial"/>
                <ns7:ea typeface="Arial"/>
                <ns7:cs typeface="Arial"/>
              </ns7:defRPr>
            </ns7:pPr>
            <ns7:r>
              <ns7:rPr sz="1650" b="1">
                <ns7:solidFill>
                  <ns7:srgbClr val="F4F7FA"/>
                </ns7:solidFill>
                <ns7:latin typeface="Arial"/>
                <ns7:ea typeface="Arial"/>
                <ns7:cs typeface="Arial"/>
              </ns7:rPr>
              <ns7:t>Model</ns7:t>
            </ns7:r>
          </ns7:p>
          <ns8:p xmlns:ns8="http://schemas.openxmlformats.org/drawingml/2006/main">
            <ns8:pPr algn="ctr">
              <ns8:defRPr sz="1650" b="1">
                <ns8:solidFill>
                  <ns8:srgbClr val="F4F7FA"/>
                </ns8:solidFill>
                <ns8:latin typeface="Arial"/>
                <ns8:ea typeface="Arial"/>
                <ns8:cs typeface="Arial"/>
              </ns8:defRPr>
            </ns8:pPr>
            <ns8:r>
              <ns8:rPr sz="1650" b="1">
                <ns8:solidFill>
                  <ns8:srgbClr val="F4F7FA"/>
                </ns8:solidFill>
                <ns8:latin typeface="Arial"/>
                <ns8:ea typeface="Arial"/>
                <ns8:cs typeface="Arial"/>
              </ns8:rPr>
              <ns8:t>proposal</ns8:t>
            </ns8:r>
          </ns8:p>
        </p:txBody>
      </p:sp>
      <p:sp>
        <p:nvSpPr>
          <p:cNvPr id="19" name="">
            <a:extLst xmlns:a="http://schemas.openxmlformats.org/drawingml/2006/main">
              <a:ext uri="{FF2B5EF4-FFF2-40B4-BE49-F238E27FC236}">
                <a16:creationId xmlns:a16="http://schemas.microsoft.com/office/drawing/2014/main" id="{A50D4BF3-3D9C-490E-8A00-372185EC7C0C}"/>
              </a:ext>
            </a:extLst>
          </p:cNvPr>
          <p:cNvSpPr>
            <a:spLocks xmlns:a="http://schemas.openxmlformats.org/drawingml/2006/main" noGrp="1"/>
          </p:cNvSpPr>
          <p:nvPr/>
        </p:nvSpPr>
        <p:spPr>
          <a:xfrm xmlns:a="http://schemas.openxmlformats.org/drawingml/2006/main">
            <a:off x="2880360" y="2852928"/>
            <a:ext cx="2286000" cy="77724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20" name="">
            <a:extLst xmlns:a="http://schemas.openxmlformats.org/drawingml/2006/main">
              <a:ext uri="{FF2B5EF4-FFF2-40B4-BE49-F238E27FC236}">
                <a16:creationId xmlns:a16="http://schemas.microsoft.com/office/drawing/2014/main" id="{11256B1B-DC04-49A5-A691-D17C2BDC6594}"/>
              </a:ext>
            </a:extLst>
          </p:cNvPr>
          <p:cNvSpPr>
            <a:spLocks xmlns:a="http://schemas.openxmlformats.org/drawingml/2006/main" noGrp="1"/>
          </p:cNvSpPr>
          <p:nvPr/>
        </p:nvSpPr>
        <p:spPr>
          <a:xfrm xmlns:a="http://schemas.openxmlformats.org/drawingml/2006/main">
            <a:off x="2971800" y="2926080"/>
            <a:ext cx="2103120"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9:p xmlns:ns9="http://schemas.openxmlformats.org/drawingml/2006/main">
            <ns9:pPr algn="ctr">
              <ns9:defRPr sz="1650" b="1">
                <ns9:solidFill>
                  <ns9:srgbClr val="F4F7FA"/>
                </ns9:solidFill>
                <ns9:latin typeface="Arial"/>
                <ns9:ea typeface="Arial"/>
                <ns9:cs typeface="Arial"/>
              </ns9:defRPr>
            </ns9:pPr>
            <ns9:r>
              <ns9:rPr sz="1650" b="1">
                <ns9:solidFill>
                  <ns9:srgbClr val="F4F7FA"/>
                </ns9:solidFill>
                <ns9:latin typeface="Arial"/>
                <ns9:ea typeface="Arial"/>
                <ns9:cs typeface="Arial"/>
              </ns9:rPr>
              <ns9:t>Semantic check</ns9:t>
            </ns9:r>
          </ns9:p>
          <ns10:p xmlns:ns10="http://schemas.openxmlformats.org/drawingml/2006/main">
            <ns10:pPr algn="ctr">
              <ns10:defRPr sz="1650" b="1">
                <ns10:solidFill>
                  <ns10:srgbClr val="F4F7FA"/>
                </ns10:solidFill>
                <ns10:latin typeface="Arial"/>
                <ns10:ea typeface="Arial"/>
                <ns10:cs typeface="Arial"/>
              </ns10:defRPr>
            </ns10:pPr>
            <ns10:r>
              <ns10:rPr sz="1650" b="1">
                <ns10:solidFill>
                  <ns10:srgbClr val="F4F7FA"/>
                </ns10:solidFill>
                <ns10:latin typeface="Arial"/>
                <ns10:ea typeface="Arial"/>
                <ns10:cs typeface="Arial"/>
              </ns10:rPr>
              <ns10:t>against criteria (fallible)</ns10:t>
            </ns10:r>
          </ns10:p>
        </p:txBody>
      </p:sp>
      <p:sp>
        <p:nvSpPr>
          <p:cNvPr id="21" name="">
            <a:extLst xmlns:a="http://schemas.openxmlformats.org/drawingml/2006/main">
              <a:ext uri="{FF2B5EF4-FFF2-40B4-BE49-F238E27FC236}">
                <a16:creationId xmlns:a16="http://schemas.microsoft.com/office/drawing/2014/main" id="{9CDBE4DE-324A-4A59-8D60-DD1D9B8060DC}"/>
              </a:ext>
            </a:extLst>
          </p:cNvPr>
          <p:cNvSpPr>
            <a:spLocks xmlns:a="http://schemas.openxmlformats.org/drawingml/2006/main" noGrp="1"/>
          </p:cNvSpPr>
          <p:nvPr/>
        </p:nvSpPr>
        <p:spPr>
          <a:xfrm xmlns:a="http://schemas.openxmlformats.org/drawingml/2006/main">
            <a:off x="5623560" y="2852928"/>
            <a:ext cx="2743200" cy="77724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22" name="">
            <a:extLst xmlns:a="http://schemas.openxmlformats.org/drawingml/2006/main">
              <a:ext uri="{FF2B5EF4-FFF2-40B4-BE49-F238E27FC236}">
                <a16:creationId xmlns:a16="http://schemas.microsoft.com/office/drawing/2014/main" id="{848DDC07-43AD-448F-979B-B4B64A3E6C70}"/>
              </a:ext>
            </a:extLst>
          </p:cNvPr>
          <p:cNvSpPr>
            <a:spLocks xmlns:a="http://schemas.openxmlformats.org/drawingml/2006/main" noGrp="1"/>
          </p:cNvSpPr>
          <p:nvPr/>
        </p:nvSpPr>
        <p:spPr>
          <a:xfrm xmlns:a="http://schemas.openxmlformats.org/drawingml/2006/main">
            <a:off x="5715000" y="2926080"/>
            <a:ext cx="2560320"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1:p xmlns:ns11="http://schemas.openxmlformats.org/drawingml/2006/main">
            <ns11:pPr algn="ctr">
              <ns11:defRPr sz="1650" b="1">
                <ns11:solidFill>
                  <ns11:srgbClr val="F4F7FA"/>
                </ns11:solidFill>
                <ns11:latin typeface="Arial"/>
                <ns11:ea typeface="Arial"/>
                <ns11:cs typeface="Arial"/>
              </ns11:defRPr>
            </ns11:pPr>
            <ns11:r>
              <ns11:rPr sz="1650" b="1">
                <ns11:solidFill>
                  <ns11:srgbClr val="F4F7FA"/>
                </ns11:solidFill>
                <ns11:latin typeface="Arial"/>
                <ns11:ea typeface="Arial"/>
                <ns11:cs typeface="Arial"/>
              </ns11:rPr>
              <ns11:t>Permissions</ns11:t>
            </ns11:r>
          </ns11:p>
          <ns12:p xmlns:ns12="http://schemas.openxmlformats.org/drawingml/2006/main">
            <ns12:pPr algn="ctr">
              <ns12:defRPr sz="1650" b="1">
                <ns12:solidFill>
                  <ns12:srgbClr val="F4F7FA"/>
                </ns12:solidFill>
                <ns12:latin typeface="Arial"/>
                <ns12:ea typeface="Arial"/>
                <ns12:cs typeface="Arial"/>
              </ns12:defRPr>
            </ns12:pPr>
            <ns12:r>
              <ns12:rPr sz="1650" b="1">
                <ns12:solidFill>
                  <ns12:srgbClr val="F4F7FA"/>
                </ns12:solidFill>
                <ns12:latin typeface="Arial"/>
                <ns12:ea typeface="Arial"/>
                <ns12:cs typeface="Arial"/>
              </ns12:rPr>
              <ns12:t>+ required approval</ns12:t>
            </ns12:r>
          </ns12:p>
        </p:txBody>
      </p:sp>
      <p:sp>
        <p:nvSpPr>
          <p:cNvPr id="23" name="">
            <a:extLst xmlns:a="http://schemas.openxmlformats.org/drawingml/2006/main">
              <a:ext uri="{FF2B5EF4-FFF2-40B4-BE49-F238E27FC236}">
                <a16:creationId xmlns:a16="http://schemas.microsoft.com/office/drawing/2014/main" id="{E46E7D63-76F1-4B52-BEA5-093AC85CE8F3}"/>
              </a:ext>
            </a:extLst>
          </p:cNvPr>
          <p:cNvSpPr>
            <a:spLocks xmlns:a="http://schemas.openxmlformats.org/drawingml/2006/main" noGrp="1"/>
          </p:cNvSpPr>
          <p:nvPr/>
        </p:nvSpPr>
        <p:spPr>
          <a:xfrm xmlns:a="http://schemas.openxmlformats.org/drawingml/2006/main">
            <a:off x="8915400" y="2852928"/>
            <a:ext cx="2667305" cy="77724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24" name="">
            <a:extLst xmlns:a="http://schemas.openxmlformats.org/drawingml/2006/main">
              <a:ext uri="{FF2B5EF4-FFF2-40B4-BE49-F238E27FC236}">
                <a16:creationId xmlns:a16="http://schemas.microsoft.com/office/drawing/2014/main" id="{EF7A57C5-58A7-43E1-84E7-EF90BD6578AE}"/>
              </a:ext>
            </a:extLst>
          </p:cNvPr>
          <p:cNvSpPr>
            <a:spLocks xmlns:a="http://schemas.openxmlformats.org/drawingml/2006/main" noGrp="1"/>
          </p:cNvSpPr>
          <p:nvPr/>
        </p:nvSpPr>
        <p:spPr>
          <a:xfrm xmlns:a="http://schemas.openxmlformats.org/drawingml/2006/main">
            <a:off x="9006840" y="2926080"/>
            <a:ext cx="2484425"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3:p xmlns:ns13="http://schemas.openxmlformats.org/drawingml/2006/main">
            <ns13:pPr algn="ctr">
              <ns13:defRPr sz="1650" b="1">
                <ns13:solidFill>
                  <ns13:srgbClr val="F4F7FA"/>
                </ns13:solidFill>
                <ns13:latin typeface="Arial"/>
                <ns13:ea typeface="Arial"/>
                <ns13:cs typeface="Arial"/>
              </ns13:defRPr>
            </ns13:pPr>
            <ns13:r>
              <ns13:rPr sz="1650" b="1">
                <ns13:solidFill>
                  <ns13:srgbClr val="F4F7FA"/>
                </ns13:solidFill>
                <ns13:latin typeface="Arial"/>
                <ns13:ea typeface="Arial"/>
                <ns13:cs typeface="Arial"/>
              </ns13:rPr>
              <ns13:t>Deliver / execute</ns13:t>
            </ns13:r>
          </ns13:p>
          <ns14:p xmlns:ns14="http://schemas.openxmlformats.org/drawingml/2006/main">
            <ns14:pPr algn="ctr">
              <ns14:defRPr sz="1650" b="1">
                <ns14:solidFill>
                  <ns14:srgbClr val="F4F7FA"/>
                </ns14:solidFill>
                <ns14:latin typeface="Arial"/>
                <ns14:ea typeface="Arial"/>
                <ns14:cs typeface="Arial"/>
              </ns14:defRPr>
            </ns14:pPr>
            <ns14:r>
              <ns14:rPr sz="1650" b="1">
                <ns14:solidFill>
                  <ns14:srgbClr val="F4F7FA"/>
                </ns14:solidFill>
                <ns14:latin typeface="Arial"/>
                <ns14:ea typeface="Arial"/>
                <ns14:cs typeface="Arial"/>
              </ns14:rPr>
              <ns14:t>allowed result</ns14:t>
            </ns14:r>
          </ns14:p>
        </p:txBody>
      </p:sp>
      <p:sp>
        <p:nvSpPr>
          <p:cNvPr id="25" name="">
            <a:extLst xmlns:a="http://schemas.openxmlformats.org/drawingml/2006/main">
              <a:ext uri="{FF2B5EF4-FFF2-40B4-BE49-F238E27FC236}">
                <a16:creationId xmlns:a16="http://schemas.microsoft.com/office/drawing/2014/main" id="{A846C54A-61B5-49EB-A2AA-8916F704064F}"/>
              </a:ext>
            </a:extLst>
          </p:cNvPr>
          <p:cNvSpPr>
            <a:spLocks xmlns:a="http://schemas.openxmlformats.org/drawingml/2006/main" noGrp="1"/>
          </p:cNvSpPr>
          <p:nvPr/>
        </p:nvSpPr>
        <p:spPr>
          <a:xfrm xmlns:a="http://schemas.openxmlformats.org/drawingml/2006/main">
            <a:off x="609905" y="4864608"/>
            <a:ext cx="2342693" cy="612648"/>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26" name="">
            <a:extLst xmlns:a="http://schemas.openxmlformats.org/drawingml/2006/main">
              <a:ext uri="{FF2B5EF4-FFF2-40B4-BE49-F238E27FC236}">
                <a16:creationId xmlns:a16="http://schemas.microsoft.com/office/drawing/2014/main" id="{F6FAF461-AF04-42A6-8804-00F134B4C90F}"/>
              </a:ext>
            </a:extLst>
          </p:cNvPr>
          <p:cNvSpPr>
            <a:spLocks xmlns:a="http://schemas.openxmlformats.org/drawingml/2006/main" noGrp="1"/>
          </p:cNvSpPr>
          <p:nvPr/>
        </p:nvSpPr>
        <p:spPr>
          <a:xfrm xmlns:a="http://schemas.openxmlformats.org/drawingml/2006/main">
            <a:off x="701345" y="4910328"/>
            <a:ext cx="2159813"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5:p xmlns:ns25="http://schemas.openxmlformats.org/drawingml/2006/main">
            <ns25:pPr algn="ctr">
              <ns25:defRPr sz="1550" b="1">
                <ns25:solidFill>
                  <ns25:srgbClr val="F4F7FA"/>
                </ns25:solidFill>
                <ns25:latin typeface="Arial"/>
                <ns25:ea typeface="Arial"/>
                <ns25:cs typeface="Arial"/>
              </ns25:defRPr>
            </ns25:pPr>
            <ns25:r>
              <ns25:rPr sz="1550" b="1">
                <ns25:solidFill>
                  <ns25:srgbClr val="F4F7FA"/>
                </ns25:solidFill>
                <ns25:latin typeface="Arial"/>
                <ns25:ea typeface="Arial"/>
                <ns25:cs typeface="Arial"/>
              </ns25:rPr>
              <ns25:t>Observe all paths</ns25:t>
            </ns25:r>
          </ns25:p>
          <ns26:p xmlns:ns26="http://schemas.openxmlformats.org/drawingml/2006/main">
            <ns26:pPr algn="ctr">
              <ns26:defRPr sz="1550" b="1">
                <ns26:solidFill>
                  <ns26:srgbClr val="F4F7FA"/>
                </ns26:solidFill>
                <ns26:latin typeface="Arial"/>
                <ns26:ea typeface="Arial"/>
                <ns26:cs typeface="Arial"/>
              </ns26:defRPr>
            </ns26:pPr>
            <ns26:r>
              <ns26:rPr sz="1550" b="1">
                <ns26:solidFill>
                  <ns26:srgbClr val="F4F7FA"/>
                </ns26:solidFill>
                <ns26:latin typeface="Arial"/>
                <ns26:ea typeface="Arial"/>
                <ns26:cs typeface="Arial"/>
              </ns26:rPr>
              <ns26:t>+ control health</ns26:t>
            </ns26:r>
          </ns26:p>
        </p:txBody>
      </p:sp>
      <p:sp>
        <p:nvSpPr>
          <p:cNvPr id="32" name="">
            <a:extLst xmlns:a="http://schemas.openxmlformats.org/drawingml/2006/main">
              <a:ext uri="{FF2B5EF4-FFF2-40B4-BE49-F238E27FC236}">
                <a16:creationId xmlns:a16="http://schemas.microsoft.com/office/drawing/2014/main" id="{C50C6019-B208-4301-BBF3-B012058EBA58}"/>
              </a:ext>
            </a:extLst>
          </p:cNvPr>
          <p:cNvSpPr>
            <a:spLocks xmlns:a="http://schemas.openxmlformats.org/drawingml/2006/main" noGrp="1"/>
          </p:cNvSpPr>
          <p:nvPr/>
        </p:nvSpPr>
        <p:spPr>
          <a:xfrm xmlns:a="http://schemas.openxmlformats.org/drawingml/2006/main">
            <a:off x="5532120" y="2487168"/>
            <a:ext cx="3017520" cy="2651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1:p xmlns:ns21="http://schemas.openxmlformats.org/drawingml/2006/main">
            <ns21:pPr algn="ctr">
              <ns21:defRPr sz="1400" b="1">
                <ns21:solidFill>
                  <ns21:srgbClr val="ADB8C5"/>
                </ns21:solidFill>
                <ns21:latin typeface="Arial"/>
                <ns21:ea typeface="Arial"/>
                <ns21:cs typeface="Arial"/>
              </ns21:defRPr>
            </ns21:pPr>
            <ns21:r>
              <ns21:rPr sz="1400" b="1">
                <ns21:solidFill>
                  <ns21:srgbClr val="ADB8C5"/>
                </ns21:solidFill>
                <ns21:latin typeface="Arial"/>
                <ns21:ea typeface="Arial"/>
                <ns21:cs typeface="Arial"/>
              </ns21:rPr>
              <ns21:t>Human authority when required</ns21:t>
            </ns21:r>
          </ns21:p>
        </p:txBody>
      </p:sp>
      <p:sp>
        <p:nvSpPr>
          <p:cNvPr id="33" name="">
            <a:extLst xmlns:a="http://schemas.openxmlformats.org/drawingml/2006/main">
              <a:ext uri="{FF2B5EF4-FFF2-40B4-BE49-F238E27FC236}">
                <a16:creationId xmlns:a16="http://schemas.microsoft.com/office/drawing/2014/main" id="{D6791283-D580-4B7E-AD48-D0A17F97A193}"/>
              </a:ext>
            </a:extLst>
          </p:cNvPr>
          <p:cNvSpPr>
            <a:spLocks xmlns:a="http://schemas.openxmlformats.org/drawingml/2006/main" noGrp="1"/>
          </p:cNvSpPr>
          <p:nvPr/>
        </p:nvSpPr>
        <p:spPr>
          <a:xfrm xmlns:a="http://schemas.openxmlformats.org/drawingml/2006/main">
            <a:off x="609905" y="3904488"/>
            <a:ext cx="4114800" cy="576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2:p xmlns:ns22="http://schemas.openxmlformats.org/drawingml/2006/main">
            <ns22:pPr algn="l">
              <ns22:defRPr sz="1550" b="0">
                <ns22:solidFill>
                  <ns22:srgbClr val="ADB8C5"/>
                </ns22:solidFill>
                <ns22:latin typeface="Arial"/>
                <ns22:ea typeface="Arial"/>
                <ns22:cs typeface="Arial"/>
              </ns22:defRPr>
            </ns22:pPr>
            <ns22:r>
              <ns22:rPr sz="1550" b="0">
                <ns22:solidFill>
                  <ns22:srgbClr val="ADB8C5"/>
                </ns22:solidFill>
                <ns22:latin typeface="Arial"/>
                <ns22:ea typeface="Arial"/>
                <ns22:cs typeface="Arial"/>
              </ns22:rPr>
              <ns22:t>People need context, competence,</ns22:t>
            </ns22:r>
          </ns22:p>
          <ns23:p xmlns:ns23="http://schemas.openxmlformats.org/drawingml/2006/main">
            <ns23:pPr algn="l">
              <ns23:defRPr sz="1550" b="0">
                <ns23:solidFill>
                  <ns23:srgbClr val="ADB8C5"/>
                </ns23:solidFill>
                <ns23:latin typeface="Arial"/>
                <ns23:ea typeface="Arial"/>
                <ns23:cs typeface="Arial"/>
              </ns23:defRPr>
            </ns23:pPr>
            <ns23:r>
              <ns23:rPr sz="1550" b="0">
                <ns23:solidFill>
                  <ns23:srgbClr val="ADB8C5"/>
                </ns23:solidFill>
                <ns23:latin typeface="Arial"/>
                <ns23:ea typeface="Arial"/>
                <ns23:cs typeface="Arial"/>
              </ns23:rPr>
              <ns23:t>decision rights, time and capacity.</ns23:t>
            </ns23:r>
          </ns23:p>
        </p:txBody>
      </p:sp>
      <p:sp>
        <p:nvSpPr>
          <p:cNvPr id="34" name="">
            <a:extLst xmlns:a="http://schemas.openxmlformats.org/drawingml/2006/main">
              <a:ext uri="{FF2B5EF4-FFF2-40B4-BE49-F238E27FC236}">
                <a16:creationId xmlns:a16="http://schemas.microsoft.com/office/drawing/2014/main" id="{740884A1-A114-498E-9E22-D4DDAF470BDA}"/>
              </a:ext>
            </a:extLst>
          </p:cNvPr>
          <p:cNvSpPr>
            <a:spLocks xmlns:a="http://schemas.openxmlformats.org/drawingml/2006/main" noGrp="1"/>
          </p:cNvSpPr>
          <p:nvPr/>
        </p:nvSpPr>
        <p:spPr>
          <a:xfrm xmlns:a="http://schemas.openxmlformats.org/drawingml/2006/main">
            <a:off x="5212080" y="3995928"/>
            <a:ext cx="6370625" cy="50292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35" name="">
            <a:extLst xmlns:a="http://schemas.openxmlformats.org/drawingml/2006/main">
              <a:ext uri="{FF2B5EF4-FFF2-40B4-BE49-F238E27FC236}">
                <a16:creationId xmlns:a16="http://schemas.microsoft.com/office/drawing/2014/main" id="{8800BFA1-0DCF-4D5D-ACC2-69C8A8B066A1}"/>
              </a:ext>
            </a:extLst>
          </p:cNvPr>
          <p:cNvSpPr>
            <a:spLocks xmlns:a="http://schemas.openxmlformats.org/drawingml/2006/main" noGrp="1"/>
          </p:cNvSpPr>
          <p:nvPr/>
        </p:nvSpPr>
        <p:spPr>
          <a:xfrm xmlns:a="http://schemas.openxmlformats.org/drawingml/2006/main">
            <a:off x="5330952" y="4059936"/>
            <a:ext cx="6132881" cy="3566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4:p xmlns:ns24="http://schemas.openxmlformats.org/drawingml/2006/main">
            <ns24:pPr algn="ctr">
              <ns24:defRPr sz="1600" b="1">
                <ns24:solidFill>
                  <ns24:srgbClr val="F4F7FA"/>
                </ns24:solidFill>
                <ns24:latin typeface="Arial"/>
                <ns24:ea typeface="Arial"/>
                <ns24:cs typeface="Arial"/>
              </ns24:defRPr>
            </ns24:pPr>
            <ns24:r>
              <ns24:rPr sz="1600" b="1">
                <ns24:solidFill>
                  <ns24:srgbClr val="F4F7FA"/>
                </ns24:solidFill>
                <ns24:latin typeface="Arial"/>
                <ns24:ea typeface="Arial"/>
                <ns24:cs typeface="Arial"/>
              </ns24:rPr>
              <ns24:t>Rejected, denied or unavailable → deny / safe fallback</ns24:t>
            </ns24:r>
          </ns24:p>
        </p:txBody>
      </p:sp>
      <p:sp>
        <p:nvSpPr>
          <p:cNvPr id="37" name="">
            <a:extLst xmlns:a="http://schemas.openxmlformats.org/drawingml/2006/main">
              <a:ext uri="{FF2B5EF4-FFF2-40B4-BE49-F238E27FC236}">
                <a16:creationId xmlns:a16="http://schemas.microsoft.com/office/drawing/2014/main" id="{1A3C97EC-4344-4C08-9A5D-94787457A1FD}"/>
              </a:ext>
            </a:extLst>
          </p:cNvPr>
          <p:cNvSpPr>
            <a:spLocks xmlns:a="http://schemas.openxmlformats.org/drawingml/2006/main" noGrp="1"/>
          </p:cNvSpPr>
          <p:nvPr/>
        </p:nvSpPr>
        <p:spPr>
          <a:xfrm xmlns:a="http://schemas.openxmlformats.org/drawingml/2006/main">
            <a:off x="3485693" y="4864608"/>
            <a:ext cx="2342693" cy="612648"/>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38" name="">
            <a:extLst xmlns:a="http://schemas.openxmlformats.org/drawingml/2006/main">
              <a:ext uri="{FF2B5EF4-FFF2-40B4-BE49-F238E27FC236}">
                <a16:creationId xmlns:a16="http://schemas.microsoft.com/office/drawing/2014/main" id="{55B05C80-ECE3-459B-824A-0DAF9401B991}"/>
              </a:ext>
            </a:extLst>
          </p:cNvPr>
          <p:cNvSpPr>
            <a:spLocks xmlns:a="http://schemas.openxmlformats.org/drawingml/2006/main" noGrp="1"/>
          </p:cNvSpPr>
          <p:nvPr/>
        </p:nvSpPr>
        <p:spPr>
          <a:xfrm xmlns:a="http://schemas.openxmlformats.org/drawingml/2006/main">
            <a:off x="3577133" y="4910328"/>
            <a:ext cx="2159813"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7:p xmlns:ns27="http://schemas.openxmlformats.org/drawingml/2006/main">
            <ns27:pPr algn="ctr">
              <ns27:defRPr sz="1550" b="1">
                <ns27:solidFill>
                  <ns27:srgbClr val="F4F7FA"/>
                </ns27:solidFill>
                <ns27:latin typeface="Arial"/>
                <ns27:ea typeface="Arial"/>
                <ns27:cs typeface="Arial"/>
              </ns27:defRPr>
            </ns27:pPr>
            <ns27:r>
              <ns27:rPr sz="1550" b="1">
                <ns27:solidFill>
                  <ns27:srgbClr val="F4F7FA"/>
                </ns27:solidFill>
                <ns27:latin typeface="Arial"/>
                <ns27:ea typeface="Arial"/>
                <ns27:cs typeface="Arial"/>
              </ns27:rPr>
              <ns27:t>Compare with limits</ns27:t>
            </ns27:r>
          </ns27:p>
          <ns28:p xmlns:ns28="http://schemas.openxmlformats.org/drawingml/2006/main">
            <ns28:pPr algn="ctr">
              <ns28:defRPr sz="1550" b="1">
                <ns28:solidFill>
                  <ns28:srgbClr val="F4F7FA"/>
                </ns28:solidFill>
                <ns28:latin typeface="Arial"/>
                <ns28:ea typeface="Arial"/>
                <ns28:cs typeface="Arial"/>
              </ns28:defRPr>
            </ns28:pPr>
            <ns28:r>
              <ns28:rPr sz="1550" b="1">
                <ns28:solidFill>
                  <ns28:srgbClr val="F4F7FA"/>
                </ns28:solidFill>
                <ns28:latin typeface="Arial"/>
                <ns28:ea typeface="Arial"/>
                <ns28:cs typeface="Arial"/>
              </ns28:rPr>
              <ns28:t>Authorize correction</ns28:t>
            </ns28:r>
          </ns28:p>
        </p:txBody>
      </p:sp>
      <p:sp>
        <p:nvSpPr>
          <p:cNvPr id="39" name="">
            <a:extLst xmlns:a="http://schemas.openxmlformats.org/drawingml/2006/main">
              <a:ext uri="{FF2B5EF4-FFF2-40B4-BE49-F238E27FC236}">
                <a16:creationId xmlns:a16="http://schemas.microsoft.com/office/drawing/2014/main" id="{7978E11A-C14A-471A-BC2B-49C1A2892816}"/>
              </a:ext>
            </a:extLst>
          </p:cNvPr>
          <p:cNvSpPr>
            <a:spLocks xmlns:a="http://schemas.openxmlformats.org/drawingml/2006/main" noGrp="1"/>
          </p:cNvSpPr>
          <p:nvPr/>
        </p:nvSpPr>
        <p:spPr>
          <a:xfrm xmlns:a="http://schemas.openxmlformats.org/drawingml/2006/main">
            <a:off x="6362395" y="4864608"/>
            <a:ext cx="2342693" cy="612648"/>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40" name="">
            <a:extLst xmlns:a="http://schemas.openxmlformats.org/drawingml/2006/main">
              <a:ext uri="{FF2B5EF4-FFF2-40B4-BE49-F238E27FC236}">
                <a16:creationId xmlns:a16="http://schemas.microsoft.com/office/drawing/2014/main" id="{79510CC5-E602-4BEA-81EC-84829DD7A521}"/>
              </a:ext>
            </a:extLst>
          </p:cNvPr>
          <p:cNvSpPr>
            <a:spLocks xmlns:a="http://schemas.openxmlformats.org/drawingml/2006/main" noGrp="1"/>
          </p:cNvSpPr>
          <p:nvPr/>
        </p:nvSpPr>
        <p:spPr>
          <a:xfrm xmlns:a="http://schemas.openxmlformats.org/drawingml/2006/main">
            <a:off x="6453835" y="4910328"/>
            <a:ext cx="2159813"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9:p xmlns:ns29="http://schemas.openxmlformats.org/drawingml/2006/main">
            <ns29:pPr algn="ctr">
              <ns29:defRPr sz="1550" b="1">
                <ns29:solidFill>
                  <ns29:srgbClr val="F4F7FA"/>
                </ns29:solidFill>
                <ns29:latin typeface="Arial"/>
                <ns29:ea typeface="Arial"/>
                <ns29:cs typeface="Arial"/>
              </ns29:defRPr>
            </ns29:pPr>
            <ns29:r>
              <ns29:rPr sz="1550" b="1">
                <ns29:solidFill>
                  <ns29:srgbClr val="F4F7FA"/>
                </ns29:solidFill>
                <ns29:latin typeface="Arial"/>
                <ns29:ea typeface="Arial"/>
                <ns29:cs typeface="Arial"/>
              </ns29:rPr>
              <ns29:t>Intervene</ns29:t>
            </ns29:r>
          </ns29:p>
          <ns30:p xmlns:ns30="http://schemas.openxmlformats.org/drawingml/2006/main">
            <ns30:pPr algn="ctr">
              <ns30:defRPr sz="1550" b="1">
                <ns30:solidFill>
                  <ns30:srgbClr val="F4F7FA"/>
                </ns30:solidFill>
                <ns30:latin typeface="Arial"/>
                <ns30:ea typeface="Arial"/>
                <ns30:cs typeface="Arial"/>
              </ns30:defRPr>
            </ns30:pPr>
            <ns30:r>
              <ns30:rPr sz="1550" b="1">
                <ns30:solidFill>
                  <ns30:srgbClr val="F4F7FA"/>
                </ns30:solidFill>
                <ns30:latin typeface="Arial"/>
                <ns30:ea typeface="Arial"/>
                <ns30:cs typeface="Arial"/>
              </ns30:rPr>
              <ns30:t>Stop / narrow</ns30:t>
            </ns30:r>
          </ns30:p>
        </p:txBody>
      </p:sp>
      <p:sp>
        <p:nvSpPr>
          <p:cNvPr id="43" name="">
            <a:extLst xmlns:a="http://schemas.openxmlformats.org/drawingml/2006/main">
              <a:ext uri="{FF2B5EF4-FFF2-40B4-BE49-F238E27FC236}">
                <a16:creationId xmlns:a16="http://schemas.microsoft.com/office/drawing/2014/main" id="{B6E45796-14C1-4467-8903-FC7FADFDCEB9}"/>
              </a:ext>
            </a:extLst>
          </p:cNvPr>
          <p:cNvSpPr>
            <a:spLocks xmlns:a="http://schemas.openxmlformats.org/drawingml/2006/main" noGrp="1"/>
          </p:cNvSpPr>
          <p:nvPr/>
        </p:nvSpPr>
        <p:spPr>
          <a:xfrm xmlns:a="http://schemas.openxmlformats.org/drawingml/2006/main">
            <a:off x="609905" y="6355080"/>
            <a:ext cx="10652760"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40:p xmlns:ns40="http://schemas.openxmlformats.org/drawingml/2006/main">
            <ns40:pPr algn="l">
              <ns40:defRPr sz="1600" b="1">
                <ns40:solidFill>
                  <ns40:srgbClr val="ADB8C5"/>
                </ns40:solidFill>
                <ns40:latin typeface="Arial"/>
                <ns40:ea typeface="Arial"/>
                <ns40:cs typeface="Arial"/>
              </ns40:defRPr>
            </ns40:pPr>
            <ns40:r>
              <ns40:rPr sz="1600" b="1">
                <ns40:solidFill>
                  <ns40:srgbClr val="ADB8C5"/>
                </ns40:solidFill>
                <ns40:latin typeface="Arial"/>
                <ns40:ea typeface="Arial"/>
                <ns40:cs typeface="Arial"/>
              </ns40:rPr>
              <ns40:t>Check access before disclosure. Feedback cannot undo an irreversible effect.</ns40:t>
            </ns40:r>
          </ns40:p>
        </p:txBody>
      </p:sp>
      <p:sp>
        <p:nvSpPr>
          <p:cNvPr id="44" name="">
            <a:extLst xmlns:a="http://schemas.openxmlformats.org/drawingml/2006/main">
              <a:ext uri="{FF2B5EF4-FFF2-40B4-BE49-F238E27FC236}">
                <a16:creationId xmlns:a16="http://schemas.microsoft.com/office/drawing/2014/main" id="{F2C5F20A-11F9-4E42-9448-BC6B155E876D}"/>
              </a:ext>
            </a:extLst>
          </p:cNvPr>
          <p:cNvSpPr>
            <a:spLocks xmlns:a="http://schemas.openxmlformats.org/drawingml/2006/main" noGrp="1"/>
          </p:cNvSpPr>
          <p:nvPr/>
        </p:nvSpPr>
        <p:spPr>
          <a:xfrm xmlns:a="http://schemas.openxmlformats.org/drawingml/2006/main" flipH="0" flipV="0">
            <a:off x="609905" y="5879592"/>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51" name="">
            <a:extLst xmlns:a="http://schemas.openxmlformats.org/drawingml/2006/main">
              <a:ext uri="{FF2B5EF4-FFF2-40B4-BE49-F238E27FC236}">
                <a16:creationId xmlns:a16="http://schemas.microsoft.com/office/drawing/2014/main" id="{329EEAA4-EBB4-4039-9DB7-5B5012CFC9E8}"/>
              </a:ext>
            </a:extLst>
          </p:cNvPr>
          <p:cNvSpPr>
            <a:spLocks xmlns:a="http://schemas.openxmlformats.org/drawingml/2006/main" noGrp="1"/>
          </p:cNvSpPr>
          <p:nvPr/>
        </p:nvSpPr>
        <p:spPr>
          <a:xfrm xmlns:a="http://schemas.openxmlformats.org/drawingml/2006/main">
            <a:off x="609905" y="5989320"/>
            <a:ext cx="10881360"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39:p xmlns:ns39="http://schemas.openxmlformats.org/drawingml/2006/main">
            <ns39:pPr algn="l">
              <ns39:defRPr sz="1700" b="1">
                <ns39:solidFill>
                  <ns39:srgbClr val="F4F7FA"/>
                </ns39:solidFill>
                <ns39:latin typeface="Arial"/>
                <ns39:ea typeface="Arial"/>
                <ns39:cs typeface="Arial"/>
              </ns39:defRPr>
            </ns39:pPr>
            <ns39:r>
              <ns39:rPr sz="1700" b="1">
                <ns39:solidFill>
                  <ns39:srgbClr val="F4F7FA"/>
                </ns39:solidFill>
                <ns39:latin typeface="Arial"/>
                <ns39:ea typeface="Arial"/>
                <ns39:cs typeface="Arial"/>
              </ns39:rPr>
              <ns39:t>Validate control effectiveness. Telemetry alone does not establish correctness.</ns39:t>
            </ns39:r>
          </ns39:p>
        </p:txBody>
      </p:sp>
      <p:sp>
        <p:nvSpPr>
          <p:cNvPr id="72" name="DevCon R2 72"/>
          <p:cNvSpPr>
            <a:spLocks xmlns:a="http://schemas.openxmlformats.org/drawingml/2006/main" noGrp="1"/>
          </p:cNvSpPr>
          <p:nvPr/>
        </p:nvSpPr>
        <p:spPr>
          <a:xfrm xmlns:a="http://schemas.openxmlformats.org/drawingml/2006/main">
            <a:off x="4023360" y="3630168"/>
            <a:ext cx="4370832" cy="365760"/>
          </a:xfrm>
          <a:custGeom xmlns:a="http://schemas.openxmlformats.org/drawingml/2006/main">
            <a:pathLst>
              <a:path w="4370832" h="365760">
                <a:moveTo>
                  <a:pt x="0" y="0"/>
                </a:moveTo>
                <a:lnTo>
                  <a:pt x="0" y="146304"/>
                </a:lnTo>
                <a:lnTo>
                  <a:pt x="4370832" y="146304"/>
                </a:lnTo>
                <a:lnTo>
                  <a:pt x="4370832" y="365760"/>
                </a:lnTo>
              </a:path>
            </a:pathLst>
          </a:custGeom>
          <a:noFill xmlns:a="http://schemas.openxmlformats.org/drawingml/2006/main"/>
          <a:ln xmlns:a="http://schemas.openxmlformats.org/drawingml/2006/main" w="16193">
            <a:solidFill>
              <a:srgbClr val="F5B61C"/>
            </a:solidFill>
            <a:prstDash val="solid"/>
            <a:tailEnd type="triangle" w="med" len="med"/>
          </a:ln>
        </p:spPr>
      </p:sp>
      <p:sp>
        <p:nvSpPr>
          <p:cNvPr id="73" name="DevCon R2 73"/>
          <p:cNvSpPr>
            <a:spLocks xmlns:a="http://schemas.openxmlformats.org/drawingml/2006/main" noGrp="1"/>
          </p:cNvSpPr>
          <p:nvPr/>
        </p:nvSpPr>
        <p:spPr>
          <a:xfrm xmlns:a="http://schemas.openxmlformats.org/drawingml/2006/main">
            <a:off x="6995160" y="3630168"/>
            <a:ext cx="0" cy="146304"/>
          </a:xfrm>
          <a:custGeom xmlns:a="http://schemas.openxmlformats.org/drawingml/2006/main">
            <a:pathLst>
              <a:path w="0" h="146304">
                <a:moveTo>
                  <a:pt x="0" y="0"/>
                </a:moveTo>
                <a:lnTo>
                  <a:pt x="0" y="146304"/>
                </a:lnTo>
              </a:path>
            </a:pathLst>
          </a:custGeom>
          <a:noFill xmlns:a="http://schemas.openxmlformats.org/drawingml/2006/main"/>
          <a:ln xmlns:a="http://schemas.openxmlformats.org/drawingml/2006/main" w="16193">
            <a:solidFill>
              <a:srgbClr val="F5B61C"/>
            </a:solidFill>
            <a:prstDash val="solid"/>
          </a:ln>
        </p:spPr>
      </p:sp>
      <p:sp>
        <p:nvSpPr>
          <p:cNvPr id="80" name="DevCon R2 80"/>
          <p:cNvSpPr>
            <a:spLocks xmlns:a="http://schemas.openxmlformats.org/drawingml/2006/main" noGrp="1"/>
          </p:cNvSpPr>
          <p:nvPr/>
        </p:nvSpPr>
        <p:spPr>
          <a:xfrm xmlns:a="http://schemas.openxmlformats.org/drawingml/2006/main">
            <a:off x="9239098" y="4864608"/>
            <a:ext cx="2342693" cy="612648"/>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81" name="DevCon R2 81"/>
          <p:cNvSpPr>
            <a:spLocks xmlns:a="http://schemas.openxmlformats.org/drawingml/2006/main" noGrp="1"/>
          </p:cNvSpPr>
          <p:nvPr/>
        </p:nvSpPr>
        <p:spPr>
          <a:xfrm xmlns:a="http://schemas.openxmlformats.org/drawingml/2006/main">
            <a:off x="9330538" y="4910328"/>
            <a:ext cx="2159813"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31:p xmlns:ns31="http://schemas.openxmlformats.org/drawingml/2006/main">
            <ns31:pPr algn="ctr">
              <ns31:defRPr sz="1550" b="1">
                <ns31:solidFill>
                  <ns31:srgbClr val="F4F7FA"/>
                </ns31:solidFill>
                <ns31:latin typeface="Arial"/>
                <ns31:ea typeface="Arial"/>
                <ns31:cs typeface="Arial"/>
              </ns31:defRPr>
            </ns31:pPr>
            <ns31:r>
              <ns31:rPr sz="1550" b="1">
                <ns31:solidFill>
                  <ns31:srgbClr val="F4F7FA"/>
                </ns31:solidFill>
                <ns31:latin typeface="Arial"/>
                <ns31:ea typeface="Arial"/>
                <ns31:cs typeface="Arial"/>
              </ns31:rPr>
              <ns31:t>Verify effect</ns31:t>
            </ns31:r>
          </ns31:p>
          <ns32:p xmlns:ns32="http://schemas.openxmlformats.org/drawingml/2006/main">
            <ns32:pPr algn="ctr">
              <ns32:defRPr sz="1550" b="1">
                <ns32:solidFill>
                  <ns32:srgbClr val="F4F7FA"/>
                </ns32:solidFill>
                <ns32:latin typeface="Arial"/>
                <ns32:ea typeface="Arial"/>
                <ns32:cs typeface="Arial"/>
              </ns32:defRPr>
            </ns32:pPr>
            <ns32:r>
              <ns32:rPr sz="1550" b="1">
                <ns32:solidFill>
                  <ns32:srgbClr val="F4F7FA"/>
                </ns32:solidFill>
                <ns32:latin typeface="Arial"/>
                <ns32:ea typeface="Arial"/>
                <ns32:cs typeface="Arial"/>
              </ns32:rPr>
              <ns32:t>and control health</ns32:t>
            </ns32:r>
          </ns32:p>
        </p:txBody>
      </p:sp>
      <p:cxnSp>
        <p:nvCxnSpPr>
          <p:cNvPr id="74" name="DevCon R2 74"/>
          <p:cNvCxnSpPr>
            <ns33:stCxn xmlns:ns33="http://schemas.openxmlformats.org/drawingml/2006/main" id="25" idx="3"/>
            <ns34:endCxn xmlns:ns34="http://schemas.openxmlformats.org/drawingml/2006/main" id="37" idx="1"/>
          </p:cNvCxnSpPr>
          <p:nvPr/>
        </p:nvCxnSpPr>
        <p:spPr>
          <a:xfrm xmlns:a="http://schemas.openxmlformats.org/drawingml/2006/main">
            <a:off x="2952598" y="5170932"/>
            <a:ext cx="533095" cy="0"/>
          </a:xfrm>
          <a:prstGeom xmlns:a="http://schemas.openxmlformats.org/drawingml/2006/main" prst="straightConnector1">
            <a:avLst/>
          </a:prstGeom>
          <a:ln xmlns:a="http://schemas.openxmlformats.org/drawingml/2006/main" w="19050">
            <a:solidFill>
              <a:srgbClr val="28C7F7"/>
            </a:solidFill>
            <a:prstDash val="solid"/>
            <a:tailEnd type="triangle" w="sm" len="sm"/>
          </a:ln>
        </p:spPr>
      </p:cxnSp>
      <p:cxnSp>
        <p:nvCxnSpPr>
          <p:cNvPr id="75" name="DevCon R2 75"/>
          <p:cNvCxnSpPr>
            <ns35:stCxn xmlns:ns35="http://schemas.openxmlformats.org/drawingml/2006/main" id="37" idx="3"/>
            <ns36:endCxn xmlns:ns36="http://schemas.openxmlformats.org/drawingml/2006/main" id="39" idx="1"/>
          </p:cNvCxnSpPr>
          <p:nvPr/>
        </p:nvCxnSpPr>
        <p:spPr>
          <a:xfrm xmlns:a="http://schemas.openxmlformats.org/drawingml/2006/main">
            <a:off x="5828386" y="5170932"/>
            <a:ext cx="534010" cy="0"/>
          </a:xfrm>
          <a:prstGeom xmlns:a="http://schemas.openxmlformats.org/drawingml/2006/main" prst="straightConnector1">
            <a:avLst/>
          </a:prstGeom>
          <a:ln xmlns:a="http://schemas.openxmlformats.org/drawingml/2006/main" w="19050">
            <a:solidFill>
              <a:srgbClr val="F5B61C"/>
            </a:solidFill>
            <a:prstDash val="solid"/>
            <a:tailEnd type="triangle" w="sm" len="sm"/>
          </a:ln>
        </p:spPr>
      </p:cxnSp>
      <p:cxnSp>
        <p:nvCxnSpPr>
          <p:cNvPr id="76" name="DevCon R2 76"/>
          <p:cNvCxnSpPr>
            <ns37:stCxn xmlns:ns37="http://schemas.openxmlformats.org/drawingml/2006/main" id="39" idx="3"/>
            <ns38:endCxn xmlns:ns38="http://schemas.openxmlformats.org/drawingml/2006/main" id="80" idx="1"/>
          </p:cNvCxnSpPr>
          <p:nvPr/>
        </p:nvCxnSpPr>
        <p:spPr>
          <a:xfrm xmlns:a="http://schemas.openxmlformats.org/drawingml/2006/main">
            <a:off x="8705088" y="5170932"/>
            <a:ext cx="534010" cy="0"/>
          </a:xfrm>
          <a:prstGeom xmlns:a="http://schemas.openxmlformats.org/drawingml/2006/main" prst="straightConnector1">
            <a:avLst/>
          </a:prstGeom>
          <a:ln xmlns:a="http://schemas.openxmlformats.org/drawingml/2006/main" w="19050">
            <a:solidFill>
              <a:srgbClr val="F5B61C"/>
            </a:solidFill>
            <a:prstDash val="solid"/>
            <a:tailEnd type="triangle" w="sm" len="sm"/>
          </a:ln>
        </p:spPr>
      </p:cxnSp>
      <p:sp>
        <p:nvSpPr>
          <p:cNvPr id="77" name="DevCon R2 77"/>
          <p:cNvSpPr>
            <a:spLocks xmlns:a="http://schemas.openxmlformats.org/drawingml/2006/main" noGrp="1"/>
          </p:cNvSpPr>
          <p:nvPr/>
        </p:nvSpPr>
        <p:spPr>
          <a:xfrm xmlns:a="http://schemas.openxmlformats.org/drawingml/2006/main">
            <a:off x="438912" y="5170932"/>
            <a:ext cx="11320272" cy="534924"/>
          </a:xfrm>
          <a:custGeom xmlns:a="http://schemas.openxmlformats.org/drawingml/2006/main">
            <a:pathLst>
              <a:path w="11320272" h="534924">
                <a:moveTo>
                  <a:pt x="11142878" y="0"/>
                </a:moveTo>
                <a:lnTo>
                  <a:pt x="11320272" y="0"/>
                </a:lnTo>
                <a:lnTo>
                  <a:pt x="11320272" y="534924"/>
                </a:lnTo>
                <a:lnTo>
                  <a:pt x="0" y="534924"/>
                </a:lnTo>
                <a:lnTo>
                  <a:pt x="0" y="0"/>
                </a:lnTo>
                <a:lnTo>
                  <a:pt x="170993" y="0"/>
                </a:lnTo>
              </a:path>
            </a:pathLst>
          </a:custGeom>
          <a:noFill xmlns:a="http://schemas.openxmlformats.org/drawingml/2006/main"/>
          <a:ln xmlns:a="http://schemas.openxmlformats.org/drawingml/2006/main" w="16193">
            <a:solidFill>
              <a:srgbClr val="28C7F7"/>
            </a:solidFill>
            <a:prstDash val="dash"/>
            <a:tailEnd type="triangle" w="med" len="med"/>
          </a:ln>
        </p:spPr>
      </p:sp>
    </p:spTree>
    <p:extLst>
      <p:ext uri="{BB962C8B-B14F-4D97-AF65-F5344CB8AC3E}">
        <p14:creationId xmlns:p14="http://schemas.microsoft.com/office/powerpoint/2010/main" val="1557323077"/>
      </p:ext>
    </p:extLst>
  </p:cSld>
</p:sld>
</file>

<file path=ppt/slides/slide9.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EC311F6-0BA4-4BE3-8BFD-0368004EF02D}"/>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The Roles Move With the System</a:t>
            </a:r>
          </a:p>
        </p:txBody>
      </p:sp>
      <p:sp>
        <p:nvSpPr>
          <p:cNvPr id="2" name="">
            <a:extLst xmlns:a="http://schemas.openxmlformats.org/drawingml/2006/main">
              <a:ext uri="{FF2B5EF4-FFF2-40B4-BE49-F238E27FC236}">
                <a16:creationId xmlns:a16="http://schemas.microsoft.com/office/drawing/2014/main" id="{0ABB76D7-AF86-4672-A7DE-07D96532901C}"/>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7980B3B9-F68D-4C71-8B4C-B4F3D65C79A5}"/>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38F8D421-0997-4034-9E75-C9B1CFEDEBAE}"/>
              </a:ext>
            </a:extLst>
          </p:cNvPr>
          <p:cNvSpPr>
            <a:spLocks xmlns:a="http://schemas.openxmlformats.org/drawingml/2006/main" noGrp="1"/>
          </p:cNvSpPr>
          <p:nvPr/>
        </p:nvSpPr>
        <p:spPr>
          <a:xfrm xmlns:a="http://schemas.openxmlformats.org/drawingml/2006/main">
            <a:off x="609905" y="1746504"/>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0:p xmlns:ns0="http://schemas.openxmlformats.org/drawingml/2006/main">
            <ns0:pPr algn="l">
              <ns0:defRPr sz="2100" b="1">
                <ns0:solidFill>
                  <ns0:srgbClr val="F4F7FA"/>
                </ns0:solidFill>
                <ns0:latin typeface="Arial"/>
                <ns0:ea typeface="Arial"/>
                <ns0:cs typeface="Arial"/>
              </ns0:defRPr>
            </ns0:pPr>
            <ns0:r>
              <ns0:rPr sz="2100" b="1">
                <ns0:solidFill>
                  <ns0:srgbClr val="F4F7FA"/>
                </ns0:solidFill>
                <ns0:latin typeface="Arial"/>
                <ns0:ea typeface="Arial"/>
                <ns0:cs typeface="Arial"/>
              </ns0:rPr>
              <ns0:t>AI redistributes cognitive work across the sociotechnical system.</ns0:t>
            </ns0:r>
          </ns0:p>
        </p:txBody>
      </p:sp>
      <p:graphicFrame>
        <p:nvGraphicFramePr>
          <p:cNvPr id="26" name=""/>
          <p:cNvGraphicFramePr/>
          <p:nvPr/>
        </p:nvGraphicFramePr>
        <p:xfrm>
          <a:off xmlns:a="http://schemas.openxmlformats.org/drawingml/2006/main" x="609905" y="2441448"/>
          <a:ext xmlns:a="http://schemas.openxmlformats.org/drawingml/2006/main" cx="10972800" cy="2459736"/>
        </p:xfrm>
        <a:graphic xmlns:a="http://schemas.openxmlformats.org/drawingml/2006/main">
          <a:graphicData uri="http://schemas.openxmlformats.org/drawingml/2006/table">
            <a:tbl>
              <a:tblPr/>
              <a:tblGrid>
                <a:gridCol w="5486400"/>
                <a:gridCol w="5486400"/>
              </a:tblGrid>
              <a:tr h="457200">
                <a:tc>
                  <a:txBody>
                    <a:bodyPr lIns="171450" tIns="66675" rIns="171450" bIns="66675">
                      <a:noAutofit/>
                    </a:bodyPr>
                    <a:lstStyle/>
                    <a:p>
                      <a:pPr>
                        <a:defRPr sz="2100" b="1">
                          <a:solidFill>
                            <a:srgbClr val="F4F7FA"/>
                          </a:solidFill>
                          <a:latin typeface="Arial"/>
                          <a:ea typeface="Arial"/>
                          <a:cs typeface="Arial"/>
                        </a:defRPr>
                      </a:pPr>
                      <a:r>
                        <a:rPr sz="2100" b="1">
                          <a:solidFill>
                            <a:srgbClr val="F4F7FA"/>
                          </a:solidFill>
                          <a:latin typeface="Arial"/>
                          <a:ea typeface="Arial"/>
                          <a:cs typeface="Arial"/>
                        </a:rPr>
                        <a:t>HOW WE BUILD</a:t>
                      </a:r>
                    </a:p>
                  </a:txBody>
                  <a:tcPr marL="91440" marR="91440" marT="45720" marB="45720" anchor="ctr">
                    <a:solidFill>
                      <a:srgbClr val="1A2734"/>
                    </a:solidFill>
                  </a:tcPr>
                </a:tc>
                <a:tc>
                  <a:txBody>
                    <a:bodyPr lIns="171450" tIns="66675" rIns="171450" bIns="66675">
                      <a:noAutofit/>
                    </a:bodyPr>
                    <a:lstStyle/>
                    <a:p>
                      <a:pPr>
                        <a:defRPr sz="2100" b="1">
                          <a:solidFill>
                            <a:srgbClr val="28C7F7"/>
                          </a:solidFill>
                          <a:latin typeface="Arial"/>
                          <a:ea typeface="Arial"/>
                          <a:cs typeface="Arial"/>
                        </a:defRPr>
                      </a:pPr>
                      <a:r>
                        <a:rPr sz="2100" b="1">
                          <a:solidFill>
                            <a:srgbClr val="28C7F7"/>
                          </a:solidFill>
                          <a:latin typeface="Arial"/>
                          <a:ea typeface="Arial"/>
                          <a:cs typeface="Arial"/>
                        </a:rPr>
                        <a:t>WHAT WE BUILD</a:t>
                      </a:r>
                    </a:p>
                  </a:txBody>
                  <a:tcPr marL="91440" marR="91440" marT="45720" marB="45720" anchor="ctr">
                    <a:solidFill>
                      <a:srgbClr val="1A2734"/>
                    </a:solidFill>
                  </a:tcPr>
                </a:tc>
              </a:tr>
              <a:tr h="667512">
                <a:tc>
                  <a:txBody>
                    <a:bodyPr lIns="171450" tIns="66675" rIns="171450" bIns="66675">
                      <a:noAutofit/>
                    </a:bodyPr>
                    <a:lstStyle/>
                    <a:p>
                      <a:pPr>
                        <a:defRPr sz="2100" b="0">
                          <a:solidFill>
                            <a:srgbClr val="F4F7FA"/>
                          </a:solidFill>
                          <a:latin typeface="Arial"/>
                          <a:ea typeface="Arial"/>
                          <a:cs typeface="Arial"/>
                        </a:defRPr>
                      </a:pPr>
                      <a:r>
                        <a:rPr sz="2100" b="0">
                          <a:solidFill>
                            <a:srgbClr val="F4F7FA"/>
                          </a:solidFill>
                          <a:latin typeface="Arial"/>
                          <a:ea typeface="Arial"/>
                          <a:cs typeface="Arial"/>
                        </a:rPr>
                        <a:t>Review + integration capacity</a:t>
                      </a:r>
                    </a:p>
                  </a:txBody>
                  <a:tcPr marL="91440" marR="91440" marT="45720" marB="45720" anchor="ctr">
                    <a:solidFill>
                      <a:srgbClr val="0B0F14"/>
                    </a:solidFill>
                  </a:tcPr>
                </a:tc>
                <a:tc>
                  <a:txBody>
                    <a:bodyPr lIns="171450" tIns="66675" rIns="171450" bIns="66675">
                      <a:noAutofit/>
                    </a:bodyPr>
                    <a:lstStyle/>
                    <a:p>
                      <a:pPr>
                        <a:defRPr sz="2100" b="0">
                          <a:solidFill>
                            <a:srgbClr val="28C7F7"/>
                          </a:solidFill>
                          <a:latin typeface="Arial"/>
                          <a:ea typeface="Arial"/>
                          <a:cs typeface="Arial"/>
                        </a:defRPr>
                      </a:pPr>
                      <a:r>
                        <a:rPr sz="2100" b="0">
                          <a:solidFill>
                            <a:srgbClr val="28C7F7"/>
                          </a:solidFill>
                          <a:latin typeface="Arial"/>
                          <a:ea typeface="Arial"/>
                          <a:cs typeface="Arial"/>
                        </a:rPr>
                        <a:t>Evaluation + response capacity</a:t>
                      </a:r>
                    </a:p>
                  </a:txBody>
                  <a:tcPr marL="91440" marR="91440" marT="45720" marB="45720" anchor="ctr">
                    <a:solidFill>
                      <a:srgbClr val="0B0F14"/>
                    </a:solidFill>
                  </a:tcPr>
                </a:tc>
              </a:tr>
              <a:tr h="667512">
                <a:tc>
                  <a:txBody>
                    <a:bodyPr lIns="171450" tIns="66675" rIns="171450" bIns="66675">
                      <a:noAutofit/>
                    </a:bodyPr>
                    <a:lstStyle/>
                    <a:p>
                      <a:pPr>
                        <a:defRPr sz="2100" b="0">
                          <a:solidFill>
                            <a:srgbClr val="F4F7FA"/>
                          </a:solidFill>
                          <a:latin typeface="Arial"/>
                          <a:ea typeface="Arial"/>
                          <a:cs typeface="Arial"/>
                        </a:defRPr>
                      </a:pPr>
                      <a:r>
                        <a:rPr sz="2100" b="0">
                          <a:solidFill>
                            <a:srgbClr val="F4F7FA"/>
                          </a:solidFill>
                          <a:latin typeface="Arial"/>
                          <a:ea typeface="Arial"/>
                          <a:cs typeface="Arial"/>
                        </a:rPr>
                        <a:t>Understanding + recovery</a:t>
                      </a:r>
                    </a:p>
                  </a:txBody>
                  <a:tcPr marL="91440" marR="91440" marT="45720" marB="45720" anchor="ctr">
                    <a:solidFill>
                      <a:srgbClr val="0B0F14"/>
                    </a:solidFill>
                  </a:tcPr>
                </a:tc>
                <a:tc>
                  <a:txBody>
                    <a:bodyPr lIns="171450" tIns="66675" rIns="171450" bIns="66675">
                      <a:noAutofit/>
                    </a:bodyPr>
                    <a:lstStyle/>
                    <a:p>
                      <a:pPr>
                        <a:defRPr sz="2100" b="0">
                          <a:solidFill>
                            <a:srgbClr val="28C7F7"/>
                          </a:solidFill>
                          <a:latin typeface="Arial"/>
                          <a:ea typeface="Arial"/>
                          <a:cs typeface="Arial"/>
                        </a:defRPr>
                      </a:pPr>
                      <a:r>
                        <a:rPr sz="2100" b="0">
                          <a:solidFill>
                            <a:srgbClr val="28C7F7"/>
                          </a:solidFill>
                          <a:latin typeface="Arial"/>
                          <a:ea typeface="Arial"/>
                          <a:cs typeface="Arial"/>
                        </a:rPr>
                        <a:t>Behavioral criteria + authority</a:t>
                      </a:r>
                    </a:p>
                  </a:txBody>
                  <a:tcPr marL="91440" marR="91440" marT="45720" marB="45720" anchor="ctr">
                    <a:solidFill>
                      <a:srgbClr val="0B0F14"/>
                    </a:solidFill>
                  </a:tcPr>
                </a:tc>
              </a:tr>
              <a:tr h="667512">
                <a:tc>
                  <a:txBody>
                    <a:bodyPr lIns="171450" tIns="66675" rIns="171450" bIns="66675">
                      <a:noAutofit/>
                    </a:bodyPr>
                    <a:lstStyle/>
                    <a:p>
                      <a:pPr>
                        <a:defRPr sz="2100" b="0">
                          <a:solidFill>
                            <a:srgbClr val="F4F7FA"/>
                          </a:solidFill>
                          <a:latin typeface="Arial"/>
                          <a:ea typeface="Arial"/>
                          <a:cs typeface="Arial"/>
                        </a:defRPr>
                      </a:pPr>
                      <a:r>
                        <a:rPr sz="2100" b="0">
                          <a:solidFill>
                            <a:srgbClr val="F4F7FA"/>
                          </a:solidFill>
                          <a:latin typeface="Arial"/>
                          <a:ea typeface="Arial"/>
                          <a:cs typeface="Arial"/>
                        </a:rPr>
                        <a:t>Delivery feedback</a:t>
                      </a:r>
                    </a:p>
                  </a:txBody>
                  <a:tcPr marL="91440" marR="91440" marT="45720" marB="45720" anchor="ctr">
                    <a:solidFill>
                      <a:srgbClr val="0B0F14"/>
                    </a:solidFill>
                  </a:tcPr>
                </a:tc>
                <a:tc>
                  <a:txBody>
                    <a:bodyPr lIns="171450" tIns="66675" rIns="171450" bIns="66675">
                      <a:noAutofit/>
                    </a:bodyPr>
                    <a:lstStyle/>
                    <a:p>
                      <a:pPr>
                        <a:defRPr sz="2100" b="0">
                          <a:solidFill>
                            <a:srgbClr val="28C7F7"/>
                          </a:solidFill>
                          <a:latin typeface="Arial"/>
                          <a:ea typeface="Arial"/>
                          <a:cs typeface="Arial"/>
                        </a:defRPr>
                      </a:pPr>
                      <a:r>
                        <a:rPr sz="2100" b="0">
                          <a:solidFill>
                            <a:srgbClr val="28C7F7"/>
                          </a:solidFill>
                          <a:latin typeface="Arial"/>
                          <a:ea typeface="Arial"/>
                          <a:cs typeface="Arial"/>
                        </a:rPr>
                        <a:t>Outcome + incident feedback</a:t>
                      </a:r>
                    </a:p>
                  </a:txBody>
                  <a:tcPr marL="91440" marR="91440" marT="45720" marB="45720" anchor="ctr">
                    <a:solidFill>
                      <a:srgbClr val="0B0F14"/>
                    </a:solidFill>
                  </a:tcPr>
                </a:tc>
              </a:tr>
            </a:tbl>
          </a:graphicData>
        </a:graphic>
      </p:graphicFrame>
      <p:sp>
        <p:nvSpPr>
          <p:cNvPr id="7" name="">
            <a:extLst xmlns:a="http://schemas.openxmlformats.org/drawingml/2006/main">
              <a:ext uri="{FF2B5EF4-FFF2-40B4-BE49-F238E27FC236}">
                <a16:creationId xmlns:a16="http://schemas.microsoft.com/office/drawing/2014/main" id="{CE34AF63-3AA9-42F3-B48D-161CF23461AB}"/>
              </a:ext>
            </a:extLst>
          </p:cNvPr>
          <p:cNvSpPr>
            <a:spLocks xmlns:a="http://schemas.openxmlformats.org/drawingml/2006/main" noGrp="1"/>
          </p:cNvSpPr>
          <p:nvPr/>
        </p:nvSpPr>
        <p:spPr>
          <a:xfrm xmlns:a="http://schemas.openxmlformats.org/drawingml/2006/main">
            <a:off x="609905" y="5157216"/>
            <a:ext cx="109728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p xmlns:ns1="http://schemas.openxmlformats.org/drawingml/2006/main">
            <ns1:pPr algn="l">
              <ns1:defRPr sz="1800" b="1">
                <ns1:solidFill>
                  <ns1:srgbClr val="F5B61C"/>
                </ns1:solidFill>
                <ns1:latin typeface="Arial"/>
                <ns1:ea typeface="Arial"/>
                <ns1:cs typeface="Arial"/>
              </ns1:defRPr>
            </ns1:pPr>
            <ns1:r>
              <ns1:rPr sz="1800" b="1">
                <ns1:solidFill>
                  <ns1:srgbClr val="F5B61C"/>
                </ns1:solidFill>
                <ns1:latin typeface="Arial"/>
                <ns1:ea typeface="Arial"/>
                <ns1:cs typeface="Arial"/>
              </ns1:rPr>
              <ns1:t>SHARED DEPENDENCIES</ns1:t>
            </ns1:r>
          </ns1:p>
        </p:txBody>
      </p:sp>
      <p:sp>
        <p:nvSpPr>
          <p:cNvPr id="8" name="">
            <a:extLst xmlns:a="http://schemas.openxmlformats.org/drawingml/2006/main">
              <a:ext uri="{FF2B5EF4-FFF2-40B4-BE49-F238E27FC236}">
                <a16:creationId xmlns:a16="http://schemas.microsoft.com/office/drawing/2014/main" id="{3ED478DE-AF82-4005-8009-5B26A939291E}"/>
              </a:ext>
            </a:extLst>
          </p:cNvPr>
          <p:cNvSpPr>
            <a:spLocks xmlns:a="http://schemas.openxmlformats.org/drawingml/2006/main" noGrp="1"/>
          </p:cNvSpPr>
          <p:nvPr/>
        </p:nvSpPr>
        <p:spPr>
          <a:xfrm xmlns:a="http://schemas.openxmlformats.org/drawingml/2006/main">
            <a:off x="609905" y="5577840"/>
            <a:ext cx="109728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p xmlns:ns2="http://schemas.openxmlformats.org/drawingml/2006/main">
            <ns2:pPr algn="l">
              <ns2:defRPr sz="2300" b="0">
                <ns2:solidFill>
                  <ns2:srgbClr val="F4F7FA"/>
                </ns2:solidFill>
                <ns2:latin typeface="Arial"/>
                <ns2:ea typeface="Arial"/>
                <ns2:cs typeface="Arial"/>
              </ns2:defRPr>
            </ns2:pPr>
            <ns2:r>
              <ns2:rPr sz="2300" b="0">
                <ns2:solidFill>
                  <ns2:srgbClr val="F4F7FA"/>
                </ns2:solidFill>
                <ns2:latin typeface="Arial"/>
                <ns2:ea typeface="Arial"/>
                <ns2:cs typeface="Arial"/>
              </ns2:rPr>
              <ns2:t>Knowledge · Decision rights · Time and capacity · Feedback</ns2:t>
            </ns2:r>
          </ns2:p>
        </p:txBody>
      </p:sp>
      <p:sp>
        <p:nvSpPr>
          <p:cNvPr id="18" name="">
            <a:extLst xmlns:a="http://schemas.openxmlformats.org/drawingml/2006/main">
              <a:ext uri="{FF2B5EF4-FFF2-40B4-BE49-F238E27FC236}">
                <a16:creationId xmlns:a16="http://schemas.microsoft.com/office/drawing/2014/main" id="{AD4DB840-6821-4523-B67F-74E0B7CFE352}"/>
              </a:ext>
            </a:extLst>
          </p:cNvPr>
          <p:cNvSpPr>
            <a:spLocks xmlns:a="http://schemas.openxmlformats.org/drawingml/2006/main" noGrp="1"/>
          </p:cNvSpPr>
          <p:nvPr/>
        </p:nvSpPr>
        <p:spPr>
          <a:xfrm xmlns:a="http://schemas.openxmlformats.org/drawingml/2006/main">
            <a:off x="609905" y="6345936"/>
            <a:ext cx="10652760" cy="3017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3:p xmlns:ns3="http://schemas.openxmlformats.org/drawingml/2006/main">
            <ns3:pPr algn="l">
              <ns3:defRPr sz="1700" b="0">
                <ns3:solidFill>
                  <ns3:srgbClr val="ADB8C5"/>
                </ns3:solidFill>
                <ns3:latin typeface="Arial"/>
                <ns3:ea typeface="Arial"/>
                <ns3:cs typeface="Arial"/>
              </ns3:defRPr>
            </ns3:pPr>
            <ns3:r>
              <ns3:rPr sz="1700" b="0">
                <ns3:solidFill>
                  <ns3:srgbClr val="ADB8C5"/>
                </ns3:solidFill>
                <ns3:latin typeface="Arial"/>
                <ns3:ea typeface="Arial"/>
                <ns3:cs typeface="Arial"/>
              </ns3:rPr>
              <ns3:t>Required decisions, evidence and capabilities belong in the delivery dependency plan.</ns3:t>
            </ns3:r>
          </ns3:p>
        </p:txBody>
      </p:sp>
    </p:spTree>
    <p:extLst>
      <p:ext uri="{BB962C8B-B14F-4D97-AF65-F5344CB8AC3E}">
        <p14:creationId xmlns:p14="http://schemas.microsoft.com/office/powerpoint/2010/main" val="553218717"/>
      </p:ext>
    </p:extLst>
  </p:cSld>
</p:sld>
</file>

<file path=ppt/slides/slide10.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cxnSp>
        <p:nvCxnSpPr>
          <p:cNvPr id="44" name=""/>
          <p:cNvCxnSpPr>
            <ns13:stCxn xmlns:ns13="http://schemas.openxmlformats.org/drawingml/2006/main" id="14" idx="3"/>
            <ns14:endCxn xmlns:ns14="http://schemas.openxmlformats.org/drawingml/2006/main" id="16" idx="1"/>
          </p:cNvCxnSpPr>
          <p:nvPr/>
        </p:nvCxnSpPr>
        <p:spPr>
          <a:xfrm xmlns:a="http://schemas.openxmlformats.org/drawingml/2006/main">
            <a:off x="8705088" y="2487168"/>
            <a:ext cx="534010" cy="0"/>
          </a:xfrm>
          <a:prstGeom xmlns:a="http://schemas.openxmlformats.org/drawingml/2006/main" prst="straightConnector1">
            <a:avLst/>
          </a:prstGeom>
          <a:ln xmlns:a="http://schemas.openxmlformats.org/drawingml/2006/main" w="21908">
            <a:solidFill>
              <a:srgbClr val="F5B61C"/>
            </a:solidFill>
            <a:prstDash val="solid"/>
            <a:tailEnd type="triangle" w="med" len="med"/>
          </a:ln>
        </p:spPr>
      </p:cxnSp>
      <p:cxnSp>
        <p:nvCxnSpPr>
          <p:cNvPr id="45" name=""/>
          <p:cNvCxnSpPr>
            <ns11:stCxn xmlns:ns11="http://schemas.openxmlformats.org/drawingml/2006/main" id="12" idx="3"/>
            <ns12:endCxn xmlns:ns12="http://schemas.openxmlformats.org/drawingml/2006/main" id="14" idx="1"/>
          </p:cNvCxnSpPr>
          <p:nvPr/>
        </p:nvCxnSpPr>
        <p:spPr>
          <a:xfrm xmlns:a="http://schemas.openxmlformats.org/drawingml/2006/main">
            <a:off x="5828386" y="2487168"/>
            <a:ext cx="534010" cy="0"/>
          </a:xfrm>
          <a:prstGeom xmlns:a="http://schemas.openxmlformats.org/drawingml/2006/main" prst="straightConnector1">
            <a:avLst/>
          </a:prstGeom>
          <a:ln xmlns:a="http://schemas.openxmlformats.org/drawingml/2006/main" w="21908">
            <a:solidFill>
              <a:srgbClr val="28C7F7"/>
            </a:solidFill>
            <a:prstDash val="solid"/>
            <a:tailEnd type="triangle" w="med" len="med"/>
          </a:ln>
        </p:spPr>
      </p:cxnSp>
      <p:cxnSp>
        <p:nvCxnSpPr>
          <p:cNvPr id="46" name=""/>
          <p:cNvCxnSpPr>
            <ns9:stCxn xmlns:ns9="http://schemas.openxmlformats.org/drawingml/2006/main" id="10" idx="3"/>
            <ns10:endCxn xmlns:ns10="http://schemas.openxmlformats.org/drawingml/2006/main" id="12" idx="1"/>
          </p:cNvCxnSpPr>
          <p:nvPr/>
        </p:nvCxnSpPr>
        <p:spPr>
          <a:xfrm xmlns:a="http://schemas.openxmlformats.org/drawingml/2006/main">
            <a:off x="2952598" y="2487168"/>
            <a:ext cx="533095" cy="0"/>
          </a:xfrm>
          <a:prstGeom xmlns:a="http://schemas.openxmlformats.org/drawingml/2006/main" prst="straightConnector1">
            <a:avLst/>
          </a:prstGeom>
          <a:ln xmlns:a="http://schemas.openxmlformats.org/drawingml/2006/main" w="21908">
            <a:solidFill>
              <a:srgbClr val="28C7F7"/>
            </a:solidFill>
            <a:prstDash val="solid"/>
            <a:tailEnd type="triangle" w="med" len="med"/>
          </a:ln>
        </p:spPr>
      </p:cxnSp>
      <p:sp>
        <p:nvSpPr>
          <p:cNvPr id="47" name="">
            <a:extLst xmlns:a="http://schemas.openxmlformats.org/drawingml/2006/main">
              <a:ext uri="{FF2B5EF4-FFF2-40B4-BE49-F238E27FC236}">
                <a16:creationId xmlns:a16="http://schemas.microsoft.com/office/drawing/2014/main" id="{170182DE-530E-46E1-A769-307D97B3E529}"/>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Engineering Rigor Moves —</a:t>
            </a:r>
          </a:p>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It Doesn’t Disappear</a:t>
            </a:r>
          </a:p>
        </p:txBody>
      </p:sp>
      <p:sp>
        <p:nvSpPr>
          <p:cNvPr id="2" name="">
            <a:extLst xmlns:a="http://schemas.openxmlformats.org/drawingml/2006/main">
              <a:ext uri="{FF2B5EF4-FFF2-40B4-BE49-F238E27FC236}">
                <a16:creationId xmlns:a16="http://schemas.microsoft.com/office/drawing/2014/main" id="{809C3BD0-D33A-47CD-AFEC-A63F6DFBC99F}"/>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3FF54B52-FD18-4D14-938F-A25C3104C4C1}"/>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06453C83-A82F-42D2-9144-A43D3BA6316E}"/>
              </a:ext>
            </a:extLst>
          </p:cNvPr>
          <p:cNvSpPr>
            <a:spLocks xmlns:a="http://schemas.openxmlformats.org/drawingml/2006/main" noGrp="1"/>
          </p:cNvSpPr>
          <p:nvPr/>
        </p:nvSpPr>
        <p:spPr>
          <a:xfrm xmlns:a="http://schemas.openxmlformats.org/drawingml/2006/main">
            <a:off x="609905" y="1737360"/>
            <a:ext cx="109728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0:p xmlns:ns0="http://schemas.openxmlformats.org/drawingml/2006/main">
            <ns0:pPr algn="l">
              <ns0:defRPr sz="1700" b="1">
                <ns0:solidFill>
                  <ns0:srgbClr val="28C7F7"/>
                </ns0:solidFill>
                <ns0:latin typeface="Arial"/>
                <ns0:ea typeface="Arial"/>
                <ns0:cs typeface="Arial"/>
              </ns0:defRPr>
            </ns0:pPr>
            <ns0:r>
              <ns0:rPr sz="1700" b="1">
                <ns0:solidFill>
                  <ns0:srgbClr val="28C7F7"/>
                </ns0:solidFill>
                <ns0:latin typeface="Arial"/>
                <ns0:ea typeface="Arial"/>
                <ns0:cs typeface="Arial"/>
              </ns0:rPr>
              <ns0:t>THE LABORATORY STAYS OPEN</ns0:t>
            </ns0:r>
          </ns0:p>
        </p:txBody>
      </p:sp>
      <p:sp>
        <p:nvSpPr>
          <p:cNvPr id="10" name="">
            <a:extLst xmlns:a="http://schemas.openxmlformats.org/drawingml/2006/main">
              <a:ext uri="{FF2B5EF4-FFF2-40B4-BE49-F238E27FC236}">
                <a16:creationId xmlns:a16="http://schemas.microsoft.com/office/drawing/2014/main" id="{A6194FEE-6F65-4188-85BB-4BC2C49CAA58}"/>
              </a:ext>
            </a:extLst>
          </p:cNvPr>
          <p:cNvSpPr>
            <a:spLocks xmlns:a="http://schemas.openxmlformats.org/drawingml/2006/main" noGrp="1"/>
          </p:cNvSpPr>
          <p:nvPr/>
        </p:nvSpPr>
        <p:spPr>
          <a:xfrm xmlns:a="http://schemas.openxmlformats.org/drawingml/2006/main">
            <a:off x="609905" y="2176272"/>
            <a:ext cx="2342693" cy="621792"/>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11" name="">
            <a:extLst xmlns:a="http://schemas.openxmlformats.org/drawingml/2006/main">
              <a:ext uri="{FF2B5EF4-FFF2-40B4-BE49-F238E27FC236}">
                <a16:creationId xmlns:a16="http://schemas.microsoft.com/office/drawing/2014/main" id="{ED3B1A6A-1E18-463E-B1C1-987CA3DA022D}"/>
              </a:ext>
            </a:extLst>
          </p:cNvPr>
          <p:cNvSpPr>
            <a:spLocks xmlns:a="http://schemas.openxmlformats.org/drawingml/2006/main" noGrp="1"/>
          </p:cNvSpPr>
          <p:nvPr/>
        </p:nvSpPr>
        <p:spPr>
          <a:xfrm xmlns:a="http://schemas.openxmlformats.org/drawingml/2006/main">
            <a:off x="701345" y="2231136"/>
            <a:ext cx="2159813"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p xmlns:ns1="http://schemas.openxmlformats.org/drawingml/2006/main">
            <ns1:pPr algn="ctr">
              <ns1:defRPr sz="1650" b="1">
                <ns1:solidFill>
                  <ns1:srgbClr val="F4F7FA"/>
                </ns1:solidFill>
                <ns1:latin typeface="Arial"/>
                <ns1:ea typeface="Arial"/>
                <ns1:cs typeface="Arial"/>
              </ns1:defRPr>
            </ns1:pPr>
            <ns1:r>
              <ns1:rPr sz="1650" b="1">
                <ns1:solidFill>
                  <ns1:srgbClr val="F4F7FA"/>
                </ns1:solidFill>
                <ns1:latin typeface="Arial"/>
                <ns1:ea typeface="Arial"/>
                <ns1:cs typeface="Arial"/>
              </ns1:rPr>
              <ns1:t>Hypothesis</ns1:t>
            </ns1:r>
          </ns1:p>
          <ns2:p xmlns:ns2="http://schemas.openxmlformats.org/drawingml/2006/main">
            <ns2:pPr algn="ctr">
              <ns2:defRPr sz="1650" b="1">
                <ns2:solidFill>
                  <ns2:srgbClr val="F4F7FA"/>
                </ns2:solidFill>
                <ns2:latin typeface="Arial"/>
                <ns2:ea typeface="Arial"/>
                <ns2:cs typeface="Arial"/>
              </ns2:defRPr>
            </ns2:pPr>
            <ns2:r>
              <ns2:rPr sz="1650" b="1">
                <ns2:solidFill>
                  <ns2:srgbClr val="F4F7FA"/>
                </ns2:solidFill>
                <ns2:latin typeface="Arial"/>
                <ns2:ea typeface="Arial"/>
                <ns2:cs typeface="Arial"/>
              </ns2:rPr>
              <ns2:t>+ approved limits</ns2:t>
            </ns2:r>
          </ns2:p>
        </p:txBody>
      </p:sp>
      <p:sp>
        <p:nvSpPr>
          <p:cNvPr id="12" name="">
            <a:extLst xmlns:a="http://schemas.openxmlformats.org/drawingml/2006/main">
              <a:ext uri="{FF2B5EF4-FFF2-40B4-BE49-F238E27FC236}">
                <a16:creationId xmlns:a16="http://schemas.microsoft.com/office/drawing/2014/main" id="{D4D04DD6-38F0-4ECC-B7E5-D4236AE911BD}"/>
              </a:ext>
            </a:extLst>
          </p:cNvPr>
          <p:cNvSpPr>
            <a:spLocks xmlns:a="http://schemas.openxmlformats.org/drawingml/2006/main" noGrp="1"/>
          </p:cNvSpPr>
          <p:nvPr/>
        </p:nvSpPr>
        <p:spPr>
          <a:xfrm xmlns:a="http://schemas.openxmlformats.org/drawingml/2006/main">
            <a:off x="3485693" y="2176272"/>
            <a:ext cx="2342693" cy="621792"/>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13" name="">
            <a:extLst xmlns:a="http://schemas.openxmlformats.org/drawingml/2006/main">
              <a:ext uri="{FF2B5EF4-FFF2-40B4-BE49-F238E27FC236}">
                <a16:creationId xmlns:a16="http://schemas.microsoft.com/office/drawing/2014/main" id="{2300DB8F-0E9A-4873-B9FC-76DDF512EC2B}"/>
              </a:ext>
            </a:extLst>
          </p:cNvPr>
          <p:cNvSpPr>
            <a:spLocks xmlns:a="http://schemas.openxmlformats.org/drawingml/2006/main" noGrp="1"/>
          </p:cNvSpPr>
          <p:nvPr/>
        </p:nvSpPr>
        <p:spPr>
          <a:xfrm xmlns:a="http://schemas.openxmlformats.org/drawingml/2006/main">
            <a:off x="3577133" y="2231136"/>
            <a:ext cx="2159813"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3:p xmlns:ns3="http://schemas.openxmlformats.org/drawingml/2006/main">
            <ns3:pPr algn="ctr">
              <ns3:defRPr sz="1650" b="1">
                <ns3:solidFill>
                  <ns3:srgbClr val="F4F7FA"/>
                </ns3:solidFill>
                <ns3:latin typeface="Arial"/>
                <ns3:ea typeface="Arial"/>
                <ns3:cs typeface="Arial"/>
              </ns3:defRPr>
            </ns3:pPr>
            <ns3:r>
              <ns3:rPr sz="1650" b="1">
                <ns3:solidFill>
                  <ns3:srgbClr val="F4F7FA"/>
                </ns3:solidFill>
                <ns3:latin typeface="Arial"/>
                <ns3:ea typeface="Arial"/>
                <ns3:cs typeface="Arial"/>
              </ns3:rPr>
              <ns3:t>Bounded</ns3:t>
            </ns3:r>
          </ns3:p>
          <ns4:p xmlns:ns4="http://schemas.openxmlformats.org/drawingml/2006/main">
            <ns4:pPr algn="ctr">
              <ns4:defRPr sz="1650" b="1">
                <ns4:solidFill>
                  <ns4:srgbClr val="F4F7FA"/>
                </ns4:solidFill>
                <ns4:latin typeface="Arial"/>
                <ns4:ea typeface="Arial"/>
                <ns4:cs typeface="Arial"/>
              </ns4:defRPr>
            </ns4:pPr>
            <ns4:r>
              <ns4:rPr sz="1650" b="1">
                <ns4:solidFill>
                  <ns4:srgbClr val="F4F7FA"/>
                </ns4:solidFill>
                <ns4:latin typeface="Arial"/>
                <ns4:ea typeface="Arial"/>
                <ns4:cs typeface="Arial"/>
              </ns4:rPr>
              <ns4:t>experiment</ns4:t>
            </ns4:r>
          </ns4:p>
        </p:txBody>
      </p:sp>
      <p:sp>
        <p:nvSpPr>
          <p:cNvPr id="14" name="">
            <a:extLst xmlns:a="http://schemas.openxmlformats.org/drawingml/2006/main">
              <a:ext uri="{FF2B5EF4-FFF2-40B4-BE49-F238E27FC236}">
                <a16:creationId xmlns:a16="http://schemas.microsoft.com/office/drawing/2014/main" id="{06C2B5F6-D9D4-4F41-97A8-497C80E571D9}"/>
              </a:ext>
            </a:extLst>
          </p:cNvPr>
          <p:cNvSpPr>
            <a:spLocks xmlns:a="http://schemas.openxmlformats.org/drawingml/2006/main" noGrp="1"/>
          </p:cNvSpPr>
          <p:nvPr/>
        </p:nvSpPr>
        <p:spPr>
          <a:xfrm xmlns:a="http://schemas.openxmlformats.org/drawingml/2006/main">
            <a:off x="6362395" y="2176272"/>
            <a:ext cx="2342693" cy="621792"/>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15" name="">
            <a:extLst xmlns:a="http://schemas.openxmlformats.org/drawingml/2006/main">
              <a:ext uri="{FF2B5EF4-FFF2-40B4-BE49-F238E27FC236}">
                <a16:creationId xmlns:a16="http://schemas.microsoft.com/office/drawing/2014/main" id="{3E108C0D-C934-4696-A9D0-C8E8D67676F1}"/>
              </a:ext>
            </a:extLst>
          </p:cNvPr>
          <p:cNvSpPr>
            <a:spLocks xmlns:a="http://schemas.openxmlformats.org/drawingml/2006/main" noGrp="1"/>
          </p:cNvSpPr>
          <p:nvPr/>
        </p:nvSpPr>
        <p:spPr>
          <a:xfrm xmlns:a="http://schemas.openxmlformats.org/drawingml/2006/main">
            <a:off x="6453835" y="2231136"/>
            <a:ext cx="2159813"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5:p xmlns:ns5="http://schemas.openxmlformats.org/drawingml/2006/main">
            <ns5:pPr algn="ctr">
              <ns5:defRPr sz="1650" b="1">
                <ns5:solidFill>
                  <ns5:srgbClr val="F4F7FA"/>
                </ns5:solidFill>
                <ns5:latin typeface="Arial"/>
                <ns5:ea typeface="Arial"/>
                <ns5:cs typeface="Arial"/>
              </ns5:defRPr>
            </ns5:pPr>
            <ns5:r>
              <ns5:rPr sz="1650" b="1">
                <ns5:solidFill>
                  <ns5:srgbClr val="F4F7FA"/>
                </ns5:solidFill>
                <ns5:latin typeface="Arial"/>
                <ns5:ea typeface="Arial"/>
                <ns5:cs typeface="Arial"/>
              </ns5:rPr>
              <ns5:t>Evidence</ns5:t>
            </ns5:r>
          </ns5:p>
          <ns6:p xmlns:ns6="http://schemas.openxmlformats.org/drawingml/2006/main">
            <ns6:pPr algn="ctr">
              <ns6:defRPr sz="1650" b="1">
                <ns6:solidFill>
                  <ns6:srgbClr val="F4F7FA"/>
                </ns6:solidFill>
                <ns6:latin typeface="Arial"/>
                <ns6:ea typeface="Arial"/>
                <ns6:cs typeface="Arial"/>
              </ns6:defRPr>
            </ns6:pPr>
            <ns6:r>
              <ns6:rPr sz="1650" b="1">
                <ns6:solidFill>
                  <ns6:srgbClr val="F4F7FA"/>
                </ns6:solidFill>
                <ns6:latin typeface="Arial"/>
                <ns6:ea typeface="Arial"/>
                <ns6:cs typeface="Arial"/>
              </ns6:rPr>
              <ns6:t>+ comparison</ns6:t>
            </ns6:r>
          </ns6:p>
        </p:txBody>
      </p:sp>
      <p:sp>
        <p:nvSpPr>
          <p:cNvPr id="16" name="">
            <a:extLst xmlns:a="http://schemas.openxmlformats.org/drawingml/2006/main">
              <a:ext uri="{FF2B5EF4-FFF2-40B4-BE49-F238E27FC236}">
                <a16:creationId xmlns:a16="http://schemas.microsoft.com/office/drawing/2014/main" id="{3BD634B4-C597-45B3-BE06-8198491C4C3D}"/>
              </a:ext>
            </a:extLst>
          </p:cNvPr>
          <p:cNvSpPr>
            <a:spLocks xmlns:a="http://schemas.openxmlformats.org/drawingml/2006/main" noGrp="1"/>
          </p:cNvSpPr>
          <p:nvPr/>
        </p:nvSpPr>
        <p:spPr>
          <a:xfrm xmlns:a="http://schemas.openxmlformats.org/drawingml/2006/main">
            <a:off x="9239098" y="2176272"/>
            <a:ext cx="2342693" cy="621792"/>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17" name="">
            <a:extLst xmlns:a="http://schemas.openxmlformats.org/drawingml/2006/main">
              <a:ext uri="{FF2B5EF4-FFF2-40B4-BE49-F238E27FC236}">
                <a16:creationId xmlns:a16="http://schemas.microsoft.com/office/drawing/2014/main" id="{031EEA97-47E2-49CA-A4DC-4BA36AFD79C2}"/>
              </a:ext>
            </a:extLst>
          </p:cNvPr>
          <p:cNvSpPr>
            <a:spLocks xmlns:a="http://schemas.openxmlformats.org/drawingml/2006/main" noGrp="1"/>
          </p:cNvSpPr>
          <p:nvPr/>
        </p:nvSpPr>
        <p:spPr>
          <a:xfrm xmlns:a="http://schemas.openxmlformats.org/drawingml/2006/main">
            <a:off x="9330538" y="2231136"/>
            <a:ext cx="2159813" cy="512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7:p xmlns:ns7="http://schemas.openxmlformats.org/drawingml/2006/main">
            <ns7:pPr algn="ctr">
              <ns7:defRPr sz="1650" b="1">
                <ns7:solidFill>
                  <ns7:srgbClr val="F4F7FA"/>
                </ns7:solidFill>
                <ns7:latin typeface="Arial"/>
                <ns7:ea typeface="Arial"/>
                <ns7:cs typeface="Arial"/>
              </ns7:defRPr>
            </ns7:pPr>
            <ns7:r>
              <ns7:rPr sz="1650" b="1">
                <ns7:solidFill>
                  <ns7:srgbClr val="F4F7FA"/>
                </ns7:solidFill>
                <ns7:latin typeface="Arial"/>
                <ns7:ea typeface="Arial"/>
                <ns7:cs typeface="Arial"/>
              </ns7:rPr>
              <ns7:t>Decision</ns7:t>
            </ns7:r>
          </ns7:p>
          <ns8:p xmlns:ns8="http://schemas.openxmlformats.org/drawingml/2006/main">
            <ns8:pPr algn="ctr">
              <ns8:defRPr sz="1650" b="1">
                <ns8:solidFill>
                  <ns8:srgbClr val="F4F7FA"/>
                </ns8:solidFill>
                <ns8:latin typeface="Arial"/>
                <ns8:ea typeface="Arial"/>
                <ns8:cs typeface="Arial"/>
              </ns8:defRPr>
            </ns8:pPr>
            <ns8:r>
              <ns8:rPr sz="1650" b="1">
                <ns8:solidFill>
                  <ns8:srgbClr val="F4F7FA"/>
                </ns8:solidFill>
                <ns8:latin typeface="Arial"/>
                <ns8:ea typeface="Arial"/>
                <ns8:cs typeface="Arial"/>
              </ns8:rPr>
              <ns8:t>+ adaptation</ns8:t>
            </ns8:r>
          </ns8:p>
        </p:txBody>
      </p:sp>
      <p:sp>
        <p:nvSpPr>
          <p:cNvPr id="22" name="">
            <a:extLst xmlns:a="http://schemas.openxmlformats.org/drawingml/2006/main">
              <a:ext uri="{FF2B5EF4-FFF2-40B4-BE49-F238E27FC236}">
                <a16:creationId xmlns:a16="http://schemas.microsoft.com/office/drawing/2014/main" id="{A39BEEBB-7D92-45DC-9076-414DD84E884F}"/>
              </a:ext>
            </a:extLst>
          </p:cNvPr>
          <p:cNvSpPr>
            <a:spLocks xmlns:a="http://schemas.openxmlformats.org/drawingml/2006/main" noGrp="1"/>
          </p:cNvSpPr>
          <p:nvPr/>
        </p:nvSpPr>
        <p:spPr>
          <a:xfrm xmlns:a="http://schemas.openxmlformats.org/drawingml/2006/main">
            <a:off x="2743200" y="2852928"/>
            <a:ext cx="6702552" cy="2651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5:p xmlns:ns15="http://schemas.openxmlformats.org/drawingml/2006/main">
            <ns15:pPr algn="ctr">
              <ns15:defRPr sz="1400" b="1">
                <ns15:solidFill>
                  <ns15:srgbClr val="ADB8C5"/>
                </ns15:solidFill>
                <ns15:latin typeface="Arial"/>
                <ns15:ea typeface="Arial"/>
                <ns15:cs typeface="Arial"/>
              </ns15:defRPr>
            </ns15:pPr>
            <ns15:r>
              <ns15:rPr sz="1400" b="1">
                <ns15:solidFill>
                  <ns15:srgbClr val="ADB8C5"/>
                </ns15:solidFill>
                <ns15:latin typeface="Arial"/>
                <ns15:ea typeface="Arial"/>
                <ns15:cs typeface="Arial"/>
              </ns15:rPr>
              <ns15:t>Production outcomes and incidents feed back</ns15:t>
            </ns15:r>
          </ns15:p>
        </p:txBody>
      </p:sp>
      <p:sp>
        <p:nvSpPr>
          <p:cNvPr id="25" name="">
            <a:extLst xmlns:a="http://schemas.openxmlformats.org/drawingml/2006/main">
              <a:ext uri="{FF2B5EF4-FFF2-40B4-BE49-F238E27FC236}">
                <a16:creationId xmlns:a16="http://schemas.microsoft.com/office/drawing/2014/main" id="{E3ADD602-0879-482D-BBCB-CC4002E57463}"/>
              </a:ext>
            </a:extLst>
          </p:cNvPr>
          <p:cNvSpPr>
            <a:spLocks xmlns:a="http://schemas.openxmlformats.org/drawingml/2006/main" noGrp="1"/>
          </p:cNvSpPr>
          <p:nvPr/>
        </p:nvSpPr>
        <p:spPr>
          <a:xfrm xmlns:a="http://schemas.openxmlformats.org/drawingml/2006/main">
            <a:off x="609905" y="3575304"/>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6:p xmlns:ns16="http://schemas.openxmlformats.org/drawingml/2006/main">
            <ns16:pPr algn="l">
              <ns16:defRPr sz="2400" b="0">
                <ns16:solidFill>
                  <ns16:srgbClr val="F4F7FA"/>
                </ns16:solidFill>
                <ns16:latin typeface="Arial"/>
                <ns16:ea typeface="Arial"/>
                <ns16:cs typeface="Arial"/>
              </ns16:defRPr>
            </ns16:pPr>
            <ns16:r>
              <ns16:rPr sz="2400" b="0">
                <ns16:solidFill>
                  <ns16:srgbClr val="F4F7FA"/>
                </ns16:solidFill>
                <ns16:latin typeface="Arial"/>
                <ns16:ea typeface="Arial"/>
                <ns16:cs typeface="Arial"/>
              </ns16:rPr>
              <ns16:t>Which imbalance does this address?</ns16:t>
            </ns16:r>
          </ns16:p>
        </p:txBody>
      </p:sp>
      <p:sp>
        <p:nvSpPr>
          <p:cNvPr id="27" name="">
            <a:extLst xmlns:a="http://schemas.openxmlformats.org/drawingml/2006/main">
              <a:ext uri="{FF2B5EF4-FFF2-40B4-BE49-F238E27FC236}">
                <a16:creationId xmlns:a16="http://schemas.microsoft.com/office/drawing/2014/main" id="{66169787-6371-45E6-8F30-594FDC4D97BF}"/>
              </a:ext>
            </a:extLst>
          </p:cNvPr>
          <p:cNvSpPr>
            <a:spLocks xmlns:a="http://schemas.openxmlformats.org/drawingml/2006/main" noGrp="1"/>
          </p:cNvSpPr>
          <p:nvPr/>
        </p:nvSpPr>
        <p:spPr>
          <a:xfrm xmlns:a="http://schemas.openxmlformats.org/drawingml/2006/main">
            <a:off x="609905" y="4133088"/>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7:p xmlns:ns17="http://schemas.openxmlformats.org/drawingml/2006/main">
            <ns17:pPr algn="l">
              <ns17:defRPr sz="2400" b="0">
                <ns17:solidFill>
                  <ns17:srgbClr val="F4F7FA"/>
                </ns17:solidFill>
                <ns17:latin typeface="Arial"/>
                <ns17:ea typeface="Arial"/>
                <ns17:cs typeface="Arial"/>
              </ns17:defRPr>
            </ns17:pPr>
            <ns17:r>
              <ns17:rPr sz="2400" b="0">
                <ns17:solidFill>
                  <ns17:srgbClr val="F4F7FA"/>
                </ns17:solidFill>
                <ns17:latin typeface="Arial"/>
                <ns17:ea typeface="Arial"/>
                <ns17:cs typeface="Arial"/>
              </ns17:rPr>
              <ns17:t>By what mechanism?</ns17:t>
            </ns17:r>
          </ns17:p>
        </p:txBody>
      </p:sp>
      <p:sp>
        <p:nvSpPr>
          <p:cNvPr id="29" name="">
            <a:extLst xmlns:a="http://schemas.openxmlformats.org/drawingml/2006/main">
              <a:ext uri="{FF2B5EF4-FFF2-40B4-BE49-F238E27FC236}">
                <a16:creationId xmlns:a16="http://schemas.microsoft.com/office/drawing/2014/main" id="{6D363AF3-EF7A-45A2-96AB-271BCD1373BD}"/>
              </a:ext>
            </a:extLst>
          </p:cNvPr>
          <p:cNvSpPr>
            <a:spLocks xmlns:a="http://schemas.openxmlformats.org/drawingml/2006/main" noGrp="1"/>
          </p:cNvSpPr>
          <p:nvPr/>
        </p:nvSpPr>
        <p:spPr>
          <a:xfrm xmlns:a="http://schemas.openxmlformats.org/drawingml/2006/main">
            <a:off x="609905" y="4690872"/>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8:p xmlns:ns18="http://schemas.openxmlformats.org/drawingml/2006/main">
            <ns18:pPr algn="l">
              <ns18:defRPr sz="2400" b="0">
                <ns18:solidFill>
                  <ns18:srgbClr val="F4F7FA"/>
                </ns18:solidFill>
                <ns18:latin typeface="Arial"/>
                <ns18:ea typeface="Arial"/>
                <ns18:cs typeface="Arial"/>
              </ns18:defRPr>
            </ns18:pPr>
            <ns18:r>
              <ns18:rPr sz="2400" b="0">
                <ns18:solidFill>
                  <ns18:srgbClr val="F4F7FA"/>
                </ns18:solidFill>
                <ns18:latin typeface="Arial"/>
                <ns18:ea typeface="Arial"/>
                <ns18:cs typeface="Arial"/>
              </ns18:rPr>
              <ns18:t>What would show system-level improvement?</ns18:t>
            </ns18:r>
          </ns18:p>
        </p:txBody>
      </p:sp>
      <p:sp>
        <p:nvSpPr>
          <p:cNvPr id="31" name="">
            <a:extLst xmlns:a="http://schemas.openxmlformats.org/drawingml/2006/main">
              <a:ext uri="{FF2B5EF4-FFF2-40B4-BE49-F238E27FC236}">
                <a16:creationId xmlns:a16="http://schemas.microsoft.com/office/drawing/2014/main" id="{12433076-78FC-4165-A25B-ADAD3BBBFD75}"/>
              </a:ext>
            </a:extLst>
          </p:cNvPr>
          <p:cNvSpPr>
            <a:spLocks xmlns:a="http://schemas.openxmlformats.org/drawingml/2006/main" noGrp="1"/>
          </p:cNvSpPr>
          <p:nvPr/>
        </p:nvSpPr>
        <p:spPr>
          <a:xfrm xmlns:a="http://schemas.openxmlformats.org/drawingml/2006/main">
            <a:off x="609905" y="5266944"/>
            <a:ext cx="109728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9:p xmlns:ns19="http://schemas.openxmlformats.org/drawingml/2006/main">
            <ns19:pPr algn="l">
              <ns19:defRPr sz="2400" b="0">
                <ns19:solidFill>
                  <ns19:srgbClr val="F4F7FA"/>
                </ns19:solidFill>
                <ns19:latin typeface="Arial"/>
                <ns19:ea typeface="Arial"/>
                <ns19:cs typeface="Arial"/>
              </ns19:defRPr>
            </ns19:pPr>
            <ns19:r>
              <ns19:rPr sz="2400" b="0">
                <ns19:solidFill>
                  <ns19:srgbClr val="F4F7FA"/>
                </ns19:solidFill>
                <ns19:latin typeface="Arial"/>
                <ns19:ea typeface="Arial"/>
                <ns19:cs typeface="Arial"/>
              </ns19:rPr>
              <ns19:t>What would make us revise the hypothesis</ns19:t>
            </ns19:r>
          </ns19:p>
          <ns20:p xmlns:ns20="http://schemas.openxmlformats.org/drawingml/2006/main">
            <ns20:pPr algn="l">
              <ns20:defRPr sz="2400" b="0">
                <ns20:solidFill>
                  <ns20:srgbClr val="F4F7FA"/>
                </ns20:solidFill>
                <ns20:latin typeface="Arial"/>
                <ns20:ea typeface="Arial"/>
                <ns20:cs typeface="Arial"/>
              </ns20:defRPr>
            </ns20:pPr>
            <ns20:r>
              <ns20:rPr sz="2400" b="0">
                <ns20:solidFill>
                  <ns20:srgbClr val="F4F7FA"/>
                </ns20:solidFill>
                <ns20:latin typeface="Arial"/>
                <ns20:ea typeface="Arial"/>
                <ns20:cs typeface="Arial"/>
              </ns20:rPr>
              <ns20:t>or delegation boundary?</ns20:t>
            </ns20:r>
          </ns20:p>
        </p:txBody>
      </p:sp>
      <p:sp>
        <p:nvSpPr>
          <p:cNvPr id="42" name="">
            <a:extLst xmlns:a="http://schemas.openxmlformats.org/drawingml/2006/main">
              <a:ext uri="{FF2B5EF4-FFF2-40B4-BE49-F238E27FC236}">
                <a16:creationId xmlns:a16="http://schemas.microsoft.com/office/drawing/2014/main" id="{F8660A65-DBF8-4C32-94F5-81D3AE131B96}"/>
              </a:ext>
            </a:extLst>
          </p:cNvPr>
          <p:cNvSpPr>
            <a:spLocks xmlns:a="http://schemas.openxmlformats.org/drawingml/2006/main" noGrp="1"/>
          </p:cNvSpPr>
          <p:nvPr/>
        </p:nvSpPr>
        <p:spPr>
          <a:xfrm xmlns:a="http://schemas.openxmlformats.org/drawingml/2006/main">
            <a:off x="609905" y="6382512"/>
            <a:ext cx="10652760"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1:p xmlns:ns21="http://schemas.openxmlformats.org/drawingml/2006/main">
            <ns21:pPr algn="l">
              <ns21:defRPr sz="1800" b="1">
                <ns21:solidFill>
                  <ns21:srgbClr val="28C7F7"/>
                </ns21:solidFill>
                <ns21:latin typeface="Arial"/>
                <ns21:ea typeface="Arial"/>
                <ns21:cs typeface="Arial"/>
              </ns21:defRPr>
            </ns21:pPr>
            <ns21:r>
              <ns21:rPr sz="1800" b="1">
                <ns21:solidFill>
                  <ns21:srgbClr val="28C7F7"/>
                </ns21:solidFill>
                <ns21:latin typeface="Arial"/>
                <ns21:ea typeface="Arial"/>
                <ns21:cs typeface="Arial"/>
              </ns21:rPr>
              <ns21:t>More capability still requires engineering responsibility.</ns21:t>
            </ns21:r>
          </ns21:p>
        </p:txBody>
      </p:sp>
      <p:sp>
        <p:nvSpPr>
          <p:cNvPr id="70" name="DevCon R2 70"/>
          <p:cNvSpPr>
            <a:spLocks xmlns:a="http://schemas.openxmlformats.org/drawingml/2006/main" noGrp="1"/>
          </p:cNvSpPr>
          <p:nvPr/>
        </p:nvSpPr>
        <p:spPr>
          <a:xfrm xmlns:a="http://schemas.openxmlformats.org/drawingml/2006/main">
            <a:off x="457200" y="2487168"/>
            <a:ext cx="11274552" cy="685800"/>
          </a:xfrm>
          <a:custGeom xmlns:a="http://schemas.openxmlformats.org/drawingml/2006/main">
            <a:pathLst>
              <a:path w="11274552" h="685800">
                <a:moveTo>
                  <a:pt x="11124590" y="0"/>
                </a:moveTo>
                <a:lnTo>
                  <a:pt x="11274552" y="0"/>
                </a:lnTo>
                <a:lnTo>
                  <a:pt x="11274552" y="685800"/>
                </a:lnTo>
                <a:lnTo>
                  <a:pt x="0" y="685800"/>
                </a:lnTo>
                <a:lnTo>
                  <a:pt x="0" y="0"/>
                </a:lnTo>
                <a:lnTo>
                  <a:pt x="152705" y="0"/>
                </a:lnTo>
              </a:path>
            </a:pathLst>
          </a:custGeom>
          <a:noFill xmlns:a="http://schemas.openxmlformats.org/drawingml/2006/main"/>
          <a:ln xmlns:a="http://schemas.openxmlformats.org/drawingml/2006/main" w="16193">
            <a:solidFill>
              <a:srgbClr val="F5B61C"/>
            </a:solidFill>
            <a:prstDash val="solid"/>
            <a:tailEnd type="triangle" w="med" len="med"/>
          </a:ln>
        </p:spPr>
      </p:sp>
    </p:spTree>
    <p:extLst>
      <p:ext uri="{BB962C8B-B14F-4D97-AF65-F5344CB8AC3E}">
        <p14:creationId xmlns:p14="http://schemas.microsoft.com/office/powerpoint/2010/main" val="48240125"/>
      </p:ext>
    </p:extLst>
  </p:cSld>
</p:sld>
</file>

<file path=ppt/slides/slide11.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22D4994-5BB9-45EF-AFFE-3A5A43E81545}"/>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Continue the Conversation</a:t>
            </a:r>
          </a:p>
        </p:txBody>
      </p:sp>
      <p:sp>
        <p:nvSpPr>
          <p:cNvPr id="2" name="">
            <a:extLst xmlns:a="http://schemas.openxmlformats.org/drawingml/2006/main">
              <a:ext uri="{FF2B5EF4-FFF2-40B4-BE49-F238E27FC236}">
                <a16:creationId xmlns:a16="http://schemas.microsoft.com/office/drawing/2014/main" id="{DA8479BD-1E68-4753-9355-3C00FEF0571B}"/>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B1EB4E2C-8CC5-4308-B10C-F8DF93C928C9}"/>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2EF4D987-4D33-4C15-A7CA-E836FF277D83}"/>
              </a:ext>
            </a:extLst>
          </p:cNvPr>
          <p:cNvSpPr>
            <a:spLocks xmlns:a="http://schemas.openxmlformats.org/drawingml/2006/main" noGrp="1"/>
          </p:cNvSpPr>
          <p:nvPr/>
        </p:nvSpPr>
        <p:spPr>
          <a:xfrm xmlns:a="http://schemas.openxmlformats.org/drawingml/2006/main">
            <a:off x="609905" y="5074920"/>
            <a:ext cx="1097280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p xmlns:ns2="http://schemas.openxmlformats.org/drawingml/2006/main">
            <ns2:pPr algn="ctr">
              <ns2:defRPr sz="3000" b="1">
                <ns2:solidFill>
                  <ns2:srgbClr val="28C7F7"/>
                </ns2:solidFill>
                <ns2:latin typeface="Arial"/>
                <ns2:ea typeface="Arial"/>
                <ns2:cs typeface="Arial"/>
              </ns2:defRPr>
            </ns2:pPr>
            <ns2:r>
              <ns2:rPr sz="3000" b="1">
                <ns2:solidFill>
                  <ns2:srgbClr val="28C7F7"/>
                </ns2:solidFill>
                <ns2:latin typeface="Arial"/>
                <ns2:ea typeface="Arial"/>
                <ns2:cs typeface="Arial"/>
              </ns2:rPr>
              <ns2:t>vitaliioborskyi.ai</ns2:t>
            </ns2:r>
          </ns2:p>
        </p:txBody>
      </p:sp>
      <p:sp>
        <p:nvSpPr>
          <p:cNvPr id="6" name="">
            <a:extLst xmlns:a="http://schemas.openxmlformats.org/drawingml/2006/main">
              <a:ext uri="{FF2B5EF4-FFF2-40B4-BE49-F238E27FC236}">
                <a16:creationId xmlns:a16="http://schemas.microsoft.com/office/drawing/2014/main" id="{6C8F24D6-3C08-42B7-9DE3-C7A27327DE83}"/>
              </a:ext>
            </a:extLst>
          </p:cNvPr>
          <p:cNvSpPr>
            <a:spLocks xmlns:a="http://schemas.openxmlformats.org/drawingml/2006/main" noGrp="1"/>
          </p:cNvSpPr>
          <p:nvPr/>
        </p:nvSpPr>
        <p:spPr>
          <a:xfrm xmlns:a="http://schemas.openxmlformats.org/drawingml/2006/main">
            <a:off x="609905" y="5724144"/>
            <a:ext cx="109728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3:p xmlns:ns3="http://schemas.openxmlformats.org/drawingml/2006/main">
            <ns3:pPr algn="ctr">
              <ns3:defRPr sz="2100" b="0">
                <ns3:solidFill>
                  <ns3:srgbClr val="F4F7FA"/>
                </ns3:solidFill>
                <ns3:latin typeface="Arial"/>
                <ns3:ea typeface="Arial"/>
                <ns3:cs typeface="Arial"/>
              </ns3:defRPr>
            </ns3:pPr>
            <ns3:r>
              <ns3:rPr sz="2100" b="0">
                <ns3:solidFill>
                  <ns3:srgbClr val="F4F7FA"/>
                </ns3:solidFill>
                <ns3:latin typeface="Arial"/>
                <ns3:ea typeface="Arial"/>
                <ns3:cs typeface="Arial"/>
              </ns3:rPr>
              <ns3:t>Research · Articles · Talks</ns3:t>
            </ns3:r>
          </ns3:p>
        </p:txBody>
      </p:sp>
      <p:pic>
        <p:nvPicPr>
          <p:cNvPr id="27" name="" descr="QR code to https://vitaliioborskyi.ai/">
            <ns0:hlinkClick xmlns:ns0="http://schemas.openxmlformats.org/drawingml/2006/main" xmlns:ns1="http://schemas.openxmlformats.org/officeDocument/2006/relationships" ns1:id="rIdDevconWebsite"/>
          </p:cNvPr>
          <p:cNvPicPr>
            <a:picLocks xmlns:a="http://schemas.openxmlformats.org/drawingml/2006/main" noChangeAspect="1"/>
          </p:cNvPicPr>
          <p:nvPr/>
        </p:nvPicPr>
        <p:blipFill>
          <a:blip xmlns:r="http://schemas.openxmlformats.org/officeDocument/2006/relationships" xmlns:a="http://schemas.openxmlformats.org/drawingml/2006/main" r:embed="rIdDevconWebsiteQr"/>
          <a:stretch xmlns:a="http://schemas.openxmlformats.org/drawingml/2006/main"/>
        </p:blipFill>
        <p:spPr>
          <a:xfrm xmlns:a="http://schemas.openxmlformats.org/drawingml/2006/main">
            <a:off x="4610405" y="1828800"/>
            <a:ext cx="2971800" cy="29718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41B9CDE1-C775-423E-917C-B094A8C52CA8}"/>
              </a:ext>
            </a:extLst>
          </p:cNvPr>
          <p:cNvSpPr>
            <a:spLocks xmlns:a="http://schemas.openxmlformats.org/drawingml/2006/main" noGrp="1"/>
          </p:cNvSpPr>
          <p:nvPr/>
        </p:nvSpPr>
        <p:spPr>
          <a:xfrm xmlns:a="http://schemas.openxmlformats.org/drawingml/2006/main" flipH="0" flipV="0">
            <a:off x="609600" y="6219825"/>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18" name="">
            <a:extLst xmlns:a="http://schemas.openxmlformats.org/drawingml/2006/main">
              <a:ext uri="{FF2B5EF4-FFF2-40B4-BE49-F238E27FC236}">
                <a16:creationId xmlns:a16="http://schemas.microsoft.com/office/drawing/2014/main" id="{63625B3D-CEFC-4685-A7A7-2427885A1D0C}"/>
              </a:ext>
            </a:extLst>
          </p:cNvPr>
          <p:cNvSpPr>
            <a:spLocks xmlns:a="http://schemas.openxmlformats.org/drawingml/2006/main" noGrp="1"/>
          </p:cNvSpPr>
          <p:nvPr/>
        </p:nvSpPr>
        <p:spPr>
          <a:xfrm xmlns:a="http://schemas.openxmlformats.org/drawingml/2006/main">
            <a:off x="609600" y="6353175"/>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F4F7FA"/>
                </a:solidFill>
                <a:latin typeface="Arial"/>
                <a:ea typeface="Arial"/>
                <a:cs typeface="Arial"/>
              </a:defRPr>
            </a:pPr>
            <a:r>
              <a:rPr sz="1575" b="1">
                <a:solidFill>
                  <a:srgbClr val="F4F7FA"/>
                </a:solidFill>
                <a:latin typeface="Arial"/>
                <a:ea typeface="Arial"/>
                <a:cs typeface="Arial"/>
              </a:rPr>
              <a:t>Vitalii Oborskyi</a:t>
            </a:r>
          </a:p>
        </p:txBody>
      </p:sp>
      <p:sp>
        <p:nvSpPr>
          <p:cNvPr id="19" name="">
            <a:extLst xmlns:a="http://schemas.openxmlformats.org/drawingml/2006/main">
              <a:ext uri="{FF2B5EF4-FFF2-40B4-BE49-F238E27FC236}">
                <a16:creationId xmlns:a16="http://schemas.microsoft.com/office/drawing/2014/main" id="{305933A6-58D7-4A58-A021-6150F51AC716}"/>
              </a:ext>
            </a:extLst>
          </p:cNvPr>
          <p:cNvSpPr>
            <a:spLocks xmlns:a="http://schemas.openxmlformats.org/drawingml/2006/main" noGrp="1"/>
          </p:cNvSpPr>
          <p:nvPr/>
        </p:nvSpPr>
        <p:spPr>
          <a:xfrm xmlns:a="http://schemas.openxmlformats.org/drawingml/2006/main">
            <a:off x="3000375" y="6353175"/>
            <a:ext cx="328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28C7F7"/>
                </a:solidFill>
                <a:latin typeface="Arial"/>
                <a:ea typeface="Arial"/>
                <a:cs typeface="Arial"/>
              </a:defRPr>
            </a:pPr>
            <a:r>
              <a:rPr sz="1350" b="0">
                <a:solidFill>
                  <a:srgbClr val="28C7F7"/>
                </a:solidFill>
                <a:latin typeface="Arial"/>
                <a:ea typeface="Arial"/>
                <a:cs typeface="Arial"/>
                <a:hlinkClick xmlns:r="http://schemas.openxmlformats.org/officeDocument/2006/relationships" r:id="Raeb7bbae3b19404f"/>
              </a:rPr>
              <a:t>oborskyivitalii@gmail.com</a:t>
            </a:r>
          </a:p>
        </p:txBody>
      </p:sp>
      <p:sp>
        <p:nvSpPr>
          <p:cNvPr id="20" name="">
            <a:extLst xmlns:a="http://schemas.openxmlformats.org/drawingml/2006/main">
              <a:ext uri="{FF2B5EF4-FFF2-40B4-BE49-F238E27FC236}">
                <a16:creationId xmlns:a16="http://schemas.microsoft.com/office/drawing/2014/main" id="{A839D3FE-64D5-45D8-B2DD-43186EF6E9F0}"/>
              </a:ext>
            </a:extLst>
          </p:cNvPr>
          <p:cNvSpPr>
            <a:spLocks xmlns:a="http://schemas.openxmlformats.org/drawingml/2006/main" noGrp="1"/>
          </p:cNvSpPr>
          <p:nvPr/>
        </p:nvSpPr>
        <p:spPr>
          <a:xfrm xmlns:a="http://schemas.openxmlformats.org/drawingml/2006/main">
            <a:off x="6438900" y="6353175"/>
            <a:ext cx="4552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28C7F7"/>
                </a:solidFill>
                <a:latin typeface="Arial"/>
                <a:ea typeface="Arial"/>
                <a:cs typeface="Arial"/>
              </a:defRPr>
            </a:pPr>
            <a:r>
              <a:rPr sz="1275" b="0">
                <a:solidFill>
                  <a:srgbClr val="28C7F7"/>
                </a:solidFill>
                <a:latin typeface="Arial"/>
                <a:ea typeface="Arial"/>
                <a:cs typeface="Arial"/>
                <a:hlinkClick xmlns:r="http://schemas.openxmlformats.org/officeDocument/2006/relationships" r:id="R9df8d43fee184339"/>
              </a:rPr>
              <a:t>https://www.linkedin.com/in/vitaliioborskyi/</a:t>
            </a:r>
          </a:p>
        </p:txBody>
      </p:sp>
    </p:spTree>
    <p:extLst>
      <p:ext uri="{BB962C8B-B14F-4D97-AF65-F5344CB8AC3E}">
        <p14:creationId xmlns:p14="http://schemas.microsoft.com/office/powerpoint/2010/main" val="17969115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11</ap:Slides>
  <ap:Notes>11</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2026-10-01T11:27:35.0340000Z</dcterms:created>
  <dcterms:modified xsi:type="dcterms:W3CDTF">2026-10-01T11:27:35.0340000Z</dcterms:modified>
</coreProperties>
</file>