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47567c07bb4e08" /><Relationship Type="http://schemas.openxmlformats.org/officeDocument/2006/relationships/extended-properties" Target="/docProps/app.xml" Id="Rb7fadf0974124d86" /><Relationship Type="http://schemas.openxmlformats.org/officeDocument/2006/relationships/officeDocument" Target="/ppt/presentation.xml" Id="R2ed83644920a4589" /></Relationships>
</file>

<file path=ppt/presentation.xml><?xml version="1.0" encoding="utf-8"?>
<p:presentation xmlns:p="http://schemas.openxmlformats.org/presentationml/2006/main">
  <p:sldMasterIdLst>
    <p:sldMasterId xmlns:r="http://schemas.openxmlformats.org/officeDocument/2006/relationships" id="2147483648" r:id="R77d7b5f966ea40dc"/>
  </p:sldMasterIdLst>
  <p:notesMasterIdLst>
    <p:notesMasterId xmlns:r="http://schemas.openxmlformats.org/officeDocument/2006/relationships" r:id="R04be28827726481a"/>
  </p:notesMasterIdLst>
  <p:sldIdLst>
    <p:sldId xmlns:r="http://schemas.openxmlformats.org/officeDocument/2006/relationships" id="256" r:id="R0a677aadf31148fa"/>
    <p:sldId xmlns:r="http://schemas.openxmlformats.org/officeDocument/2006/relationships" id="258" r:id="R5338469d95fb48be"/>
    <p:sldId xmlns:r="http://schemas.openxmlformats.org/officeDocument/2006/relationships" id="259" r:id="Rd1d5f3c465534863"/>
    <p:sldId xmlns:r="http://schemas.openxmlformats.org/officeDocument/2006/relationships" id="260" r:id="Rce2d980faf6d45bf"/>
    <p:sldId xmlns:r="http://schemas.openxmlformats.org/officeDocument/2006/relationships" id="262" r:id="R89e1b67663e344ec"/>
    <p:sldId xmlns:r="http://schemas.openxmlformats.org/officeDocument/2006/relationships" id="264" r:id="R04a012f9c3284cc7"/>
    <p:sldId xmlns:r="http://schemas.openxmlformats.org/officeDocument/2006/relationships" id="268" r:id="R6bbac3830afc4e6f"/>
    <p:sldId xmlns:r="http://schemas.openxmlformats.org/officeDocument/2006/relationships" id="269" r:id="R84612743f64d4346"/>
    <p:sldId xmlns:r="http://schemas.openxmlformats.org/officeDocument/2006/relationships" id="270" r:id="R54571d04add44e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77bbd972e71e43b3"/><Relationship Type="http://schemas.openxmlformats.org/officeDocument/2006/relationships/slideMaster" Target="/ppt/slideMasters/slideMaster1.xml" Id="R77d7b5f966ea40dc"/><Relationship Type="http://schemas.openxmlformats.org/officeDocument/2006/relationships/notesMaster" Target="/ppt/notesMasters/notesMaster1.xml" Id="R04be28827726481a"/><Relationship Type="http://schemas.openxmlformats.org/officeDocument/2006/relationships/presProps" Target="/ppt/presProps.xml" Id="R66fd29477c784a39"/><Relationship Type="http://schemas.openxmlformats.org/officeDocument/2006/relationships/tableStyles" Target="/ppt/tableStyles.xml" Id="R4a5fa1262d48497b"/><Relationship Type="http://schemas.openxmlformats.org/officeDocument/2006/relationships/slide" Target="/ppt/slides/slide1.xml" Id="R0a677aadf31148fa"/><Relationship Type="http://schemas.openxmlformats.org/officeDocument/2006/relationships/slide" Target="/ppt/slides/slide2.xml" Id="R5338469d95fb48be"/><Relationship Type="http://schemas.openxmlformats.org/officeDocument/2006/relationships/slide" Target="/ppt/slides/slide3.xml" Id="Rd1d5f3c465534863"/><Relationship Type="http://schemas.openxmlformats.org/officeDocument/2006/relationships/slide" Target="/ppt/slides/slide4.xml" Id="Rce2d980faf6d45bf"/><Relationship Type="http://schemas.openxmlformats.org/officeDocument/2006/relationships/slide" Target="/ppt/slides/slide5.xml" Id="R89e1b67663e344ec"/><Relationship Type="http://schemas.openxmlformats.org/officeDocument/2006/relationships/slide" Target="/ppt/slides/slide6.xml" Id="R04a012f9c3284cc7"/><Relationship Type="http://schemas.openxmlformats.org/officeDocument/2006/relationships/slide" Target="/ppt/slides/slide7.xml" Id="R6bbac3830afc4e6f"/><Relationship Type="http://schemas.openxmlformats.org/officeDocument/2006/relationships/slide" Target="/ppt/slides/slide8.xml" Id="R84612743f64d4346"/><Relationship Type="http://schemas.openxmlformats.org/officeDocument/2006/relationships/slide" Target="/ppt/slides/slide9.xml" Id="R54571d04add44e87"/></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3ee3d1321c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23342000dda424a" /><Relationship Type="http://schemas.openxmlformats.org/officeDocument/2006/relationships/notesMaster" Target="/ppt/notesMasters/notesMaster1.xml" Id="R54557875293e4e9f" /></Relationships>
</file>

<file path=ppt/notesSlides/_rels/notesSlide2.xml.rels><?xml version="1.0" encoding="utf-8"?><Relationships xmlns="http://schemas.openxmlformats.org/package/2006/relationships"><Relationship Type="http://schemas.openxmlformats.org/officeDocument/2006/relationships/slide" Target="/ppt/slides/slide2.xml" Id="R2f440f6fbe0c43d2" /><Relationship Type="http://schemas.openxmlformats.org/officeDocument/2006/relationships/notesMaster" Target="/ppt/notesMasters/notesMaster1.xml" Id="R07ecf341b56741df" /></Relationships>
</file>

<file path=ppt/notesSlides/_rels/notesSlide3.xml.rels><?xml version="1.0" encoding="utf-8"?><Relationships xmlns="http://schemas.openxmlformats.org/package/2006/relationships"><Relationship Type="http://schemas.openxmlformats.org/officeDocument/2006/relationships/slide" Target="/ppt/slides/slide3.xml" Id="Rb0a1e7ffcc3445cf" /><Relationship Type="http://schemas.openxmlformats.org/officeDocument/2006/relationships/notesMaster" Target="/ppt/notesMasters/notesMaster1.xml" Id="R029e595928f74738" /></Relationships>
</file>

<file path=ppt/notesSlides/_rels/notesSlide4.xml.rels><?xml version="1.0" encoding="utf-8"?><Relationships xmlns="http://schemas.openxmlformats.org/package/2006/relationships"><Relationship Type="http://schemas.openxmlformats.org/officeDocument/2006/relationships/slide" Target="/ppt/slides/slide4.xml" Id="Rafbe2f1a325349dc" /><Relationship Type="http://schemas.openxmlformats.org/officeDocument/2006/relationships/notesMaster" Target="/ppt/notesMasters/notesMaster1.xml" Id="R0d131d9b244f42de" /></Relationships>
</file>

<file path=ppt/notesSlides/_rels/notesSlide5.xml.rels><?xml version="1.0" encoding="utf-8"?><Relationships xmlns="http://schemas.openxmlformats.org/package/2006/relationships"><Relationship Type="http://schemas.openxmlformats.org/officeDocument/2006/relationships/slide" Target="/ppt/slides/slide5.xml" Id="R56503d3713724474" /><Relationship Type="http://schemas.openxmlformats.org/officeDocument/2006/relationships/notesMaster" Target="/ppt/notesMasters/notesMaster1.xml" Id="R0ce6b1201c644d8f" /></Relationships>
</file>

<file path=ppt/notesSlides/_rels/notesSlide6.xml.rels><?xml version="1.0" encoding="utf-8"?><Relationships xmlns="http://schemas.openxmlformats.org/package/2006/relationships"><Relationship Type="http://schemas.openxmlformats.org/officeDocument/2006/relationships/slide" Target="/ppt/slides/slide6.xml" Id="Ra89dc6f09bbe4fca" /><Relationship Type="http://schemas.openxmlformats.org/officeDocument/2006/relationships/notesMaster" Target="/ppt/notesMasters/notesMaster1.xml" Id="R6c456551dfbb405f" /></Relationships>
</file>

<file path=ppt/notesSlides/_rels/notesSlide7.xml.rels><?xml version='1.0' encoding='utf-8'?>
<Relationships xmlns="http://schemas.openxmlformats.org/package/2006/relationships"><Relationship Type="http://schemas.openxmlformats.org/officeDocument/2006/relationships/slide" Target="/ppt/slides/slide7.xml" Id="Rfabde8af863a4d3d"/><Relationship Type="http://schemas.openxmlformats.org/officeDocument/2006/relationships/notesMaster" Target="/ppt/notesMasters/notesMaster1.xml" Id="R2a70af3203c34bf8"/></Relationships>
</file>

<file path=ppt/notesSlides/_rels/notesSlide8.xml.rels><?xml version='1.0' encoding='utf-8'?>
<Relationships xmlns="http://schemas.openxmlformats.org/package/2006/relationships"><Relationship Type="http://schemas.openxmlformats.org/officeDocument/2006/relationships/slide" Target="/ppt/slides/slide8.xml" Id="R0d10c7fd7e9a42c3"/><Relationship Type="http://schemas.openxmlformats.org/officeDocument/2006/relationships/notesMaster" Target="/ppt/notesMasters/notesMaster1.xml" Id="R64066f08f4dc4018"/></Relationships>
</file>

<file path=ppt/notesSlides/_rels/notesSlide9.xml.rels><?xml version='1.0' encoding='utf-8'?>
<Relationships xmlns="http://schemas.openxmlformats.org/package/2006/relationships"><Relationship Type="http://schemas.openxmlformats.org/officeDocument/2006/relationships/slide" Target="/ppt/slides/slide9.xml" Id="R8340529930f9404b"/><Relationship Type="http://schemas.openxmlformats.org/officeDocument/2006/relationships/notesMaster" Target="/ppt/notesMasters/notesMaster1.xml" Id="R538e7c1951d5402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AI can now take on parts of interpretation and judgment. We use that capability while building software, and increasingly inside the products themselves. In both cases, the surrounding system has to adapt. My question is what happens when the capacity to generate or decide grows faster than our capacity to understand, verify and recover.</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ns4:p xmlns:ns4="http://schemas.openxmlformats.org/drawingml/2006/main">
            <ns4:r>
              <ns4:rPr lang="en-GB">
                <ns4:latin typeface="Arial"/>
              </ns4:rPr>
              <ns4:t>https://github.com/UncertaintyArchitectureGroup/uncertainty-architecture/blob/22639d311d5fb46a23f3d5cdd819800dbe1169d9/assets/presentations/pmday-2026/artwork/PROVENANCE.md</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Imagine that a team can write, review and integrate eight comparable changes a week. AI raises generation to one hundred, while review and integration stay at eight. In this deliberately simple example, ninety-two changes join the queue each week. We accelerated one stage and exposed the downstream constraints. The effect on delivery depends on the capacity of the whole system.</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These studies measure different things, so their numbers do not form one productivity score. The NBER estimates show much larger increases in changed code than in releases. DORA reports perceived productivity gains alongside an association between AI adoption and delivery instability. The other reports add signals about perceived work value and changes in code structure. Together, they motivate a question about system balance, without proving one universal effect.</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ns4:p xmlns:ns4="http://schemas.openxmlformats.org/drawingml/2006/main">
            <ns4:r>
              <ns4:rPr lang="en-GB">
                <ns4:latin typeface="Arial"/>
              </ns4:rPr>
              <ns4:t>https://github.com/UncertaintyArchitectureGroup/uncertainty-architecture/blob/22639d311d5fb46a23f3d5cdd819800dbe1169d9/assets/presentations/pmday-2026/EVIDENCE.md</ns4:t>
            </ns4:r>
          </ns4:p>
          <ns5:p xmlns:ns5="http://schemas.openxmlformats.org/drawingml/2006/main">
            <ns5:r>
              <ns5:rPr lang="en-GB">
                <ns5:latin typeface="Arial"/>
              </ns5:rPr>
              <ns5:t>https://www.nber.org/papers/w35275</ns5:t>
            </ns5:r>
          </ns5:p>
          <ns6:p xmlns:ns6="http://schemas.openxmlformats.org/drawingml/2006/main">
            <ns6:r>
              <ns6:rPr lang="en-GB">
                <ns6:latin typeface="Arial"/>
              </ns6:rPr>
              <ns6:t>https://dora.dev/research/2025/dora-report/</ns6:t>
            </ns6:r>
          </ns6:p>
          <ns7:p xmlns:ns7="http://schemas.openxmlformats.org/drawingml/2006/main">
            <ns7:r>
              <ns7:rPr lang="en-GB">
                <ns7:latin typeface="Arial"/>
              </ns7:rPr>
              <ns7:t>https://gitclear-public.s3.us-west-2.amazonaws.com/GitClear-AI-Copilot-Code-Quality-2025.pdf</ns7:t>
            </ns7:r>
          </ns7:p>
          <ns8:p xmlns:ns8="http://schemas.openxmlformats.org/drawingml/2006/main">
            <ns8:r>
              <ns8:rPr lang="en-GB">
                <ns8:latin typeface="Arial"/>
              </ns8:rPr>
              <ns8:t>https://www.gitclear.com/blog/annual_ai_code_quality_research_2026_diff_digest_git_ai_diff_viewer</ns8:t>
            </ns8:r>
          </ns8:p>
          <ns9:p xmlns:ns9="http://schemas.openxmlformats.org/drawingml/2006/main">
            <ns9:r>
              <ns9:rPr lang="en-GB">
                <ns9:latin typeface="Arial"/>
              </ns9:rPr>
              <ns9:t>https://metr.org/blog/2026-05-11-ai-usage-survey/</ns9:t>
            </ns9:r>
          </ns9:p>
          <ns10:p xmlns:ns10="http://schemas.openxmlformats.org/drawingml/2006/main">
            <ns10:r>
              <ns10:rPr lang="en-GB">
                <ns10:latin typeface="Arial"/>
              </ns10:rPr>
              <ns10:t>https://arxiv.org/html/2601.13597v2</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Faster change becomes a problem when understanding cannot keep pace. A team may ship working code and still lack the expertise needed to explain a failure or restore service. The gap on this slide is a hypothesis we should test in our own systems. AI can help build that understanding, but we need evidence that the capability exists when required. Responsibility becomes operational only when people have sufficient context, authority and time to act.</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That is why I think we are searching for a new SDLC equilibrium. The bottleneck will differ between teams, and it can move as capabilities change. Each proposed operating model makes assumptions about what can be delegated and how the remaining work gets done. We should treat those assumptions as hypotheses, with evidence that could support or overturn them. A useful approach in one setting does not establish a final recipe for every system.</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Now put model judgment inside the product itself. An IT assistant may decide whether to answer an access request, ask for clarification or escalate. I call it a Thinking System when consequential runtime responsibility depends partly on model judgment. We must define its permitted responsibility and evaluate whether its behaviour stays within that boundary. For example, helpful recovery advice cannot compensate for disclosing information the user is not allowed to see.</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Both shifts redistribute cognitive work across a sociotechnical system of people, processes and technology. During delivery, someone needs enough understanding to challenge changes and recover the service. During operation, someone needs evidence about behaviour and the authority to change what the product may do. Both depend on expertise and available time, supported by working feedback. Putting a human on a diagram achieves little if that person cannot act when the system needs them.</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As we search for a new balance, I would ask four questions. Which imbalance does this approach address? By what mechanism should it improve the whole system? What evidence would demonstrate that improvement? What would make us revise the hypothesis or change what we delegate?</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https://github.com/UncertaintyArchitectureGroup/uncertainty-architecture/blob/22639d311d5fb46a23f3d5cdd819800dbe1169d9/assets/presentations/pmday-2026/README.md</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en-GB">
                <ns0:latin typeface="Arial"/>
              </ns0:rPr>
              <ns0:t>Thank you for joining me. The QR code takes you to my website, where you can find my research, articles and talks. I would like to hear where your own team feels the balance shifting.</ns0:t>
            </ns0:r>
          </ns0:p>
          <ns1:p xmlns:ns1="http://schemas.openxmlformats.org/drawingml/2006/main">
            <ns1:r>
              <ns1:rPr lang="en-GB">
                <ns1:latin typeface="Arial"/>
              </ns1:rPr>
              <ns1:t/>
            </ns1:r>
          </ns1:p>
          <ns2:p xmlns:ns2="http://schemas.openxmlformats.org/drawingml/2006/main">
            <ns2:r>
              <ns2:rPr lang="en-GB">
                <ns2:latin typeface="Arial"/>
              </ns2:rPr>
              <ns2:t>Sources:</ns2:t>
            </ns2:r>
          </ns2:p>
          <ns3:p xmlns:ns3="http://schemas.openxmlformats.org/drawingml/2006/main">
            <ns3:r>
              <ns3:rPr lang="en-GB">
                <ns3:latin typeface="Arial"/>
              </ns3:rPr>
              <ns3:t>https://vitaliioborskyi.ai/</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b23cca79a646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4fe74d19b84a41" /><Relationship Type="http://schemas.openxmlformats.org/officeDocument/2006/relationships/slideLayout" Target="/ppt/slideLayouts/slideLayout1.xml" Id="R0e3a49f91d404705"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e3a49f91d404705"/>
  </p:sldLayoutIdLst>
  <p:txStyles>
    <p:titleStyle>
      <a:lvl1pPr algn="l">
        <a:lnSpc>
          <a:spcPct val="90000"/>
        </a:lnSpc>
        <a:spcBef>
          <a:spcPts val="0"/>
        </a:spcBef>
        <a:buNone/>
        <a:defRPr sz="4400">
          <a:solidFill>
            <a:schemeClr val="tx1"/>
          </a:solidFill>
          <a:latin typeface="Arial"/>
          <a:ea typeface="Arial"/>
          <a:cs typeface="Arial"/>
        </a:defRPr>
      </a:lvl1pPr>
    </p:titleStyle>
    <p:bodyStyle>
      <a:lvl1pPr marL="228600" indent="-228600" algn="l">
        <a:lnSpc>
          <a:spcPct val="90000"/>
        </a:lnSpc>
        <a:spcBef>
          <a:spcPts val="1000"/>
        </a:spcBef>
        <a:buChar char="•"/>
        <a:defRPr sz="2800">
          <a:solidFill>
            <a:schemeClr val="tx1"/>
          </a:solidFill>
          <a:latin typeface="Arial"/>
          <a:ea typeface="Arial"/>
          <a:cs typeface="Arial"/>
        </a:defRPr>
      </a:lvl1pPr>
      <a:lvl2pPr marL="685800" indent="-228600" algn="l">
        <a:lnSpc>
          <a:spcPct val="90000"/>
        </a:lnSpc>
        <a:spcBef>
          <a:spcPts val="500"/>
        </a:spcBef>
        <a:buChar char="•"/>
        <a:defRPr sz="2400">
          <a:solidFill>
            <a:schemeClr val="tx1"/>
          </a:solidFill>
          <a:latin typeface="Arial"/>
          <a:ea typeface="Arial"/>
          <a:cs typeface="Arial"/>
        </a:defRPr>
      </a:lvl2pPr>
      <a:lvl3pPr marL="1143000" indent="-228600" algn="l">
        <a:lnSpc>
          <a:spcPct val="90000"/>
        </a:lnSpc>
        <a:spcBef>
          <a:spcPts val="500"/>
        </a:spcBef>
        <a:buChar char="•"/>
        <a:defRPr sz="2000">
          <a:solidFill>
            <a:schemeClr val="tx1"/>
          </a:solidFill>
          <a:latin typeface="Arial"/>
          <a:ea typeface="Arial"/>
          <a:cs typeface="Arial"/>
        </a:defRPr>
      </a:lvl3pPr>
      <a:lvl4pPr marL="1600200" indent="-228600" algn="l">
        <a:lnSpc>
          <a:spcPct val="90000"/>
        </a:lnSpc>
        <a:spcBef>
          <a:spcPts val="500"/>
        </a:spcBef>
        <a:buChar char="•"/>
        <a:defRPr sz="1800">
          <a:solidFill>
            <a:schemeClr val="tx1"/>
          </a:solidFill>
          <a:latin typeface="Arial"/>
          <a:ea typeface="Arial"/>
          <a:cs typeface="Arial"/>
        </a:defRPr>
      </a:lvl4pPr>
      <a:lvl5pPr marL="2057400" indent="-228600" algn="l">
        <a:lnSpc>
          <a:spcPct val="90000"/>
        </a:lnSpc>
        <a:spcBef>
          <a:spcPts val="500"/>
        </a:spcBef>
        <a:buChar char="•"/>
        <a:defRPr sz="1800">
          <a:solidFill>
            <a:schemeClr val="tx1"/>
          </a:solidFill>
          <a:latin typeface="Arial"/>
          <a:ea typeface="Arial"/>
          <a:cs typeface="Arial"/>
        </a:defRPr>
      </a:lvl5pPr>
      <a:lvl6pPr marL="2514600" indent="-228600" algn="l">
        <a:lnSpc>
          <a:spcPct val="90000"/>
        </a:lnSpc>
        <a:spcBef>
          <a:spcPts val="500"/>
        </a:spcBef>
        <a:buChar char="•"/>
        <a:defRPr sz="1800">
          <a:solidFill>
            <a:schemeClr val="tx1"/>
          </a:solidFill>
          <a:latin typeface="Arial"/>
          <a:ea typeface="Arial"/>
          <a:cs typeface="Arial"/>
        </a:defRPr>
      </a:lvl6pPr>
      <a:lvl7pPr marL="2971800" indent="-228600" algn="l">
        <a:lnSpc>
          <a:spcPct val="90000"/>
        </a:lnSpc>
        <a:spcBef>
          <a:spcPts val="500"/>
        </a:spcBef>
        <a:buChar char="•"/>
        <a:defRPr sz="1800">
          <a:solidFill>
            <a:schemeClr val="tx1"/>
          </a:solidFill>
          <a:latin typeface="Arial"/>
          <a:ea typeface="Arial"/>
          <a:cs typeface="Arial"/>
        </a:defRPr>
      </a:lvl7pPr>
      <a:lvl8pPr marL="3429000" indent="-228600" algn="l">
        <a:lnSpc>
          <a:spcPct val="90000"/>
        </a:lnSpc>
        <a:spcBef>
          <a:spcPts val="500"/>
        </a:spcBef>
        <a:buChar char="•"/>
        <a:defRPr sz="1800">
          <a:solidFill>
            <a:schemeClr val="tx1"/>
          </a:solidFill>
          <a:latin typeface="Arial"/>
          <a:ea typeface="Arial"/>
          <a:cs typeface="Arial"/>
        </a:defRPr>
      </a:lvl8pPr>
      <a:lvl9pPr marL="3886200" indent="-228600" algn="l">
        <a:lnSpc>
          <a:spcPct val="90000"/>
        </a:lnSpc>
        <a:spcBef>
          <a:spcPts val="500"/>
        </a:spcBef>
        <a:buChar char="•"/>
        <a:defRPr sz="1800">
          <a:solidFill>
            <a:schemeClr val="tx1"/>
          </a:solidFill>
          <a:latin typeface="Arial"/>
          <a:ea typeface="Arial"/>
          <a:cs typeface="Arial"/>
        </a:defRPr>
      </a:lvl9pPr>
    </p:bodyStyle>
    <p:otherStyle>
      <a:lvl1pPr marL="0" algn="l">
        <a:buNone/>
        <a:defRPr sz="1800">
          <a:solidFill>
            <a:schemeClr val="tx1"/>
          </a:solidFill>
          <a:latin typeface="Arial"/>
          <a:ea typeface="Arial"/>
          <a:cs typeface="Arial"/>
        </a:defRPr>
      </a:lvl1pPr>
      <a:lvl2pPr marL="457200" algn="l">
        <a:buNone/>
        <a:defRPr sz="1800">
          <a:solidFill>
            <a:schemeClr val="tx1"/>
          </a:solidFill>
          <a:latin typeface="Arial"/>
          <a:ea typeface="Arial"/>
          <a:cs typeface="Arial"/>
        </a:defRPr>
      </a:lvl2pPr>
      <a:lvl3pPr marL="914400" algn="l">
        <a:buNone/>
        <a:defRPr sz="1800">
          <a:solidFill>
            <a:schemeClr val="tx1"/>
          </a:solidFill>
          <a:latin typeface="Arial"/>
          <a:ea typeface="Arial"/>
          <a:cs typeface="Arial"/>
        </a:defRPr>
      </a:lvl3pPr>
      <a:lvl4pPr marL="1371600" algn="l">
        <a:buNone/>
        <a:defRPr sz="1800">
          <a:solidFill>
            <a:schemeClr val="tx1"/>
          </a:solidFill>
          <a:latin typeface="Arial"/>
          <a:ea typeface="Arial"/>
          <a:cs typeface="Arial"/>
        </a:defRPr>
      </a:lvl4pPr>
      <a:lvl5pPr marL="1828800" algn="l">
        <a:buNone/>
        <a:defRPr sz="1800">
          <a:solidFill>
            <a:schemeClr val="tx1"/>
          </a:solidFill>
          <a:latin typeface="Arial"/>
          <a:ea typeface="Arial"/>
          <a:cs typeface="Arial"/>
        </a:defRPr>
      </a:lvl5pPr>
      <a:lvl6pPr marL="2286000" algn="l">
        <a:buNone/>
        <a:defRPr sz="1800">
          <a:solidFill>
            <a:schemeClr val="tx1"/>
          </a:solidFill>
          <a:latin typeface="Arial"/>
          <a:ea typeface="Arial"/>
          <a:cs typeface="Arial"/>
        </a:defRPr>
      </a:lvl6pPr>
      <a:lvl7pPr marL="2743200" algn="l">
        <a:buNone/>
        <a:defRPr sz="1800">
          <a:solidFill>
            <a:schemeClr val="tx1"/>
          </a:solidFill>
          <a:latin typeface="Arial"/>
          <a:ea typeface="Arial"/>
          <a:cs typeface="Arial"/>
        </a:defRPr>
      </a:lvl7pPr>
      <a:lvl8pPr marL="3200400" algn="l">
        <a:buNone/>
        <a:defRPr sz="1800">
          <a:solidFill>
            <a:schemeClr val="tx1"/>
          </a:solidFill>
          <a:latin typeface="Arial"/>
          <a:ea typeface="Arial"/>
          <a:cs typeface="Arial"/>
        </a:defRPr>
      </a:lvl8pPr>
      <a:lvl9pPr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92b93a313081491d" /><Relationship Type="http://schemas.openxmlformats.org/officeDocument/2006/relationships/image" Target="/ppt/media/image.png" Id="Rc765ae508fda45f4" /><Relationship Type="http://schemas.openxmlformats.org/officeDocument/2006/relationships/hyperlink" Target="mailto:oborskyivitalii@gmail.com" TargetMode="External" Id="Rb8e2ec0388f24d02" /><Relationship Type="http://schemas.openxmlformats.org/officeDocument/2006/relationships/hyperlink" Target="https://www.linkedin.com/in/vitaliioborskyi/" TargetMode="External" Id="Rdcb135e44fc64fb7" /><Relationship Type="http://schemas.openxmlformats.org/officeDocument/2006/relationships/notesSlide" Target="/ppt/notesSlides/notesSlide1.xml" Id="Rb66eac3278fa4b80"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c1a7365c85194232" /><Relationship Type="http://schemas.openxmlformats.org/officeDocument/2006/relationships/notesSlide" Target="/ppt/notesSlides/notesSlide2.xml" Id="Rfd49a94d35e0494f"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5e67708a45ed455b" /><Relationship Type="http://schemas.openxmlformats.org/officeDocument/2006/relationships/notesSlide" Target="/ppt/notesSlides/notesSlide3.xml" Id="R02fc5a4ecc834657"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400b2285da2d4792" /><Relationship Type="http://schemas.openxmlformats.org/officeDocument/2006/relationships/notesSlide" Target="/ppt/notesSlides/notesSlide4.xml" Id="Ra58db983df074411"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144b4fa39054a87" /><Relationship Type="http://schemas.openxmlformats.org/officeDocument/2006/relationships/notesSlide" Target="/ppt/notesSlides/notesSlide5.xml" Id="R2ae9f2106d9c4683"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6185af8c5cd0434b" /><Relationship Type="http://schemas.openxmlformats.org/officeDocument/2006/relationships/notesSlide" Target="/ppt/notesSlides/notesSlide6.xml" Id="R546ebcd29bdc4f24" /></Relationships>
</file>

<file path=ppt/slides/_rels/slide7.xml.rels><?xml version='1.0' encoding='utf-8'?>
<Relationships xmlns="http://schemas.openxmlformats.org/package/2006/relationships"><Relationship Type="http://schemas.openxmlformats.org/officeDocument/2006/relationships/slideLayout" Target="/ppt/slideLayouts/slideLayout1.xml" Id="Re7f318c204794009"/><Relationship Type="http://schemas.openxmlformats.org/officeDocument/2006/relationships/notesSlide" Target="/ppt/notesSlides/notesSlide7.xml" Id="Re247d10ff2b74f14"/></Relationships>
</file>

<file path=ppt/slides/_rels/slide8.xml.rels><?xml version='1.0' encoding='utf-8'?>
<Relationships xmlns="http://schemas.openxmlformats.org/package/2006/relationships"><Relationship Type="http://schemas.openxmlformats.org/officeDocument/2006/relationships/slideLayout" Target="/ppt/slideLayouts/slideLayout1.xml" Id="R8807ee4cb7b94882"/><Relationship Type="http://schemas.openxmlformats.org/officeDocument/2006/relationships/notesSlide" Target="/ppt/notesSlides/notesSlide8.xml" Id="R2161d283df4b4458"/></Relationships>
</file>

<file path=ppt/slides/_rels/slide9.xml.rels><?xml version='1.0' encoding='utf-8'?>
<Relationships xmlns="http://schemas.openxmlformats.org/package/2006/relationships"><Relationship Type="http://schemas.openxmlformats.org/officeDocument/2006/relationships/slideLayout" Target="/ppt/slideLayouts/slideLayout1.xml" Id="R80231e5049b243e4"/><Relationship Type="http://schemas.openxmlformats.org/officeDocument/2006/relationships/hyperlink" Target="https://github.com/UncertaintyArchitectureGroup/uncertainty-architecture" TargetMode="External" Id="R56f2279741084637"/><Relationship Type="http://schemas.openxmlformats.org/officeDocument/2006/relationships/hyperlink" Target="https://github.com/UncertaintyArchitectureGroup/uncertainty-architecture" TargetMode="External" Id="R8cc7f0da27ff4222"/><Relationship Type="http://schemas.openxmlformats.org/officeDocument/2006/relationships/hyperlink" Target="https://github.com/UncertaintyArchitectureGroup/The-Subprime-Code-Crisis" TargetMode="External" Id="Rc16d36a67a7e44da"/><Relationship Type="http://schemas.openxmlformats.org/officeDocument/2006/relationships/hyperlink" Target="https://github.com/UncertaintyArchitectureGroup/The-Subprime-Code-Crisis" TargetMode="External" Id="R7d31488fd7734e60"/><Relationship Type="http://schemas.openxmlformats.org/officeDocument/2006/relationships/hyperlink" Target="mailto:oborskyivitalii@gmail.com" TargetMode="External" Id="Raeb7bbae3b19404f"/><Relationship Type="http://schemas.openxmlformats.org/officeDocument/2006/relationships/hyperlink" Target="https://www.linkedin.com/in/vitaliioborskyi/" TargetMode="External" Id="R9df8d43fee184339"/><Relationship Type="http://schemas.openxmlformats.org/officeDocument/2006/relationships/notesSlide" Target="/ppt/notesSlides/notesSlide9.xml" Id="R84ffddc4daa94c5e"/><Relationship Id="rIdDevconWebsiteQr" Type="http://schemas.openxmlformats.org/officeDocument/2006/relationships/image" Target="../media/devcon-website-qr.png"/><Relationship Id="rIdDevconWebsite" Type="http://schemas.openxmlformats.org/officeDocument/2006/relationships/hyperlink" Target="https://vitaliioborskyi.ai/" TargetMode="External"/></Relationships>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5DBD24-A6CA-43F8-B67E-A8E10123C68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F3F8982B-8D00-4EE9-8723-84CD406DDCF9}"/>
              </a:ext>
            </a:extLst>
          </p:cNvPr>
          <p:cNvSpPr>
            <a:spLocks xmlns:a="http://schemas.openxmlformats.org/drawingml/2006/main" noGrp="1"/>
          </p:cNvSpPr>
          <p:nvPr/>
        </p:nvSpPr>
        <p:spPr>
          <a:xfrm xmlns:a="http://schemas.openxmlformats.org/drawingml/2006/main">
            <a:off x="609600" y="342900"/>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AI Changes the Delivery System</a:t>
            </a:r>
          </a:p>
          <a:p xmlns:a="http://schemas.openxmlformats.org/drawingml/2006/main">
            <a:pPr algn="l">
              <a:defRPr sz="3450" b="1">
                <a:solidFill>
                  <a:srgbClr val="F4F7FA"/>
                </a:solidFill>
                <a:latin typeface="Arial"/>
                <a:ea typeface="Arial"/>
                <a:cs typeface="Arial"/>
              </a:defRPr>
            </a:pPr>
            <a:r>
              <a:rPr sz="3450" b="1">
                <a:solidFill>
                  <a:srgbClr val="F4F7FA"/>
                </a:solidFill>
                <a:latin typeface="Arial"/>
                <a:ea typeface="Arial"/>
                <a:cs typeface="Arial"/>
              </a:rPr>
              <a:t>and the Product Itself</a:t>
            </a:r>
          </a:p>
        </p:txBody>
      </p:sp>
      <p:sp>
        <p:nvSpPr>
          <p:cNvPr id="3" name="">
            <a:extLst xmlns:a="http://schemas.openxmlformats.org/drawingml/2006/main">
              <a:ext uri="{FF2B5EF4-FFF2-40B4-BE49-F238E27FC236}">
                <a16:creationId xmlns:a16="http://schemas.microsoft.com/office/drawing/2014/main" id="{1505CB88-01EF-4232-8555-1163A16FE8FD}"/>
              </a:ext>
            </a:extLst>
          </p:cNvPr>
          <p:cNvSpPr>
            <a:spLocks xmlns:a="http://schemas.openxmlformats.org/drawingml/2006/main" noGrp="1"/>
          </p:cNvSpPr>
          <p:nvPr/>
        </p:nvSpPr>
        <p:spPr>
          <a:xfrm xmlns:a="http://schemas.openxmlformats.org/drawingml/2006/main">
            <a:off x="609600" y="17049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2025" b="0">
                <ns0:solidFill>
                  <ns0:srgbClr val="ADB8C5"/>
                </ns0:solidFill>
                <ns0:latin typeface="Arial"/>
                <ns0:ea typeface="Arial"/>
                <ns0:cs typeface="Arial"/>
              </ns0:defRPr>
            </ns0:pPr>
            <ns0:r>
              <ns0:rPr sz="2025" b="0">
                <ns0:solidFill>
                  <ns0:srgbClr val="ADB8C5"/>
                </ns0:solidFill>
                <ns0:latin typeface="Arial"/>
                <ns0:ea typeface="Arial"/>
                <ns0:cs typeface="Arial"/>
              </ns0:rPr>
              <ns0:t>New capabilities change what we can delegate.</ns0:t>
            </ns0:r>
          </ns0: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765ae508fda45f4"/>
          <a:stretch xmlns:a="http://schemas.openxmlformats.org/drawingml/2006/main"/>
        </p:blipFill>
        <p:spPr>
          <a:xfrm xmlns:a="http://schemas.openxmlformats.org/drawingml/2006/main">
            <a:off x="1809750" y="2200275"/>
            <a:ext cx="8572500" cy="2857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10271D8-F5E5-42EB-9B88-2B95DB3E8182}"/>
              </a:ext>
            </a:extLst>
          </p:cNvPr>
          <p:cNvSpPr>
            <a:spLocks xmlns:a="http://schemas.openxmlformats.org/drawingml/2006/main" noGrp="1"/>
          </p:cNvSpPr>
          <p:nvPr/>
        </p:nvSpPr>
        <p:spPr>
          <a:xfrm xmlns:a="http://schemas.openxmlformats.org/drawingml/2006/main">
            <a:off x="9144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HOW WE BUILD</a:t>
            </a:r>
          </a:p>
        </p:txBody>
      </p:sp>
      <p:sp>
        <p:nvSpPr>
          <p:cNvPr id="6" name="">
            <a:extLst xmlns:a="http://schemas.openxmlformats.org/drawingml/2006/main">
              <a:ext uri="{FF2B5EF4-FFF2-40B4-BE49-F238E27FC236}">
                <a16:creationId xmlns:a16="http://schemas.microsoft.com/office/drawing/2014/main" id="{CE9B797E-C52B-4966-8439-78E41B642BD0}"/>
              </a:ext>
            </a:extLst>
          </p:cNvPr>
          <p:cNvSpPr>
            <a:spLocks xmlns:a="http://schemas.openxmlformats.org/drawingml/2006/main" noGrp="1"/>
          </p:cNvSpPr>
          <p:nvPr/>
        </p:nvSpPr>
        <p:spPr>
          <a:xfrm xmlns:a="http://schemas.openxmlformats.org/drawingml/2006/main">
            <a:off x="9144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000" b="0">
                <ns1:solidFill>
                  <ns1:srgbClr val="F4F7FA"/>
                </ns1:solidFill>
                <ns1:latin typeface="Arial"/>
                <ns1:ea typeface="Arial"/>
                <ns1:cs typeface="Arial"/>
              </ns1:defRPr>
            </ns1:pPr>
            <ns1:r>
              <ns1:rPr sz="2000" b="0">
                <ns1:solidFill>
                  <ns1:srgbClr val="F4F7FA"/>
                </ns1:solidFill>
                <ns1:latin typeface="Arial"/>
                <ns1:ea typeface="Arial"/>
                <ns1:cs typeface="Arial"/>
              </ns1:rPr>
              <ns1:t>Judgment during delivery</ns1:t>
            </ns1:r>
          </ns1:p>
        </p:txBody>
      </p:sp>
      <p:sp>
        <p:nvSpPr>
          <p:cNvPr id="7" name="">
            <a:extLst xmlns:a="http://schemas.openxmlformats.org/drawingml/2006/main">
              <a:ext uri="{FF2B5EF4-FFF2-40B4-BE49-F238E27FC236}">
                <a16:creationId xmlns:a16="http://schemas.microsoft.com/office/drawing/2014/main" id="{F8224464-FEBA-4FD6-8E45-DC4CAD4AA535}"/>
              </a:ext>
            </a:extLst>
          </p:cNvPr>
          <p:cNvSpPr>
            <a:spLocks xmlns:a="http://schemas.openxmlformats.org/drawingml/2006/main" noGrp="1"/>
          </p:cNvSpPr>
          <p:nvPr/>
        </p:nvSpPr>
        <p:spPr>
          <a:xfrm xmlns:a="http://schemas.openxmlformats.org/drawingml/2006/main">
            <a:off x="6477000" y="5143500"/>
            <a:ext cx="4800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5B61C"/>
                </a:solidFill>
                <a:latin typeface="Arial"/>
                <a:ea typeface="Arial"/>
                <a:cs typeface="Arial"/>
              </a:defRPr>
            </a:pPr>
            <a:r>
              <a:rPr sz="1650" b="1">
                <a:solidFill>
                  <a:srgbClr val="F5B61C"/>
                </a:solidFill>
                <a:latin typeface="Arial"/>
                <a:ea typeface="Arial"/>
                <a:cs typeface="Arial"/>
              </a:rPr>
              <a:t>WHAT WE BUILD</a:t>
            </a:r>
          </a:p>
        </p:txBody>
      </p:sp>
      <p:sp>
        <p:nvSpPr>
          <p:cNvPr id="8" name="">
            <a:extLst xmlns:a="http://schemas.openxmlformats.org/drawingml/2006/main">
              <a:ext uri="{FF2B5EF4-FFF2-40B4-BE49-F238E27FC236}">
                <a16:creationId xmlns:a16="http://schemas.microsoft.com/office/drawing/2014/main" id="{811DAE3A-4FDD-48A8-8E41-68C7CBFDFDA7}"/>
              </a:ext>
            </a:extLst>
          </p:cNvPr>
          <p:cNvSpPr>
            <a:spLocks xmlns:a="http://schemas.openxmlformats.org/drawingml/2006/main" noGrp="1"/>
          </p:cNvSpPr>
          <p:nvPr/>
        </p:nvSpPr>
        <p:spPr>
          <a:xfrm xmlns:a="http://schemas.openxmlformats.org/drawingml/2006/main">
            <a:off x="6477000" y="5476875"/>
            <a:ext cx="4800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000" b="0">
                <ns2:solidFill>
                  <ns2:srgbClr val="F4F7FA"/>
                </ns2:solidFill>
                <ns2:latin typeface="Arial"/>
                <ns2:ea typeface="Arial"/>
                <ns2:cs typeface="Arial"/>
              </ns2:defRPr>
            </ns2:pPr>
            <ns2:r>
              <ns2:rPr sz="2000" b="0">
                <ns2:solidFill>
                  <ns2:srgbClr val="F4F7FA"/>
                </ns2:solidFill>
                <ns2:latin typeface="Arial"/>
                <ns2:ea typeface="Arial"/>
                <ns2:cs typeface="Arial"/>
              </ns2:rPr>
              <ns2:t>Judgment at runtime</ns2:t>
            </ns2:r>
          </ns2:p>
        </p:txBody>
      </p:sp>
      <p:sp>
        <p:nvSpPr>
          <p:cNvPr id="9" name="">
            <a:extLst xmlns:a="http://schemas.openxmlformats.org/drawingml/2006/main">
              <a:ext uri="{FF2B5EF4-FFF2-40B4-BE49-F238E27FC236}">
                <a16:creationId xmlns:a16="http://schemas.microsoft.com/office/drawing/2014/main" id="{FC783871-7604-4AA8-8A86-753C29C84462}"/>
              </a:ext>
            </a:extLst>
          </p:cNvPr>
          <p:cNvSpPr>
            <a:spLocks xmlns:a="http://schemas.openxmlformats.org/drawingml/2006/main" noGrp="1"/>
          </p:cNvSpPr>
          <p:nvPr/>
        </p:nvSpPr>
        <p:spPr>
          <a:xfrm xmlns:a="http://schemas.openxmlformats.org/drawingml/2006/main" flipH="0" flipV="0">
            <a:off x="609600" y="58864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0" name="">
            <a:extLst xmlns:a="http://schemas.openxmlformats.org/drawingml/2006/main">
              <a:ext uri="{FF2B5EF4-FFF2-40B4-BE49-F238E27FC236}">
                <a16:creationId xmlns:a16="http://schemas.microsoft.com/office/drawing/2014/main" id="{7D44D36C-048E-4769-B4B2-5CF7CA14F85E}"/>
              </a:ext>
            </a:extLst>
          </p:cNvPr>
          <p:cNvSpPr>
            <a:spLocks xmlns:a="http://schemas.openxmlformats.org/drawingml/2006/main" noGrp="1"/>
          </p:cNvSpPr>
          <p:nvPr/>
        </p:nvSpPr>
        <p:spPr>
          <a:xfrm xmlns:a="http://schemas.openxmlformats.org/drawingml/2006/main">
            <a:off x="609600" y="6010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4F7FA"/>
                </a:solidFill>
                <a:latin typeface="Arial"/>
                <a:ea typeface="Arial"/>
                <a:cs typeface="Arial"/>
              </a:defRPr>
            </a:pPr>
            <a:r>
              <a:rPr sz="1800" b="1">
                <a:solidFill>
                  <a:srgbClr val="F4F7FA"/>
                </a:solidFill>
                <a:latin typeface="Arial"/>
                <a:ea typeface="Arial"/>
                <a:cs typeface="Arial"/>
              </a:rPr>
              <a:t>Vitalii Oborskyi</a:t>
            </a:r>
          </a:p>
        </p:txBody>
      </p:sp>
      <p:sp>
        <p:nvSpPr>
          <p:cNvPr id="11" name="">
            <a:extLst xmlns:a="http://schemas.openxmlformats.org/drawingml/2006/main">
              <a:ext uri="{FF2B5EF4-FFF2-40B4-BE49-F238E27FC236}">
                <a16:creationId xmlns:a16="http://schemas.microsoft.com/office/drawing/2014/main" id="{790194FD-C53F-4F79-A94B-6AC5C5737D82}"/>
              </a:ext>
            </a:extLst>
          </p:cNvPr>
          <p:cNvSpPr>
            <a:spLocks xmlns:a="http://schemas.openxmlformats.org/drawingml/2006/main" noGrp="1"/>
          </p:cNvSpPr>
          <p:nvPr/>
        </p:nvSpPr>
        <p:spPr>
          <a:xfrm xmlns:a="http://schemas.openxmlformats.org/drawingml/2006/main">
            <a:off x="3276600" y="6019800"/>
            <a:ext cx="8305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Head of Delivery &amp; PMO · Author of Uncertainty Architecture</a:t>
            </a:r>
          </a:p>
        </p:txBody>
      </p:sp>
      <p:sp>
        <p:nvSpPr>
          <p:cNvPr id="12" name="">
            <a:extLst xmlns:a="http://schemas.openxmlformats.org/drawingml/2006/main">
              <a:ext uri="{FF2B5EF4-FFF2-40B4-BE49-F238E27FC236}">
                <a16:creationId xmlns:a16="http://schemas.microsoft.com/office/drawing/2014/main" id="{F94670D5-6C6F-4F0B-99E6-0D8E65762D39}"/>
              </a:ext>
            </a:extLst>
          </p:cNvPr>
          <p:cNvSpPr>
            <a:spLocks xmlns:a="http://schemas.openxmlformats.org/drawingml/2006/main" noGrp="1"/>
          </p:cNvSpPr>
          <p:nvPr/>
        </p:nvSpPr>
        <p:spPr>
          <a:xfrm xmlns:a="http://schemas.openxmlformats.org/drawingml/2006/main">
            <a:off x="609905" y="6420002"/>
            <a:ext cx="470916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400" b="0">
                <ns3:solidFill>
                  <ns3:srgbClr val="28C7F7"/>
                </ns3:solidFill>
                <ns3:latin typeface="Arial"/>
                <ns3:ea typeface="Arial"/>
                <ns3:cs typeface="Arial"/>
              </ns3:defRPr>
            </ns3:pPr>
            <ns3:r>
              <ns3:rPr sz="1400" b="0">
                <ns3:solidFill>
                  <ns3:srgbClr val="28C7F7"/>
                </ns3:solidFill>
                <ns3:latin typeface="Arial"/>
                <ns3:ea typeface="Arial"/>
                <ns3:cs typeface="Arial"/>
              </ns3:rPr>
              <ns3:t>DevCon Romania · 4 November 2026</ns3:t>
            </ns3:r>
          </ns3:p>
        </p:txBody>
      </p:sp>
      <p:sp>
        <p:nvSpPr>
          <p:cNvPr id="13" name="">
            <a:extLst xmlns:a="http://schemas.openxmlformats.org/drawingml/2006/main">
              <a:ext uri="{FF2B5EF4-FFF2-40B4-BE49-F238E27FC236}">
                <a16:creationId xmlns:a16="http://schemas.microsoft.com/office/drawing/2014/main" id="{5E1A9AD7-EA9B-4519-B7E1-AD707EA763BC}"/>
              </a:ext>
            </a:extLst>
          </p:cNvPr>
          <p:cNvSpPr>
            <a:spLocks xmlns:a="http://schemas.openxmlformats.org/drawingml/2006/main" noGrp="1"/>
          </p:cNvSpPr>
          <p:nvPr/>
        </p:nvSpPr>
        <p:spPr>
          <a:xfrm xmlns:a="http://schemas.openxmlformats.org/drawingml/2006/main">
            <a:off x="5486400" y="6420002"/>
            <a:ext cx="5505602"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r">
              <ns4:defRPr sz="1400" b="0">
                <ns4:solidFill>
                  <ns4:srgbClr val="28C7F7"/>
                </ns4:solidFill>
                <ns4:latin typeface="Arial"/>
                <ns4:ea typeface="Arial"/>
                <ns4:cs typeface="Arial"/>
              </ns4:defRPr>
            </ns4:pPr>
            <ns4:r>
              <ns4:rPr sz="1400" b="0">
                <ns4:solidFill>
                  <ns4:srgbClr val="28C7F7"/>
                </ns4:solidFill>
                <ns4:latin typeface="Arial"/>
                <ns4:ea typeface="Arial"/>
                <ns4:cs typeface="Arial"/>
              </ns4:rPr>
              <ns4:t>vitaliioborskyi.ai</ns4:t>
            </ns4:r>
          </ns4:p>
        </p:txBody>
      </p:sp>
    </p:spTree>
    <p:extLst>
      <p:ext uri="{BB962C8B-B14F-4D97-AF65-F5344CB8AC3E}">
        <p14:creationId xmlns:p14="http://schemas.microsoft.com/office/powerpoint/2010/main" val="1441845840"/>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FAD794EC-2038-4704-99DE-AB5C9D31B366}"/>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Accelerated a Step. Not the System.</a:t>
            </a:r>
          </a:p>
        </p:txBody>
      </p:sp>
      <p:sp>
        <p:nvSpPr>
          <p:cNvPr id="2" name="">
            <a:extLst xmlns:a="http://schemas.openxmlformats.org/drawingml/2006/main">
              <a:ext uri="{FF2B5EF4-FFF2-40B4-BE49-F238E27FC236}">
                <a16:creationId xmlns:a16="http://schemas.microsoft.com/office/drawing/2014/main" id="{DD833353-FCBC-4F3B-BEFD-E724AF5ACBB0}"/>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9E52480B-F9FE-4D2B-83A0-89F795EA243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09DF6F-7876-42AF-AA79-E02D260FFD5E}"/>
              </a:ext>
            </a:extLst>
          </p:cNvPr>
          <p:cNvSpPr>
            <a:spLocks xmlns:a="http://schemas.openxmlformats.org/drawingml/2006/main" noGrp="1"/>
          </p:cNvSpPr>
          <p:nvPr/>
        </p:nvSpPr>
        <p:spPr>
          <a:xfrm xmlns:a="http://schemas.openxmlformats.org/drawingml/2006/main">
            <a:off x="914400" y="17145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AI can affect every stage. Downstream gains are not automatic.</a:t>
            </a:r>
          </a:p>
        </p:txBody>
      </p:sp>
      <p:sp>
        <p:nvSpPr>
          <p:cNvPr id="5" name="">
            <a:extLst xmlns:a="http://schemas.openxmlformats.org/drawingml/2006/main">
              <a:ext uri="{FF2B5EF4-FFF2-40B4-BE49-F238E27FC236}">
                <a16:creationId xmlns:a16="http://schemas.microsoft.com/office/drawing/2014/main" id="{0F7B0828-00D4-4AC2-B78F-E571D35D44EA}"/>
              </a:ext>
            </a:extLst>
          </p:cNvPr>
          <p:cNvSpPr>
            <a:spLocks xmlns:a="http://schemas.openxmlformats.org/drawingml/2006/main" noGrp="1"/>
          </p:cNvSpPr>
          <p:nvPr/>
        </p:nvSpPr>
        <p:spPr>
          <a:xfrm xmlns:a="http://schemas.openxmlformats.org/drawingml/2006/main">
            <a:off x="9144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6" name="">
            <a:extLst xmlns:a="http://schemas.openxmlformats.org/drawingml/2006/main">
              <a:ext uri="{FF2B5EF4-FFF2-40B4-BE49-F238E27FC236}">
                <a16:creationId xmlns:a16="http://schemas.microsoft.com/office/drawing/2014/main" id="{0E7767C3-CD05-40F3-BAF4-D071E4D8ACBD}"/>
              </a:ext>
            </a:extLst>
          </p:cNvPr>
          <p:cNvSpPr>
            <a:spLocks xmlns:a="http://schemas.openxmlformats.org/drawingml/2006/main" noGrp="1"/>
          </p:cNvSpPr>
          <p:nvPr/>
        </p:nvSpPr>
        <p:spPr>
          <a:xfrm xmlns:a="http://schemas.openxmlformats.org/drawingml/2006/main">
            <a:off x="10287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Intent</a:t>
            </a:r>
          </a:p>
        </p:txBody>
      </p:sp>
      <p:sp>
        <p:nvSpPr>
          <p:cNvPr id="7" name="">
            <a:extLst xmlns:a="http://schemas.openxmlformats.org/drawingml/2006/main">
              <a:ext uri="{FF2B5EF4-FFF2-40B4-BE49-F238E27FC236}">
                <a16:creationId xmlns:a16="http://schemas.microsoft.com/office/drawing/2014/main" id="{7896ABEA-9883-4558-81B7-0160C86ADDA8}"/>
              </a:ext>
            </a:extLst>
          </p:cNvPr>
          <p:cNvSpPr>
            <a:spLocks xmlns:a="http://schemas.openxmlformats.org/drawingml/2006/main" noGrp="1"/>
          </p:cNvSpPr>
          <p:nvPr/>
        </p:nvSpPr>
        <p:spPr>
          <a:xfrm xmlns:a="http://schemas.openxmlformats.org/drawingml/2006/main">
            <a:off x="22288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8" name="">
            <a:extLst xmlns:a="http://schemas.openxmlformats.org/drawingml/2006/main">
              <a:ext uri="{FF2B5EF4-FFF2-40B4-BE49-F238E27FC236}">
                <a16:creationId xmlns:a16="http://schemas.microsoft.com/office/drawing/2014/main" id="{D132B709-0E49-4835-897E-61A122E79D14}"/>
              </a:ext>
            </a:extLst>
          </p:cNvPr>
          <p:cNvSpPr>
            <a:spLocks xmlns:a="http://schemas.openxmlformats.org/drawingml/2006/main" noGrp="1"/>
          </p:cNvSpPr>
          <p:nvPr/>
        </p:nvSpPr>
        <p:spPr>
          <a:xfrm xmlns:a="http://schemas.openxmlformats.org/drawingml/2006/main">
            <a:off x="23431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Design</a:t>
            </a:r>
          </a:p>
        </p:txBody>
      </p:sp>
      <p:sp>
        <p:nvSpPr>
          <p:cNvPr id="9" name="">
            <a:extLst xmlns:a="http://schemas.openxmlformats.org/drawingml/2006/main">
              <a:ext uri="{FF2B5EF4-FFF2-40B4-BE49-F238E27FC236}">
                <a16:creationId xmlns:a16="http://schemas.microsoft.com/office/drawing/2014/main" id="{6101CFD0-CA53-481C-A615-02CF5923E728}"/>
              </a:ext>
            </a:extLst>
          </p:cNvPr>
          <p:cNvSpPr>
            <a:spLocks xmlns:a="http://schemas.openxmlformats.org/drawingml/2006/main" noGrp="1"/>
          </p:cNvSpPr>
          <p:nvPr/>
        </p:nvSpPr>
        <p:spPr>
          <a:xfrm xmlns:a="http://schemas.openxmlformats.org/drawingml/2006/main">
            <a:off x="35433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10" name="">
            <a:extLst xmlns:a="http://schemas.openxmlformats.org/drawingml/2006/main">
              <a:ext uri="{FF2B5EF4-FFF2-40B4-BE49-F238E27FC236}">
                <a16:creationId xmlns:a16="http://schemas.microsoft.com/office/drawing/2014/main" id="{56051758-BD46-4E32-BE22-304CE75501CA}"/>
              </a:ext>
            </a:extLst>
          </p:cNvPr>
          <p:cNvSpPr>
            <a:spLocks xmlns:a="http://schemas.openxmlformats.org/drawingml/2006/main" noGrp="1"/>
          </p:cNvSpPr>
          <p:nvPr/>
        </p:nvSpPr>
        <p:spPr>
          <a:xfrm xmlns:a="http://schemas.openxmlformats.org/drawingml/2006/main">
            <a:off x="36576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Code</a:t>
            </a:r>
          </a:p>
        </p:txBody>
      </p:sp>
      <p:sp>
        <p:nvSpPr>
          <p:cNvPr id="11" name="">
            <a:extLst xmlns:a="http://schemas.openxmlformats.org/drawingml/2006/main">
              <a:ext uri="{FF2B5EF4-FFF2-40B4-BE49-F238E27FC236}">
                <a16:creationId xmlns:a16="http://schemas.microsoft.com/office/drawing/2014/main" id="{6ADE3CA0-4F44-4C79-8244-29106FEFDA44}"/>
              </a:ext>
            </a:extLst>
          </p:cNvPr>
          <p:cNvSpPr>
            <a:spLocks xmlns:a="http://schemas.openxmlformats.org/drawingml/2006/main" noGrp="1"/>
          </p:cNvSpPr>
          <p:nvPr/>
        </p:nvSpPr>
        <p:spPr>
          <a:xfrm xmlns:a="http://schemas.openxmlformats.org/drawingml/2006/main">
            <a:off x="48577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2" name="">
            <a:extLst xmlns:a="http://schemas.openxmlformats.org/drawingml/2006/main">
              <a:ext uri="{FF2B5EF4-FFF2-40B4-BE49-F238E27FC236}">
                <a16:creationId xmlns:a16="http://schemas.microsoft.com/office/drawing/2014/main" id="{A35916A5-FFA2-434E-9BC2-7D0E3DA7C828}"/>
              </a:ext>
            </a:extLst>
          </p:cNvPr>
          <p:cNvSpPr>
            <a:spLocks xmlns:a="http://schemas.openxmlformats.org/drawingml/2006/main" noGrp="1"/>
          </p:cNvSpPr>
          <p:nvPr/>
        </p:nvSpPr>
        <p:spPr>
          <a:xfrm xmlns:a="http://schemas.openxmlformats.org/drawingml/2006/main">
            <a:off x="49720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Review</a:t>
            </a:r>
          </a:p>
        </p:txBody>
      </p:sp>
      <p:sp>
        <p:nvSpPr>
          <p:cNvPr id="13" name="">
            <a:extLst xmlns:a="http://schemas.openxmlformats.org/drawingml/2006/main">
              <a:ext uri="{FF2B5EF4-FFF2-40B4-BE49-F238E27FC236}">
                <a16:creationId xmlns:a16="http://schemas.microsoft.com/office/drawing/2014/main" id="{1FAC332B-FC31-402F-8359-27AF5F9F483F}"/>
              </a:ext>
            </a:extLst>
          </p:cNvPr>
          <p:cNvSpPr>
            <a:spLocks xmlns:a="http://schemas.openxmlformats.org/drawingml/2006/main" noGrp="1"/>
          </p:cNvSpPr>
          <p:nvPr/>
        </p:nvSpPr>
        <p:spPr>
          <a:xfrm xmlns:a="http://schemas.openxmlformats.org/drawingml/2006/main">
            <a:off x="61722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4" name="">
            <a:extLst xmlns:a="http://schemas.openxmlformats.org/drawingml/2006/main">
              <a:ext uri="{FF2B5EF4-FFF2-40B4-BE49-F238E27FC236}">
                <a16:creationId xmlns:a16="http://schemas.microsoft.com/office/drawing/2014/main" id="{A68ED7CD-5BBB-46F0-B941-BAC10F5526FE}"/>
              </a:ext>
            </a:extLst>
          </p:cNvPr>
          <p:cNvSpPr>
            <a:spLocks xmlns:a="http://schemas.openxmlformats.org/drawingml/2006/main" noGrp="1"/>
          </p:cNvSpPr>
          <p:nvPr/>
        </p:nvSpPr>
        <p:spPr>
          <a:xfrm xmlns:a="http://schemas.openxmlformats.org/drawingml/2006/main">
            <a:off x="62865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Test</a:t>
            </a:r>
          </a:p>
        </p:txBody>
      </p:sp>
      <p:sp>
        <p:nvSpPr>
          <p:cNvPr id="15" name="">
            <a:extLst xmlns:a="http://schemas.openxmlformats.org/drawingml/2006/main">
              <a:ext uri="{FF2B5EF4-FFF2-40B4-BE49-F238E27FC236}">
                <a16:creationId xmlns:a16="http://schemas.microsoft.com/office/drawing/2014/main" id="{C26DC578-C302-4CED-87A0-AA83F5FB00C5}"/>
              </a:ext>
            </a:extLst>
          </p:cNvPr>
          <p:cNvSpPr>
            <a:spLocks xmlns:a="http://schemas.openxmlformats.org/drawingml/2006/main" noGrp="1"/>
          </p:cNvSpPr>
          <p:nvPr/>
        </p:nvSpPr>
        <p:spPr>
          <a:xfrm xmlns:a="http://schemas.openxmlformats.org/drawingml/2006/main">
            <a:off x="74866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6" name="">
            <a:extLst xmlns:a="http://schemas.openxmlformats.org/drawingml/2006/main">
              <a:ext uri="{FF2B5EF4-FFF2-40B4-BE49-F238E27FC236}">
                <a16:creationId xmlns:a16="http://schemas.microsoft.com/office/drawing/2014/main" id="{CE6529C3-78DD-41A1-B1AB-8CEF54AAB9C6}"/>
              </a:ext>
            </a:extLst>
          </p:cNvPr>
          <p:cNvSpPr>
            <a:spLocks xmlns:a="http://schemas.openxmlformats.org/drawingml/2006/main" noGrp="1"/>
          </p:cNvSpPr>
          <p:nvPr/>
        </p:nvSpPr>
        <p:spPr>
          <a:xfrm xmlns:a="http://schemas.openxmlformats.org/drawingml/2006/main">
            <a:off x="76009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4F7FA"/>
                </a:solidFill>
                <a:latin typeface="Arial"/>
                <a:ea typeface="Arial"/>
                <a:cs typeface="Arial"/>
              </a:defRPr>
            </a:pPr>
            <a:r>
              <a:rPr sz="1350" b="1">
                <a:solidFill>
                  <a:srgbClr val="F4F7FA"/>
                </a:solidFill>
                <a:latin typeface="Arial"/>
                <a:ea typeface="Arial"/>
                <a:cs typeface="Arial"/>
              </a:rPr>
              <a:t>Integrate</a:t>
            </a:r>
          </a:p>
        </p:txBody>
      </p:sp>
      <p:sp>
        <p:nvSpPr>
          <p:cNvPr id="17" name="">
            <a:extLst xmlns:a="http://schemas.openxmlformats.org/drawingml/2006/main">
              <a:ext uri="{FF2B5EF4-FFF2-40B4-BE49-F238E27FC236}">
                <a16:creationId xmlns:a16="http://schemas.microsoft.com/office/drawing/2014/main" id="{B69FF806-91FD-4371-86B3-6B1916AF0EC8}"/>
              </a:ext>
            </a:extLst>
          </p:cNvPr>
          <p:cNvSpPr>
            <a:spLocks xmlns:a="http://schemas.openxmlformats.org/drawingml/2006/main" noGrp="1"/>
          </p:cNvSpPr>
          <p:nvPr/>
        </p:nvSpPr>
        <p:spPr>
          <a:xfrm xmlns:a="http://schemas.openxmlformats.org/drawingml/2006/main">
            <a:off x="880110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18" name="">
            <a:extLst xmlns:a="http://schemas.openxmlformats.org/drawingml/2006/main">
              <a:ext uri="{FF2B5EF4-FFF2-40B4-BE49-F238E27FC236}">
                <a16:creationId xmlns:a16="http://schemas.microsoft.com/office/drawing/2014/main" id="{8F7569C8-B649-4988-B322-BAB38B83FA8B}"/>
              </a:ext>
            </a:extLst>
          </p:cNvPr>
          <p:cNvSpPr>
            <a:spLocks xmlns:a="http://schemas.openxmlformats.org/drawingml/2006/main" noGrp="1"/>
          </p:cNvSpPr>
          <p:nvPr/>
        </p:nvSpPr>
        <p:spPr>
          <a:xfrm xmlns:a="http://schemas.openxmlformats.org/drawingml/2006/main">
            <a:off x="891540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Deploy</a:t>
            </a:r>
          </a:p>
        </p:txBody>
      </p:sp>
      <p:sp>
        <p:nvSpPr>
          <p:cNvPr id="19" name="">
            <a:extLst xmlns:a="http://schemas.openxmlformats.org/drawingml/2006/main">
              <a:ext uri="{FF2B5EF4-FFF2-40B4-BE49-F238E27FC236}">
                <a16:creationId xmlns:a16="http://schemas.microsoft.com/office/drawing/2014/main" id="{1DC64ADC-8970-4ABF-8269-798B9CA28C0F}"/>
              </a:ext>
            </a:extLst>
          </p:cNvPr>
          <p:cNvSpPr>
            <a:spLocks xmlns:a="http://schemas.openxmlformats.org/drawingml/2006/main" noGrp="1"/>
          </p:cNvSpPr>
          <p:nvPr/>
        </p:nvSpPr>
        <p:spPr>
          <a:xfrm xmlns:a="http://schemas.openxmlformats.org/drawingml/2006/main">
            <a:off x="10115550" y="2333625"/>
            <a:ext cx="1162050" cy="5334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20" name="">
            <a:extLst xmlns:a="http://schemas.openxmlformats.org/drawingml/2006/main">
              <a:ext uri="{FF2B5EF4-FFF2-40B4-BE49-F238E27FC236}">
                <a16:creationId xmlns:a16="http://schemas.microsoft.com/office/drawing/2014/main" id="{DC150C06-9A50-4F4C-AE36-39DE66D9D137}"/>
              </a:ext>
            </a:extLst>
          </p:cNvPr>
          <p:cNvSpPr>
            <a:spLocks xmlns:a="http://schemas.openxmlformats.org/drawingml/2006/main" noGrp="1"/>
          </p:cNvSpPr>
          <p:nvPr/>
        </p:nvSpPr>
        <p:spPr>
          <a:xfrm xmlns:a="http://schemas.openxmlformats.org/drawingml/2006/main">
            <a:off x="10229850" y="2409825"/>
            <a:ext cx="93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F4F7FA"/>
                </a:solidFill>
                <a:latin typeface="Arial"/>
                <a:ea typeface="Arial"/>
                <a:cs typeface="Arial"/>
              </a:defRPr>
            </a:pPr>
            <a:r>
              <a:rPr sz="1425" b="1">
                <a:solidFill>
                  <a:srgbClr val="F4F7FA"/>
                </a:solidFill>
                <a:latin typeface="Arial"/>
                <a:ea typeface="Arial"/>
                <a:cs typeface="Arial"/>
              </a:rPr>
              <a:t>Operate</a:t>
            </a:r>
          </a:p>
        </p:txBody>
      </p:sp>
      <p:sp>
        <p:nvSpPr>
          <p:cNvPr id="21" name="">
            <a:extLst xmlns:a="http://schemas.openxmlformats.org/drawingml/2006/main">
              <a:ext uri="{FF2B5EF4-FFF2-40B4-BE49-F238E27FC236}">
                <a16:creationId xmlns:a16="http://schemas.microsoft.com/office/drawing/2014/main" id="{77024F76-0980-41F1-9DB5-F3334BF1097A}"/>
              </a:ext>
            </a:extLst>
          </p:cNvPr>
          <p:cNvSpPr>
            <a:spLocks xmlns:a="http://schemas.openxmlformats.org/drawingml/2006/main" noGrp="1"/>
          </p:cNvSpPr>
          <p:nvPr/>
        </p:nvSpPr>
        <p:spPr>
          <a:xfrm xmlns:a="http://schemas.openxmlformats.org/drawingml/2006/main" flipH="0" flipV="0">
            <a:off x="20764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2" name="">
            <a:extLst xmlns:a="http://schemas.openxmlformats.org/drawingml/2006/main">
              <a:ext uri="{FF2B5EF4-FFF2-40B4-BE49-F238E27FC236}">
                <a16:creationId xmlns:a16="http://schemas.microsoft.com/office/drawing/2014/main" id="{D219E03E-4017-4CA3-BFF6-BF0E48C0A1D4}"/>
              </a:ext>
            </a:extLst>
          </p:cNvPr>
          <p:cNvSpPr>
            <a:spLocks xmlns:a="http://schemas.openxmlformats.org/drawingml/2006/main" noGrp="1"/>
          </p:cNvSpPr>
          <p:nvPr/>
        </p:nvSpPr>
        <p:spPr>
          <a:xfrm xmlns:a="http://schemas.openxmlformats.org/drawingml/2006/main" flipH="0" flipV="0">
            <a:off x="33909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3" name="">
            <a:extLst xmlns:a="http://schemas.openxmlformats.org/drawingml/2006/main">
              <a:ext uri="{FF2B5EF4-FFF2-40B4-BE49-F238E27FC236}">
                <a16:creationId xmlns:a16="http://schemas.microsoft.com/office/drawing/2014/main" id="{7CCCEF0F-C5F2-40CA-92A0-281F8C1B3B18}"/>
              </a:ext>
            </a:extLst>
          </p:cNvPr>
          <p:cNvSpPr>
            <a:spLocks xmlns:a="http://schemas.openxmlformats.org/drawingml/2006/main" noGrp="1"/>
          </p:cNvSpPr>
          <p:nvPr/>
        </p:nvSpPr>
        <p:spPr>
          <a:xfrm xmlns:a="http://schemas.openxmlformats.org/drawingml/2006/main" flipH="0" flipV="0">
            <a:off x="47053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4" name="">
            <a:extLst xmlns:a="http://schemas.openxmlformats.org/drawingml/2006/main">
              <a:ext uri="{FF2B5EF4-FFF2-40B4-BE49-F238E27FC236}">
                <a16:creationId xmlns:a16="http://schemas.microsoft.com/office/drawing/2014/main" id="{970A7504-E46B-4B5F-B338-6CA567DD7C06}"/>
              </a:ext>
            </a:extLst>
          </p:cNvPr>
          <p:cNvSpPr>
            <a:spLocks xmlns:a="http://schemas.openxmlformats.org/drawingml/2006/main" noGrp="1"/>
          </p:cNvSpPr>
          <p:nvPr/>
        </p:nvSpPr>
        <p:spPr>
          <a:xfrm xmlns:a="http://schemas.openxmlformats.org/drawingml/2006/main" flipH="0" flipV="0">
            <a:off x="60198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5" name="">
            <a:extLst xmlns:a="http://schemas.openxmlformats.org/drawingml/2006/main">
              <a:ext uri="{FF2B5EF4-FFF2-40B4-BE49-F238E27FC236}">
                <a16:creationId xmlns:a16="http://schemas.microsoft.com/office/drawing/2014/main" id="{8366E64C-2B95-459C-AA5F-1A4106E19852}"/>
              </a:ext>
            </a:extLst>
          </p:cNvPr>
          <p:cNvSpPr>
            <a:spLocks xmlns:a="http://schemas.openxmlformats.org/drawingml/2006/main" noGrp="1"/>
          </p:cNvSpPr>
          <p:nvPr/>
        </p:nvSpPr>
        <p:spPr>
          <a:xfrm xmlns:a="http://schemas.openxmlformats.org/drawingml/2006/main" flipH="0" flipV="0">
            <a:off x="73342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6" name="">
            <a:extLst xmlns:a="http://schemas.openxmlformats.org/drawingml/2006/main">
              <a:ext uri="{FF2B5EF4-FFF2-40B4-BE49-F238E27FC236}">
                <a16:creationId xmlns:a16="http://schemas.microsoft.com/office/drawing/2014/main" id="{238FC8DD-D7FC-4BA4-93E0-865AF0C8E1D1}"/>
              </a:ext>
            </a:extLst>
          </p:cNvPr>
          <p:cNvSpPr>
            <a:spLocks xmlns:a="http://schemas.openxmlformats.org/drawingml/2006/main" noGrp="1"/>
          </p:cNvSpPr>
          <p:nvPr/>
        </p:nvSpPr>
        <p:spPr>
          <a:xfrm xmlns:a="http://schemas.openxmlformats.org/drawingml/2006/main" flipH="0" flipV="0">
            <a:off x="864870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7" name="">
            <a:extLst xmlns:a="http://schemas.openxmlformats.org/drawingml/2006/main">
              <a:ext uri="{FF2B5EF4-FFF2-40B4-BE49-F238E27FC236}">
                <a16:creationId xmlns:a16="http://schemas.microsoft.com/office/drawing/2014/main" id="{FF53C49E-D4ED-4844-A27C-D48A7BB940E8}"/>
              </a:ext>
            </a:extLst>
          </p:cNvPr>
          <p:cNvSpPr>
            <a:spLocks xmlns:a="http://schemas.openxmlformats.org/drawingml/2006/main" noGrp="1"/>
          </p:cNvSpPr>
          <p:nvPr/>
        </p:nvSpPr>
        <p:spPr>
          <a:xfrm xmlns:a="http://schemas.openxmlformats.org/drawingml/2006/main" flipH="0" flipV="0">
            <a:off x="9963150" y="2600325"/>
            <a:ext cx="15240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28" name="">
            <a:extLst xmlns:a="http://schemas.openxmlformats.org/drawingml/2006/main">
              <a:ext uri="{FF2B5EF4-FFF2-40B4-BE49-F238E27FC236}">
                <a16:creationId xmlns:a16="http://schemas.microsoft.com/office/drawing/2014/main" id="{D919320F-59F2-4AD5-B161-9A99D115106C}"/>
              </a:ext>
            </a:extLst>
          </p:cNvPr>
          <p:cNvSpPr>
            <a:spLocks xmlns:a="http://schemas.openxmlformats.org/drawingml/2006/main" noGrp="1"/>
          </p:cNvSpPr>
          <p:nvPr/>
        </p:nvSpPr>
        <p:spPr>
          <a:xfrm xmlns:a="http://schemas.openxmlformats.org/drawingml/2006/main">
            <a:off x="9144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43DBF3E1-69C6-4230-AEDC-73F2F6C55E77}"/>
              </a:ext>
            </a:extLst>
          </p:cNvPr>
          <p:cNvSpPr>
            <a:spLocks xmlns:a="http://schemas.openxmlformats.org/drawingml/2006/main" noGrp="1"/>
          </p:cNvSpPr>
          <p:nvPr/>
        </p:nvSpPr>
        <p:spPr>
          <a:xfrm xmlns:a="http://schemas.openxmlformats.org/drawingml/2006/main">
            <a:off x="22288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62737337-B99F-40B2-AA11-D3AAE91BA046}"/>
              </a:ext>
            </a:extLst>
          </p:cNvPr>
          <p:cNvSpPr>
            <a:spLocks xmlns:a="http://schemas.openxmlformats.org/drawingml/2006/main" noGrp="1"/>
          </p:cNvSpPr>
          <p:nvPr/>
        </p:nvSpPr>
        <p:spPr>
          <a:xfrm xmlns:a="http://schemas.openxmlformats.org/drawingml/2006/main">
            <a:off x="48577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C06D505E-E54E-4957-9831-B61C6B6AFF1E}"/>
              </a:ext>
            </a:extLst>
          </p:cNvPr>
          <p:cNvSpPr>
            <a:spLocks xmlns:a="http://schemas.openxmlformats.org/drawingml/2006/main" noGrp="1"/>
          </p:cNvSpPr>
          <p:nvPr/>
        </p:nvSpPr>
        <p:spPr>
          <a:xfrm xmlns:a="http://schemas.openxmlformats.org/drawingml/2006/main">
            <a:off x="61722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2" name="">
            <a:extLst xmlns:a="http://schemas.openxmlformats.org/drawingml/2006/main">
              <a:ext uri="{FF2B5EF4-FFF2-40B4-BE49-F238E27FC236}">
                <a16:creationId xmlns:a16="http://schemas.microsoft.com/office/drawing/2014/main" id="{C1EFFA35-0A20-4C0F-91D4-8A62B50244B2}"/>
              </a:ext>
            </a:extLst>
          </p:cNvPr>
          <p:cNvSpPr>
            <a:spLocks xmlns:a="http://schemas.openxmlformats.org/drawingml/2006/main" noGrp="1"/>
          </p:cNvSpPr>
          <p:nvPr/>
        </p:nvSpPr>
        <p:spPr>
          <a:xfrm xmlns:a="http://schemas.openxmlformats.org/drawingml/2006/main">
            <a:off x="74866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29F76A2B-102D-4F33-A1EC-D07F8ADA9BA2}"/>
              </a:ext>
            </a:extLst>
          </p:cNvPr>
          <p:cNvSpPr>
            <a:spLocks xmlns:a="http://schemas.openxmlformats.org/drawingml/2006/main" noGrp="1"/>
          </p:cNvSpPr>
          <p:nvPr/>
        </p:nvSpPr>
        <p:spPr>
          <a:xfrm xmlns:a="http://schemas.openxmlformats.org/drawingml/2006/main">
            <a:off x="880110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70FF997D-01B2-49B1-811D-DA478B3E64FE}"/>
              </a:ext>
            </a:extLst>
          </p:cNvPr>
          <p:cNvSpPr>
            <a:spLocks xmlns:a="http://schemas.openxmlformats.org/drawingml/2006/main" noGrp="1"/>
          </p:cNvSpPr>
          <p:nvPr/>
        </p:nvSpPr>
        <p:spPr>
          <a:xfrm xmlns:a="http://schemas.openxmlformats.org/drawingml/2006/main">
            <a:off x="10115550" y="20574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5B61C"/>
                </a:solidFill>
                <a:latin typeface="Arial"/>
                <a:ea typeface="Arial"/>
                <a:cs typeface="Arial"/>
              </a:defRPr>
            </a:pPr>
            <a:r>
              <a:rPr sz="1575" b="1">
                <a:solidFill>
                  <a:srgbClr val="F5B61C"/>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1752A399-143F-45C3-813C-3B56ECC90915}"/>
              </a:ext>
            </a:extLst>
          </p:cNvPr>
          <p:cNvSpPr>
            <a:spLocks xmlns:a="http://schemas.openxmlformats.org/drawingml/2006/main" noGrp="1"/>
          </p:cNvSpPr>
          <p:nvPr/>
        </p:nvSpPr>
        <p:spPr>
          <a:xfrm xmlns:a="http://schemas.openxmlformats.org/drawingml/2006/main">
            <a:off x="914400" y="306705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ADB8C5"/>
                </a:solidFill>
                <a:latin typeface="Arial"/>
                <a:ea typeface="Arial"/>
                <a:cs typeface="Arial"/>
              </a:defRPr>
            </a:pPr>
            <a:r>
              <a:rPr sz="1500" b="0">
                <a:solidFill>
                  <a:srgbClr val="ADB8C5"/>
                </a:solidFill>
                <a:latin typeface="Arial"/>
                <a:ea typeface="Arial"/>
                <a:cs typeface="Arial"/>
              </a:rPr>
              <a:t>Illustrative team: changes per week; comparable work, fixed downstream capacity.</a:t>
            </a:r>
          </a:p>
        </p:txBody>
      </p:sp>
      <p:sp>
        <p:nvSpPr>
          <p:cNvPr id="36" name="">
            <a:extLst xmlns:a="http://schemas.openxmlformats.org/drawingml/2006/main">
              <a:ext uri="{FF2B5EF4-FFF2-40B4-BE49-F238E27FC236}">
                <a16:creationId xmlns:a16="http://schemas.microsoft.com/office/drawing/2014/main" id="{DBA71DAF-CF51-45CA-8961-16E9A726C823}"/>
              </a:ext>
            </a:extLst>
          </p:cNvPr>
          <p:cNvSpPr>
            <a:spLocks xmlns:a="http://schemas.openxmlformats.org/drawingml/2006/main" noGrp="1"/>
          </p:cNvSpPr>
          <p:nvPr/>
        </p:nvSpPr>
        <p:spPr>
          <a:xfrm xmlns:a="http://schemas.openxmlformats.org/drawingml/2006/main">
            <a:off x="32385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Code</a:t>
            </a:r>
          </a:p>
        </p:txBody>
      </p:sp>
      <p:sp>
        <p:nvSpPr>
          <p:cNvPr id="37" name="">
            <a:extLst xmlns:a="http://schemas.openxmlformats.org/drawingml/2006/main">
              <a:ext uri="{FF2B5EF4-FFF2-40B4-BE49-F238E27FC236}">
                <a16:creationId xmlns:a16="http://schemas.microsoft.com/office/drawing/2014/main" id="{92C894C4-1BC9-4C95-B0B8-2ED3E2EFFA0E}"/>
              </a:ext>
            </a:extLst>
          </p:cNvPr>
          <p:cNvSpPr>
            <a:spLocks xmlns:a="http://schemas.openxmlformats.org/drawingml/2006/main" noGrp="1"/>
          </p:cNvSpPr>
          <p:nvPr/>
        </p:nvSpPr>
        <p:spPr>
          <a:xfrm xmlns:a="http://schemas.openxmlformats.org/drawingml/2006/main">
            <a:off x="531495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Review</a:t>
            </a:r>
          </a:p>
        </p:txBody>
      </p:sp>
      <p:sp>
        <p:nvSpPr>
          <p:cNvPr id="38" name="">
            <a:extLst xmlns:a="http://schemas.openxmlformats.org/drawingml/2006/main">
              <a:ext uri="{FF2B5EF4-FFF2-40B4-BE49-F238E27FC236}">
                <a16:creationId xmlns:a16="http://schemas.microsoft.com/office/drawing/2014/main" id="{844D2C45-F5D0-4FA1-8686-0EAA94376DEC}"/>
              </a:ext>
            </a:extLst>
          </p:cNvPr>
          <p:cNvSpPr>
            <a:spLocks xmlns:a="http://schemas.openxmlformats.org/drawingml/2006/main" noGrp="1"/>
          </p:cNvSpPr>
          <p:nvPr/>
        </p:nvSpPr>
        <p:spPr>
          <a:xfrm xmlns:a="http://schemas.openxmlformats.org/drawingml/2006/main">
            <a:off x="7391400" y="3429000"/>
            <a:ext cx="163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F4F7FA"/>
                </a:solidFill>
                <a:latin typeface="Arial"/>
                <a:ea typeface="Arial"/>
                <a:cs typeface="Arial"/>
              </a:defRPr>
            </a:pPr>
            <a:r>
              <a:rPr sz="1650" b="1">
                <a:solidFill>
                  <a:srgbClr val="F4F7FA"/>
                </a:solidFill>
                <a:latin typeface="Arial"/>
                <a:ea typeface="Arial"/>
                <a:cs typeface="Arial"/>
              </a:rPr>
              <a:t>Integrate</a:t>
            </a:r>
          </a:p>
        </p:txBody>
      </p:sp>
      <p:sp>
        <p:nvSpPr>
          <p:cNvPr id="39" name="">
            <a:extLst xmlns:a="http://schemas.openxmlformats.org/drawingml/2006/main">
              <a:ext uri="{FF2B5EF4-FFF2-40B4-BE49-F238E27FC236}">
                <a16:creationId xmlns:a16="http://schemas.microsoft.com/office/drawing/2014/main" id="{38F82894-2AC7-4D50-86E6-A7F66149B5A9}"/>
              </a:ext>
            </a:extLst>
          </p:cNvPr>
          <p:cNvSpPr>
            <a:spLocks xmlns:a="http://schemas.openxmlformats.org/drawingml/2006/main" noGrp="1"/>
          </p:cNvSpPr>
          <p:nvPr/>
        </p:nvSpPr>
        <p:spPr>
          <a:xfrm xmlns:a="http://schemas.openxmlformats.org/drawingml/2006/main">
            <a:off x="9582150" y="342900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ADB8C5"/>
                </a:solidFill>
                <a:latin typeface="Arial"/>
                <a:ea typeface="Arial"/>
                <a:cs typeface="Arial"/>
              </a:defRPr>
            </a:pPr>
            <a:r>
              <a:rPr sz="1500" b="1">
                <a:solidFill>
                  <a:srgbClr val="ADB8C5"/>
                </a:solidFill>
                <a:latin typeface="Arial"/>
                <a:ea typeface="Arial"/>
                <a:cs typeface="Arial"/>
              </a:rPr>
              <a:t>BACKLOG</a:t>
            </a:r>
          </a:p>
        </p:txBody>
      </p:sp>
      <p:sp>
        <p:nvSpPr>
          <p:cNvPr id="40" name="">
            <a:extLst xmlns:a="http://schemas.openxmlformats.org/drawingml/2006/main">
              <a:ext uri="{FF2B5EF4-FFF2-40B4-BE49-F238E27FC236}">
                <a16:creationId xmlns:a16="http://schemas.microsoft.com/office/drawing/2014/main" id="{31A81BB5-E927-493B-B8D1-6A41DCA9317C}"/>
              </a:ext>
            </a:extLst>
          </p:cNvPr>
          <p:cNvSpPr>
            <a:spLocks xmlns:a="http://schemas.openxmlformats.org/drawingml/2006/main" noGrp="1"/>
          </p:cNvSpPr>
          <p:nvPr/>
        </p:nvSpPr>
        <p:spPr>
          <a:xfrm xmlns:a="http://schemas.openxmlformats.org/drawingml/2006/main">
            <a:off x="914400" y="38290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ADB8C5"/>
                </a:solidFill>
                <a:latin typeface="Arial"/>
                <a:ea typeface="Arial"/>
                <a:cs typeface="Arial"/>
              </a:defRPr>
            </a:pPr>
            <a:r>
              <a:rPr sz="1650" b="1">
                <a:solidFill>
                  <a:srgbClr val="ADB8C5"/>
                </a:solidFill>
                <a:latin typeface="Arial"/>
                <a:ea typeface="Arial"/>
                <a:cs typeface="Arial"/>
              </a:rPr>
              <a:t>BEFORE</a:t>
            </a:r>
          </a:p>
        </p:txBody>
      </p:sp>
      <p:sp>
        <p:nvSpPr>
          <p:cNvPr id="41" name="">
            <a:extLst xmlns:a="http://schemas.openxmlformats.org/drawingml/2006/main">
              <a:ext uri="{FF2B5EF4-FFF2-40B4-BE49-F238E27FC236}">
                <a16:creationId xmlns:a16="http://schemas.microsoft.com/office/drawing/2014/main" id="{7032DCAA-FC49-497C-9271-26A1D725C4F1}"/>
              </a:ext>
            </a:extLst>
          </p:cNvPr>
          <p:cNvSpPr>
            <a:spLocks xmlns:a="http://schemas.openxmlformats.org/drawingml/2006/main" noGrp="1"/>
          </p:cNvSpPr>
          <p:nvPr/>
        </p:nvSpPr>
        <p:spPr>
          <a:xfrm xmlns:a="http://schemas.openxmlformats.org/drawingml/2006/main">
            <a:off x="914400" y="41529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Balanced flow</a:t>
            </a:r>
          </a:p>
        </p:txBody>
      </p:sp>
      <p:sp>
        <p:nvSpPr>
          <p:cNvPr id="42" name="">
            <a:extLst xmlns:a="http://schemas.openxmlformats.org/drawingml/2006/main">
              <a:ext uri="{FF2B5EF4-FFF2-40B4-BE49-F238E27FC236}">
                <a16:creationId xmlns:a16="http://schemas.microsoft.com/office/drawing/2014/main" id="{614BFCF3-B358-40F7-9F4E-267EC3D119D0}"/>
              </a:ext>
            </a:extLst>
          </p:cNvPr>
          <p:cNvSpPr>
            <a:spLocks xmlns:a="http://schemas.openxmlformats.org/drawingml/2006/main" noGrp="1"/>
          </p:cNvSpPr>
          <p:nvPr/>
        </p:nvSpPr>
        <p:spPr>
          <a:xfrm xmlns:a="http://schemas.openxmlformats.org/drawingml/2006/main">
            <a:off x="32385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3" name="">
            <a:extLst xmlns:a="http://schemas.openxmlformats.org/drawingml/2006/main">
              <a:ext uri="{FF2B5EF4-FFF2-40B4-BE49-F238E27FC236}">
                <a16:creationId xmlns:a16="http://schemas.microsoft.com/office/drawing/2014/main" id="{B7116F83-25C9-4D46-A479-6F1F8CB27DBE}"/>
              </a:ext>
            </a:extLst>
          </p:cNvPr>
          <p:cNvSpPr>
            <a:spLocks xmlns:a="http://schemas.openxmlformats.org/drawingml/2006/main" noGrp="1"/>
          </p:cNvSpPr>
          <p:nvPr/>
        </p:nvSpPr>
        <p:spPr>
          <a:xfrm xmlns:a="http://schemas.openxmlformats.org/drawingml/2006/main">
            <a:off x="33528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30A77A28-81A2-4867-B07F-E0048000EFB3}"/>
              </a:ext>
            </a:extLst>
          </p:cNvPr>
          <p:cNvSpPr>
            <a:spLocks xmlns:a="http://schemas.openxmlformats.org/drawingml/2006/main" noGrp="1"/>
          </p:cNvSpPr>
          <p:nvPr/>
        </p:nvSpPr>
        <p:spPr>
          <a:xfrm xmlns:a="http://schemas.openxmlformats.org/drawingml/2006/main">
            <a:off x="531495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5" name="">
            <a:extLst xmlns:a="http://schemas.openxmlformats.org/drawingml/2006/main">
              <a:ext uri="{FF2B5EF4-FFF2-40B4-BE49-F238E27FC236}">
                <a16:creationId xmlns:a16="http://schemas.microsoft.com/office/drawing/2014/main" id="{B97E0E09-D0CF-4A38-8C62-13001203611D}"/>
              </a:ext>
            </a:extLst>
          </p:cNvPr>
          <p:cNvSpPr>
            <a:spLocks xmlns:a="http://schemas.openxmlformats.org/drawingml/2006/main" noGrp="1"/>
          </p:cNvSpPr>
          <p:nvPr/>
        </p:nvSpPr>
        <p:spPr>
          <a:xfrm xmlns:a="http://schemas.openxmlformats.org/drawingml/2006/main">
            <a:off x="542925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6" name="">
            <a:extLst xmlns:a="http://schemas.openxmlformats.org/drawingml/2006/main">
              <a:ext uri="{FF2B5EF4-FFF2-40B4-BE49-F238E27FC236}">
                <a16:creationId xmlns:a16="http://schemas.microsoft.com/office/drawing/2014/main" id="{3909F4C7-EFA4-425F-9496-C1911D0676BD}"/>
              </a:ext>
            </a:extLst>
          </p:cNvPr>
          <p:cNvSpPr>
            <a:spLocks xmlns:a="http://schemas.openxmlformats.org/drawingml/2006/main" noGrp="1"/>
          </p:cNvSpPr>
          <p:nvPr/>
        </p:nvSpPr>
        <p:spPr>
          <a:xfrm xmlns:a="http://schemas.openxmlformats.org/drawingml/2006/main">
            <a:off x="7391400" y="38004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344454"/>
            </a:solidFill>
            <a:prstDash val="solid"/>
          </a:ln>
        </p:spPr>
      </p:sp>
      <p:sp>
        <p:nvSpPr>
          <p:cNvPr id="47" name="">
            <a:extLst xmlns:a="http://schemas.openxmlformats.org/drawingml/2006/main">
              <a:ext uri="{FF2B5EF4-FFF2-40B4-BE49-F238E27FC236}">
                <a16:creationId xmlns:a16="http://schemas.microsoft.com/office/drawing/2014/main" id="{864E302B-E59A-419C-B933-F8563E84AB91}"/>
              </a:ext>
            </a:extLst>
          </p:cNvPr>
          <p:cNvSpPr>
            <a:spLocks xmlns:a="http://schemas.openxmlformats.org/drawingml/2006/main" noGrp="1"/>
          </p:cNvSpPr>
          <p:nvPr/>
        </p:nvSpPr>
        <p:spPr>
          <a:xfrm xmlns:a="http://schemas.openxmlformats.org/drawingml/2006/main">
            <a:off x="7505700" y="38671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48" name="">
            <a:extLst xmlns:a="http://schemas.openxmlformats.org/drawingml/2006/main">
              <a:ext uri="{FF2B5EF4-FFF2-40B4-BE49-F238E27FC236}">
                <a16:creationId xmlns:a16="http://schemas.microsoft.com/office/drawing/2014/main" id="{4AB6E477-8E18-4427-A01C-3EA5304BFCA4}"/>
              </a:ext>
            </a:extLst>
          </p:cNvPr>
          <p:cNvSpPr>
            <a:spLocks xmlns:a="http://schemas.openxmlformats.org/drawingml/2006/main" noGrp="1"/>
          </p:cNvSpPr>
          <p:nvPr/>
        </p:nvSpPr>
        <p:spPr>
          <a:xfrm xmlns:a="http://schemas.openxmlformats.org/drawingml/2006/main" flipH="0" flipV="0">
            <a:off x="487680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49" name="">
            <a:extLst xmlns:a="http://schemas.openxmlformats.org/drawingml/2006/main">
              <a:ext uri="{FF2B5EF4-FFF2-40B4-BE49-F238E27FC236}">
                <a16:creationId xmlns:a16="http://schemas.microsoft.com/office/drawing/2014/main" id="{615F4943-3F74-45A7-B2AD-579E5290B4B7}"/>
              </a:ext>
            </a:extLst>
          </p:cNvPr>
          <p:cNvSpPr>
            <a:spLocks xmlns:a="http://schemas.openxmlformats.org/drawingml/2006/main" noGrp="1"/>
          </p:cNvSpPr>
          <p:nvPr/>
        </p:nvSpPr>
        <p:spPr>
          <a:xfrm xmlns:a="http://schemas.openxmlformats.org/drawingml/2006/main" flipH="0" flipV="0">
            <a:off x="6953250" y="41243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0" name="">
            <a:extLst xmlns:a="http://schemas.openxmlformats.org/drawingml/2006/main">
              <a:ext uri="{FF2B5EF4-FFF2-40B4-BE49-F238E27FC236}">
                <a16:creationId xmlns:a16="http://schemas.microsoft.com/office/drawing/2014/main" id="{B1D2B8FE-C185-4EBD-B65C-626839C76AB5}"/>
              </a:ext>
            </a:extLst>
          </p:cNvPr>
          <p:cNvSpPr>
            <a:spLocks xmlns:a="http://schemas.openxmlformats.org/drawingml/2006/main" noGrp="1"/>
          </p:cNvSpPr>
          <p:nvPr/>
        </p:nvSpPr>
        <p:spPr>
          <a:xfrm xmlns:a="http://schemas.openxmlformats.org/drawingml/2006/main">
            <a:off x="9582150" y="38290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ADB8C5"/>
                </a:solidFill>
                <a:latin typeface="Arial"/>
                <a:ea typeface="Arial"/>
                <a:cs typeface="Arial"/>
              </a:defRPr>
            </a:pPr>
            <a:r>
              <a:rPr sz="2925" b="1">
                <a:solidFill>
                  <a:srgbClr val="ADB8C5"/>
                </a:solidFill>
                <a:latin typeface="Arial"/>
                <a:ea typeface="Arial"/>
                <a:cs typeface="Arial"/>
              </a:rPr>
              <a:t>0</a:t>
            </a:r>
          </a:p>
        </p:txBody>
      </p:sp>
      <p:sp>
        <p:nvSpPr>
          <p:cNvPr id="51" name="">
            <a:extLst xmlns:a="http://schemas.openxmlformats.org/drawingml/2006/main">
              <a:ext uri="{FF2B5EF4-FFF2-40B4-BE49-F238E27FC236}">
                <a16:creationId xmlns:a16="http://schemas.microsoft.com/office/drawing/2014/main" id="{81FECEFC-7ADD-411F-A837-B126A6B16A19}"/>
              </a:ext>
            </a:extLst>
          </p:cNvPr>
          <p:cNvSpPr>
            <a:spLocks xmlns:a="http://schemas.openxmlformats.org/drawingml/2006/main" noGrp="1"/>
          </p:cNvSpPr>
          <p:nvPr/>
        </p:nvSpPr>
        <p:spPr>
          <a:xfrm xmlns:a="http://schemas.openxmlformats.org/drawingml/2006/main">
            <a:off x="9582150" y="42862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no accumulation</a:t>
            </a:r>
          </a:p>
        </p:txBody>
      </p:sp>
      <p:sp>
        <p:nvSpPr>
          <p:cNvPr id="52" name="">
            <a:extLst xmlns:a="http://schemas.openxmlformats.org/drawingml/2006/main">
              <a:ext uri="{FF2B5EF4-FFF2-40B4-BE49-F238E27FC236}">
                <a16:creationId xmlns:a16="http://schemas.microsoft.com/office/drawing/2014/main" id="{2841D30B-1BB1-48DA-9253-1FE641B4FDB6}"/>
              </a:ext>
            </a:extLst>
          </p:cNvPr>
          <p:cNvSpPr>
            <a:spLocks xmlns:a="http://schemas.openxmlformats.org/drawingml/2006/main" noGrp="1"/>
          </p:cNvSpPr>
          <p:nvPr/>
        </p:nvSpPr>
        <p:spPr>
          <a:xfrm xmlns:a="http://schemas.openxmlformats.org/drawingml/2006/main">
            <a:off x="914400" y="48196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28C7F7"/>
                </a:solidFill>
                <a:latin typeface="Arial"/>
                <a:ea typeface="Arial"/>
                <a:cs typeface="Arial"/>
              </a:defRPr>
            </a:pPr>
            <a:r>
              <a:rPr sz="1650" b="1">
                <a:solidFill>
                  <a:srgbClr val="28C7F7"/>
                </a:solidFill>
                <a:latin typeface="Arial"/>
                <a:ea typeface="Arial"/>
                <a:cs typeface="Arial"/>
              </a:rPr>
              <a:t>AFTER AI</a:t>
            </a:r>
          </a:p>
        </p:txBody>
      </p:sp>
      <p:sp>
        <p:nvSpPr>
          <p:cNvPr id="53" name="">
            <a:extLst xmlns:a="http://schemas.openxmlformats.org/drawingml/2006/main">
              <a:ext uri="{FF2B5EF4-FFF2-40B4-BE49-F238E27FC236}">
                <a16:creationId xmlns:a16="http://schemas.microsoft.com/office/drawing/2014/main" id="{65A69212-2345-42F8-A628-0421B0D28D0C}"/>
              </a:ext>
            </a:extLst>
          </p:cNvPr>
          <p:cNvSpPr>
            <a:spLocks xmlns:a="http://schemas.openxmlformats.org/drawingml/2006/main" noGrp="1"/>
          </p:cNvSpPr>
          <p:nvPr/>
        </p:nvSpPr>
        <p:spPr>
          <a:xfrm xmlns:a="http://schemas.openxmlformats.org/drawingml/2006/main">
            <a:off x="914400" y="5143500"/>
            <a:ext cx="209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Other stages have</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not sped up</a:t>
            </a:r>
          </a:p>
        </p:txBody>
      </p:sp>
      <p:sp>
        <p:nvSpPr>
          <p:cNvPr id="54" name="">
            <a:extLst xmlns:a="http://schemas.openxmlformats.org/drawingml/2006/main">
              <a:ext uri="{FF2B5EF4-FFF2-40B4-BE49-F238E27FC236}">
                <a16:creationId xmlns:a16="http://schemas.microsoft.com/office/drawing/2014/main" id="{78DC7368-2C2C-473E-884C-463CC688FEF8}"/>
              </a:ext>
            </a:extLst>
          </p:cNvPr>
          <p:cNvSpPr>
            <a:spLocks xmlns:a="http://schemas.openxmlformats.org/drawingml/2006/main" noGrp="1"/>
          </p:cNvSpPr>
          <p:nvPr/>
        </p:nvSpPr>
        <p:spPr>
          <a:xfrm xmlns:a="http://schemas.openxmlformats.org/drawingml/2006/main">
            <a:off x="32385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28C7F7"/>
            </a:solidFill>
            <a:prstDash val="solid"/>
          </a:ln>
        </p:spPr>
      </p:sp>
      <p:sp>
        <p:nvSpPr>
          <p:cNvPr id="55" name="">
            <a:extLst xmlns:a="http://schemas.openxmlformats.org/drawingml/2006/main">
              <a:ext uri="{FF2B5EF4-FFF2-40B4-BE49-F238E27FC236}">
                <a16:creationId xmlns:a16="http://schemas.microsoft.com/office/drawing/2014/main" id="{8E2F2439-7329-4E2F-ABB3-B4961813D50F}"/>
              </a:ext>
            </a:extLst>
          </p:cNvPr>
          <p:cNvSpPr>
            <a:spLocks xmlns:a="http://schemas.openxmlformats.org/drawingml/2006/main" noGrp="1"/>
          </p:cNvSpPr>
          <p:nvPr/>
        </p:nvSpPr>
        <p:spPr>
          <a:xfrm xmlns:a="http://schemas.openxmlformats.org/drawingml/2006/main">
            <a:off x="33528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28C7F7"/>
                </a:solidFill>
                <a:latin typeface="Arial"/>
                <a:ea typeface="Arial"/>
                <a:cs typeface="Arial"/>
              </a:defRPr>
            </a:pPr>
            <a:r>
              <a:rPr sz="2700" b="1">
                <a:solidFill>
                  <a:srgbClr val="28C7F7"/>
                </a:solidFill>
                <a:latin typeface="Arial"/>
                <a:ea typeface="Arial"/>
                <a:cs typeface="Arial"/>
              </a:rPr>
              <a:t>100</a:t>
            </a:r>
          </a:p>
        </p:txBody>
      </p:sp>
      <p:sp>
        <p:nvSpPr>
          <p:cNvPr id="56" name="">
            <a:extLst xmlns:a="http://schemas.openxmlformats.org/drawingml/2006/main">
              <a:ext uri="{FF2B5EF4-FFF2-40B4-BE49-F238E27FC236}">
                <a16:creationId xmlns:a16="http://schemas.microsoft.com/office/drawing/2014/main" id="{47E1E873-3269-4290-B85C-64226A0F0021}"/>
              </a:ext>
            </a:extLst>
          </p:cNvPr>
          <p:cNvSpPr>
            <a:spLocks xmlns:a="http://schemas.openxmlformats.org/drawingml/2006/main" noGrp="1"/>
          </p:cNvSpPr>
          <p:nvPr/>
        </p:nvSpPr>
        <p:spPr>
          <a:xfrm xmlns:a="http://schemas.openxmlformats.org/drawingml/2006/main">
            <a:off x="531495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7" name="">
            <a:extLst xmlns:a="http://schemas.openxmlformats.org/drawingml/2006/main">
              <a:ext uri="{FF2B5EF4-FFF2-40B4-BE49-F238E27FC236}">
                <a16:creationId xmlns:a16="http://schemas.microsoft.com/office/drawing/2014/main" id="{8DA19831-2DEC-4B1B-98F5-ED8AF4478F59}"/>
              </a:ext>
            </a:extLst>
          </p:cNvPr>
          <p:cNvSpPr>
            <a:spLocks xmlns:a="http://schemas.openxmlformats.org/drawingml/2006/main" noGrp="1"/>
          </p:cNvSpPr>
          <p:nvPr/>
        </p:nvSpPr>
        <p:spPr>
          <a:xfrm xmlns:a="http://schemas.openxmlformats.org/drawingml/2006/main">
            <a:off x="542925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58" name="">
            <a:extLst xmlns:a="http://schemas.openxmlformats.org/drawingml/2006/main">
              <a:ext uri="{FF2B5EF4-FFF2-40B4-BE49-F238E27FC236}">
                <a16:creationId xmlns:a16="http://schemas.microsoft.com/office/drawing/2014/main" id="{C4C6EA9B-297C-44BA-89CA-4680CE05C268}"/>
              </a:ext>
            </a:extLst>
          </p:cNvPr>
          <p:cNvSpPr>
            <a:spLocks xmlns:a="http://schemas.openxmlformats.org/drawingml/2006/main" noGrp="1"/>
          </p:cNvSpPr>
          <p:nvPr/>
        </p:nvSpPr>
        <p:spPr>
          <a:xfrm xmlns:a="http://schemas.openxmlformats.org/drawingml/2006/main">
            <a:off x="7391400" y="4791075"/>
            <a:ext cx="1638300" cy="647700"/>
          </a:xfrm>
          <a:prstGeom xmlns:a="http://schemas.openxmlformats.org/drawingml/2006/main" prst="rect">
            <a:avLst/>
          </a:prstGeom>
          <a:solidFill xmlns:a="http://schemas.openxmlformats.org/drawingml/2006/main">
            <a:srgbClr val="141C26"/>
          </a:solidFill>
          <a:ln xmlns:a="http://schemas.openxmlformats.org/drawingml/2006/main" w="14288">
            <a:solidFill>
              <a:srgbClr val="F5B61C"/>
            </a:solidFill>
            <a:prstDash val="solid"/>
          </a:ln>
        </p:spPr>
      </p:sp>
      <p:sp>
        <p:nvSpPr>
          <p:cNvPr id="59" name="">
            <a:extLst xmlns:a="http://schemas.openxmlformats.org/drawingml/2006/main">
              <a:ext uri="{FF2B5EF4-FFF2-40B4-BE49-F238E27FC236}">
                <a16:creationId xmlns:a16="http://schemas.microsoft.com/office/drawing/2014/main" id="{87D2DE9D-B41B-428B-97F7-78CFD7A53842}"/>
              </a:ext>
            </a:extLst>
          </p:cNvPr>
          <p:cNvSpPr>
            <a:spLocks xmlns:a="http://schemas.openxmlformats.org/drawingml/2006/main" noGrp="1"/>
          </p:cNvSpPr>
          <p:nvPr/>
        </p:nvSpPr>
        <p:spPr>
          <a:xfrm xmlns:a="http://schemas.openxmlformats.org/drawingml/2006/main">
            <a:off x="7505700" y="4857750"/>
            <a:ext cx="1409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4F7FA"/>
                </a:solidFill>
                <a:latin typeface="Arial"/>
                <a:ea typeface="Arial"/>
                <a:cs typeface="Arial"/>
              </a:defRPr>
            </a:pPr>
            <a:r>
              <a:rPr sz="2700" b="1">
                <a:solidFill>
                  <a:srgbClr val="F4F7FA"/>
                </a:solidFill>
                <a:latin typeface="Arial"/>
                <a:ea typeface="Arial"/>
                <a:cs typeface="Arial"/>
              </a:rPr>
              <a:t>8</a:t>
            </a:r>
          </a:p>
        </p:txBody>
      </p:sp>
      <p:sp>
        <p:nvSpPr>
          <p:cNvPr id="60" name="">
            <a:extLst xmlns:a="http://schemas.openxmlformats.org/drawingml/2006/main">
              <a:ext uri="{FF2B5EF4-FFF2-40B4-BE49-F238E27FC236}">
                <a16:creationId xmlns:a16="http://schemas.microsoft.com/office/drawing/2014/main" id="{D4833AFA-DDD2-458D-9C98-073979725D05}"/>
              </a:ext>
            </a:extLst>
          </p:cNvPr>
          <p:cNvSpPr>
            <a:spLocks xmlns:a="http://schemas.openxmlformats.org/drawingml/2006/main" noGrp="1"/>
          </p:cNvSpPr>
          <p:nvPr/>
        </p:nvSpPr>
        <p:spPr>
          <a:xfrm xmlns:a="http://schemas.openxmlformats.org/drawingml/2006/main" flipH="0" flipV="0">
            <a:off x="487680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1" name="">
            <a:extLst xmlns:a="http://schemas.openxmlformats.org/drawingml/2006/main">
              <a:ext uri="{FF2B5EF4-FFF2-40B4-BE49-F238E27FC236}">
                <a16:creationId xmlns:a16="http://schemas.microsoft.com/office/drawing/2014/main" id="{C3A1DD67-43A1-41A4-97A6-65CEA7237EA3}"/>
              </a:ext>
            </a:extLst>
          </p:cNvPr>
          <p:cNvSpPr>
            <a:spLocks xmlns:a="http://schemas.openxmlformats.org/drawingml/2006/main" noGrp="1"/>
          </p:cNvSpPr>
          <p:nvPr/>
        </p:nvSpPr>
        <p:spPr>
          <a:xfrm xmlns:a="http://schemas.openxmlformats.org/drawingml/2006/main" flipH="0" flipV="0">
            <a:off x="6953250" y="5114925"/>
            <a:ext cx="4381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2" name="">
            <a:extLst xmlns:a="http://schemas.openxmlformats.org/drawingml/2006/main">
              <a:ext uri="{FF2B5EF4-FFF2-40B4-BE49-F238E27FC236}">
                <a16:creationId xmlns:a16="http://schemas.microsoft.com/office/drawing/2014/main" id="{55EEC234-F52D-4D97-A2C2-7877CA62BD31}"/>
              </a:ext>
            </a:extLst>
          </p:cNvPr>
          <p:cNvSpPr>
            <a:spLocks xmlns:a="http://schemas.openxmlformats.org/drawingml/2006/main" noGrp="1"/>
          </p:cNvSpPr>
          <p:nvPr/>
        </p:nvSpPr>
        <p:spPr>
          <a:xfrm xmlns:a="http://schemas.openxmlformats.org/drawingml/2006/main">
            <a:off x="9582150" y="4819650"/>
            <a:ext cx="1695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F5B61C"/>
                </a:solidFill>
                <a:latin typeface="Arial"/>
                <a:ea typeface="Arial"/>
                <a:cs typeface="Arial"/>
              </a:defRPr>
            </a:pPr>
            <a:r>
              <a:rPr sz="2925" b="1">
                <a:solidFill>
                  <a:srgbClr val="F5B61C"/>
                </a:solidFill>
                <a:latin typeface="Arial"/>
                <a:ea typeface="Arial"/>
                <a:cs typeface="Arial"/>
              </a:rPr>
              <a:t>+92</a:t>
            </a:r>
          </a:p>
        </p:txBody>
      </p:sp>
      <p:sp>
        <p:nvSpPr>
          <p:cNvPr id="63" name="">
            <a:extLst xmlns:a="http://schemas.openxmlformats.org/drawingml/2006/main">
              <a:ext uri="{FF2B5EF4-FFF2-40B4-BE49-F238E27FC236}">
                <a16:creationId xmlns:a16="http://schemas.microsoft.com/office/drawing/2014/main" id="{6B3625C8-030D-4C74-8479-00CAC1186B45}"/>
              </a:ext>
            </a:extLst>
          </p:cNvPr>
          <p:cNvSpPr>
            <a:spLocks xmlns:a="http://schemas.openxmlformats.org/drawingml/2006/main" noGrp="1"/>
          </p:cNvSpPr>
          <p:nvPr/>
        </p:nvSpPr>
        <p:spPr>
          <a:xfrm xmlns:a="http://schemas.openxmlformats.org/drawingml/2006/main">
            <a:off x="9582150" y="527685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ADB8C5"/>
                </a:solidFill>
                <a:latin typeface="Arial"/>
                <a:ea typeface="Arial"/>
                <a:cs typeface="Arial"/>
              </a:defRPr>
            </a:pPr>
            <a:r>
              <a:rPr sz="1275" b="0">
                <a:solidFill>
                  <a:srgbClr val="ADB8C5"/>
                </a:solidFill>
                <a:latin typeface="Arial"/>
                <a:ea typeface="Arial"/>
                <a:cs typeface="Arial"/>
              </a:rPr>
              <a:t>unfinished / week</a:t>
            </a:r>
          </a:p>
        </p:txBody>
      </p:sp>
      <p:sp>
        <p:nvSpPr>
          <p:cNvPr id="64" name="">
            <a:extLst xmlns:a="http://schemas.openxmlformats.org/drawingml/2006/main">
              <a:ext uri="{FF2B5EF4-FFF2-40B4-BE49-F238E27FC236}">
                <a16:creationId xmlns:a16="http://schemas.microsoft.com/office/drawing/2014/main" id="{E242F1D9-5A15-4867-8E73-5762F5BC01F9}"/>
              </a:ext>
            </a:extLst>
          </p:cNvPr>
          <p:cNvSpPr>
            <a:spLocks xmlns:a="http://schemas.openxmlformats.org/drawingml/2006/main" noGrp="1"/>
          </p:cNvSpPr>
          <p:nvPr/>
        </p:nvSpPr>
        <p:spPr>
          <a:xfrm xmlns:a="http://schemas.openxmlformats.org/drawingml/2006/main" flipH="0" flipV="0">
            <a:off x="914400" y="5705475"/>
            <a:ext cx="10363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5" name="">
            <a:extLst xmlns:a="http://schemas.openxmlformats.org/drawingml/2006/main">
              <a:ext uri="{FF2B5EF4-FFF2-40B4-BE49-F238E27FC236}">
                <a16:creationId xmlns:a16="http://schemas.microsoft.com/office/drawing/2014/main" id="{8ABECD70-2D6F-43C2-9B47-55E90DB9EE6E}"/>
              </a:ext>
            </a:extLst>
          </p:cNvPr>
          <p:cNvSpPr>
            <a:spLocks xmlns:a="http://schemas.openxmlformats.org/drawingml/2006/main" noGrp="1"/>
          </p:cNvSpPr>
          <p:nvPr/>
        </p:nvSpPr>
        <p:spPr>
          <a:xfrm xmlns:a="http://schemas.openxmlformats.org/drawingml/2006/main">
            <a:off x="914400" y="5829300"/>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THEORY OF CONSTRAINTS</a:t>
            </a:r>
          </a:p>
        </p:txBody>
      </p:sp>
      <p:sp>
        <p:nvSpPr>
          <p:cNvPr id="66" name="">
            <a:extLst xmlns:a="http://schemas.openxmlformats.org/drawingml/2006/main">
              <a:ext uri="{FF2B5EF4-FFF2-40B4-BE49-F238E27FC236}">
                <a16:creationId xmlns:a16="http://schemas.microsoft.com/office/drawing/2014/main" id="{FBD64121-E19E-4D58-96EE-8DEB0505361F}"/>
              </a:ext>
            </a:extLst>
          </p:cNvPr>
          <p:cNvSpPr>
            <a:spLocks xmlns:a="http://schemas.openxmlformats.org/drawingml/2006/main" noGrp="1"/>
          </p:cNvSpPr>
          <p:nvPr/>
        </p:nvSpPr>
        <p:spPr>
          <a:xfrm xmlns:a="http://schemas.openxmlformats.org/drawingml/2006/main">
            <a:off x="914400" y="6143625"/>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4F7FA"/>
                </a:solidFill>
                <a:latin typeface="Arial"/>
                <a:ea typeface="Arial"/>
                <a:cs typeface="Arial"/>
              </a:defRPr>
            </a:pPr>
            <a:r>
              <a:rPr sz="1875" b="1">
                <a:solidFill>
                  <a:srgbClr val="F4F7FA"/>
                </a:solidFill>
                <a:latin typeface="Arial"/>
                <a:ea typeface="Arial"/>
                <a:cs typeface="Arial"/>
              </a:rPr>
              <a:t>Delivery stays at 8/week. WIP grows; overload can reduce quality.</a:t>
            </a:r>
          </a:p>
        </p:txBody>
      </p:sp>
      <p:sp>
        <p:nvSpPr>
          <p:cNvPr id="67" name="">
            <a:extLst xmlns:a="http://schemas.openxmlformats.org/drawingml/2006/main">
              <a:ext uri="{FF2B5EF4-FFF2-40B4-BE49-F238E27FC236}">
                <a16:creationId xmlns:a16="http://schemas.microsoft.com/office/drawing/2014/main" id="{DEC6A5C7-9F8C-4A89-BC56-EFAB2452465F}"/>
              </a:ext>
            </a:extLst>
          </p:cNvPr>
          <p:cNvSpPr>
            <a:spLocks xmlns:a="http://schemas.openxmlformats.org/drawingml/2006/main" noGrp="1"/>
          </p:cNvSpPr>
          <p:nvPr/>
        </p:nvSpPr>
        <p:spPr>
          <a:xfrm xmlns:a="http://schemas.openxmlformats.org/drawingml/2006/main">
            <a:off x="6381750" y="5829300"/>
            <a:ext cx="489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ADB8C5"/>
                </a:solidFill>
                <a:latin typeface="Arial"/>
                <a:ea typeface="Arial"/>
                <a:cs typeface="Arial"/>
              </a:defRPr>
            </a:pPr>
            <a:r>
              <a:rPr sz="1350" b="0">
                <a:solidFill>
                  <a:srgbClr val="ADB8C5"/>
                </a:solidFill>
                <a:latin typeface="Arial"/>
                <a:ea typeface="Arial"/>
                <a:cs typeface="Arial"/>
              </a:rPr>
              <a:t>Push system: no WIP limit, no discarded work.</a:t>
            </a:r>
          </a:p>
        </p:txBody>
      </p:sp>
    </p:spTree>
    <p:extLst>
      <p:ext uri="{BB962C8B-B14F-4D97-AF65-F5344CB8AC3E}">
        <p14:creationId xmlns:p14="http://schemas.microsoft.com/office/powerpoint/2010/main" val="430036407"/>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D2DFD1B-23D8-4DA0-862E-105B9804827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Evidence Is Already Messy</a:t>
            </a:r>
          </a:p>
        </p:txBody>
      </p:sp>
      <p:sp>
        <p:nvSpPr>
          <p:cNvPr id="2" name="">
            <a:extLst xmlns:a="http://schemas.openxmlformats.org/drawingml/2006/main">
              <a:ext uri="{FF2B5EF4-FFF2-40B4-BE49-F238E27FC236}">
                <a16:creationId xmlns:a16="http://schemas.microsoft.com/office/drawing/2014/main" id="{D0F6FC83-1EF3-4074-8543-48CDA9E876D2}"/>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A28DB65-FBEE-47DE-81CA-9E3D035A6B1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3DC1413-D0EF-4AAE-A7BE-65D5A8795C07}"/>
              </a:ext>
            </a:extLst>
          </p:cNvPr>
          <p:cNvSpPr>
            <a:spLocks xmlns:a="http://schemas.openxmlformats.org/drawingml/2006/main" noGrp="1"/>
          </p:cNvSpPr>
          <p:nvPr/>
        </p:nvSpPr>
        <p:spPr>
          <a:xfrm xmlns:a="http://schemas.openxmlformats.org/drawingml/2006/main">
            <a:off x="609600" y="11525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Different studies measure different outcomes — not one universal productivity effect.</a:t>
            </a:r>
          </a:p>
        </p:txBody>
      </p:sp>
      <p:sp>
        <p:nvSpPr>
          <p:cNvPr id="5" name="">
            <a:extLst xmlns:a="http://schemas.openxmlformats.org/drawingml/2006/main">
              <a:ext uri="{FF2B5EF4-FFF2-40B4-BE49-F238E27FC236}">
                <a16:creationId xmlns:a16="http://schemas.microsoft.com/office/drawing/2014/main" id="{3141AC38-9BFE-4BAE-ACE7-F4B3BC522F2D}"/>
              </a:ext>
            </a:extLst>
          </p:cNvPr>
          <p:cNvSpPr>
            <a:spLocks xmlns:a="http://schemas.openxmlformats.org/drawingml/2006/main" noGrp="1"/>
          </p:cNvSpPr>
          <p:nvPr/>
        </p:nvSpPr>
        <p:spPr>
          <a:xfrm xmlns:a="http://schemas.openxmlformats.org/drawingml/2006/main" flipH="0" flipV="0">
            <a:off x="5553075" y="1743075"/>
            <a:ext cx="0" cy="3648075"/>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6" name="">
            <a:extLst xmlns:a="http://schemas.openxmlformats.org/drawingml/2006/main">
              <a:ext uri="{FF2B5EF4-FFF2-40B4-BE49-F238E27FC236}">
                <a16:creationId xmlns:a16="http://schemas.microsoft.com/office/drawing/2014/main" id="{CD120600-9349-4891-88D6-115C988A9D4D}"/>
              </a:ext>
            </a:extLst>
          </p:cNvPr>
          <p:cNvSpPr>
            <a:spLocks xmlns:a="http://schemas.openxmlformats.org/drawingml/2006/main" noGrp="1"/>
          </p:cNvSpPr>
          <p:nvPr/>
        </p:nvSpPr>
        <p:spPr>
          <a:xfrm xmlns:a="http://schemas.openxmlformats.org/drawingml/2006/main">
            <a:off x="609600" y="171450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NBER · SEP 2026 · &gt;500K GITHUB DEVS</a:t>
            </a:r>
          </a:p>
        </p:txBody>
      </p:sp>
      <p:sp>
        <p:nvSpPr>
          <p:cNvPr id="7" name="">
            <a:extLst xmlns:a="http://schemas.openxmlformats.org/drawingml/2006/main">
              <a:ext uri="{FF2B5EF4-FFF2-40B4-BE49-F238E27FC236}">
                <a16:creationId xmlns:a16="http://schemas.microsoft.com/office/drawing/2014/main" id="{4FDAF2B5-B626-4D44-A465-829C57C8E053}"/>
              </a:ext>
            </a:extLst>
          </p:cNvPr>
          <p:cNvSpPr>
            <a:spLocks xmlns:a="http://schemas.openxmlformats.org/drawingml/2006/main" noGrp="1"/>
          </p:cNvSpPr>
          <p:nvPr/>
        </p:nvSpPr>
        <p:spPr>
          <a:xfrm xmlns:a="http://schemas.openxmlformats.org/drawingml/2006/main">
            <a:off x="60960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25.5×</a:t>
            </a:r>
          </a:p>
        </p:txBody>
      </p:sp>
      <p:sp>
        <p:nvSpPr>
          <p:cNvPr id="8" name="">
            <a:extLst xmlns:a="http://schemas.openxmlformats.org/drawingml/2006/main">
              <a:ext uri="{FF2B5EF4-FFF2-40B4-BE49-F238E27FC236}">
                <a16:creationId xmlns:a16="http://schemas.microsoft.com/office/drawing/2014/main" id="{D782CD67-8636-47A0-9A0B-FA8F4D622EA2}"/>
              </a:ext>
            </a:extLst>
          </p:cNvPr>
          <p:cNvSpPr>
            <a:spLocks xmlns:a="http://schemas.openxmlformats.org/drawingml/2006/main" noGrp="1"/>
          </p:cNvSpPr>
          <p:nvPr/>
        </p:nvSpPr>
        <p:spPr>
          <a:xfrm xmlns:a="http://schemas.openxmlformats.org/drawingml/2006/main">
            <a:off x="60960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changed LOC</a:t>
            </a:r>
          </a:p>
        </p:txBody>
      </p:sp>
      <p:sp>
        <p:nvSpPr>
          <p:cNvPr id="9" name="">
            <a:extLst xmlns:a="http://schemas.openxmlformats.org/drawingml/2006/main">
              <a:ext uri="{FF2B5EF4-FFF2-40B4-BE49-F238E27FC236}">
                <a16:creationId xmlns:a16="http://schemas.microsoft.com/office/drawing/2014/main" id="{AE9038B3-E8AD-422F-A424-4F2FDE85F1D9}"/>
              </a:ext>
            </a:extLst>
          </p:cNvPr>
          <p:cNvSpPr>
            <a:spLocks xmlns:a="http://schemas.openxmlformats.org/drawingml/2006/main" noGrp="1"/>
          </p:cNvSpPr>
          <p:nvPr/>
        </p:nvSpPr>
        <p:spPr>
          <a:xfrm xmlns:a="http://schemas.openxmlformats.org/drawingml/2006/main">
            <a:off x="2219325"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3.4×</a:t>
            </a:r>
          </a:p>
        </p:txBody>
      </p:sp>
      <p:sp>
        <p:nvSpPr>
          <p:cNvPr id="10" name="">
            <a:extLst xmlns:a="http://schemas.openxmlformats.org/drawingml/2006/main">
              <a:ext uri="{FF2B5EF4-FFF2-40B4-BE49-F238E27FC236}">
                <a16:creationId xmlns:a16="http://schemas.microsoft.com/office/drawing/2014/main" id="{63CCFAB3-3D48-4FED-AE3A-DADEDFD00F35}"/>
              </a:ext>
            </a:extLst>
          </p:cNvPr>
          <p:cNvSpPr>
            <a:spLocks xmlns:a="http://schemas.openxmlformats.org/drawingml/2006/main" noGrp="1"/>
          </p:cNvSpPr>
          <p:nvPr/>
        </p:nvSpPr>
        <p:spPr>
          <a:xfrm xmlns:a="http://schemas.openxmlformats.org/drawingml/2006/main">
            <a:off x="2219325"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commits</a:t>
            </a:r>
          </a:p>
        </p:txBody>
      </p:sp>
      <p:sp>
        <p:nvSpPr>
          <p:cNvPr id="11" name="">
            <a:extLst xmlns:a="http://schemas.openxmlformats.org/drawingml/2006/main">
              <a:ext uri="{FF2B5EF4-FFF2-40B4-BE49-F238E27FC236}">
                <a16:creationId xmlns:a16="http://schemas.microsoft.com/office/drawing/2014/main" id="{98690DCF-D994-4818-B02E-B8FE5AC597A1}"/>
              </a:ext>
            </a:extLst>
          </p:cNvPr>
          <p:cNvSpPr>
            <a:spLocks xmlns:a="http://schemas.openxmlformats.org/drawingml/2006/main" noGrp="1"/>
          </p:cNvSpPr>
          <p:nvPr/>
        </p:nvSpPr>
        <p:spPr>
          <a:xfrm xmlns:a="http://schemas.openxmlformats.org/drawingml/2006/main">
            <a:off x="3829050" y="2085975"/>
            <a:ext cx="14954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1.3×</a:t>
            </a:r>
          </a:p>
        </p:txBody>
      </p:sp>
      <p:sp>
        <p:nvSpPr>
          <p:cNvPr id="12" name="">
            <a:extLst xmlns:a="http://schemas.openxmlformats.org/drawingml/2006/main">
              <a:ext uri="{FF2B5EF4-FFF2-40B4-BE49-F238E27FC236}">
                <a16:creationId xmlns:a16="http://schemas.microsoft.com/office/drawing/2014/main" id="{EAF0B9F8-D02C-4805-AA41-094D0FC54DCB}"/>
              </a:ext>
            </a:extLst>
          </p:cNvPr>
          <p:cNvSpPr>
            <a:spLocks xmlns:a="http://schemas.openxmlformats.org/drawingml/2006/main" noGrp="1"/>
          </p:cNvSpPr>
          <p:nvPr/>
        </p:nvSpPr>
        <p:spPr>
          <a:xfrm xmlns:a="http://schemas.openxmlformats.org/drawingml/2006/main">
            <a:off x="3829050" y="2600325"/>
            <a:ext cx="1495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releases</a:t>
            </a:r>
          </a:p>
        </p:txBody>
      </p:sp>
      <p:sp>
        <p:nvSpPr>
          <p:cNvPr id="13" name="">
            <a:extLst xmlns:a="http://schemas.openxmlformats.org/drawingml/2006/main">
              <a:ext uri="{FF2B5EF4-FFF2-40B4-BE49-F238E27FC236}">
                <a16:creationId xmlns:a16="http://schemas.microsoft.com/office/drawing/2014/main" id="{44A6E0D6-DAAC-467E-9224-381E67E524B6}"/>
              </a:ext>
            </a:extLst>
          </p:cNvPr>
          <p:cNvSpPr>
            <a:spLocks xmlns:a="http://schemas.openxmlformats.org/drawingml/2006/main" noGrp="1"/>
          </p:cNvSpPr>
          <p:nvPr/>
        </p:nvSpPr>
        <p:spPr>
          <a:xfrm xmlns:a="http://schemas.openxmlformats.org/drawingml/2006/main">
            <a:off x="609600" y="2990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Cumulative across three tool generations</a:t>
            </a:r>
          </a:p>
        </p:txBody>
      </p:sp>
      <p:sp>
        <p:nvSpPr>
          <p:cNvPr id="14" name="">
            <a:extLst xmlns:a="http://schemas.openxmlformats.org/drawingml/2006/main">
              <a:ext uri="{FF2B5EF4-FFF2-40B4-BE49-F238E27FC236}">
                <a16:creationId xmlns:a16="http://schemas.microsoft.com/office/drawing/2014/main" id="{68C17D00-80DF-49DE-91C0-25129D5FDBCE}"/>
              </a:ext>
            </a:extLst>
          </p:cNvPr>
          <p:cNvSpPr>
            <a:spLocks xmlns:a="http://schemas.openxmlformats.org/drawingml/2006/main" noGrp="1"/>
          </p:cNvSpPr>
          <p:nvPr/>
        </p:nvSpPr>
        <p:spPr>
          <a:xfrm xmlns:a="http://schemas.openxmlformats.org/drawingml/2006/main">
            <a:off x="609600" y="3324225"/>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Changed LOC = additions + deletions.</a:t>
            </a:r>
          </a:p>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Fig. 1 rounded; async releases not estimated.</a:t>
            </a:r>
          </a:p>
        </p:txBody>
      </p:sp>
      <p:sp>
        <p:nvSpPr>
          <p:cNvPr id="15" name="">
            <a:extLst xmlns:a="http://schemas.openxmlformats.org/drawingml/2006/main">
              <a:ext uri="{FF2B5EF4-FFF2-40B4-BE49-F238E27FC236}">
                <a16:creationId xmlns:a16="http://schemas.microsoft.com/office/drawing/2014/main" id="{87A936E8-FCDA-4823-8327-15AC6C5ACE68}"/>
              </a:ext>
            </a:extLst>
          </p:cNvPr>
          <p:cNvSpPr>
            <a:spLocks xmlns:a="http://schemas.openxmlformats.org/drawingml/2006/main" noGrp="1"/>
          </p:cNvSpPr>
          <p:nvPr/>
        </p:nvSpPr>
        <p:spPr>
          <a:xfrm xmlns:a="http://schemas.openxmlformats.org/drawingml/2006/main">
            <a:off x="609600" y="39814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More apps. Low-usage shares rise.</a:t>
            </a:r>
          </a:p>
        </p:txBody>
      </p:sp>
      <p:sp>
        <p:nvSpPr>
          <p:cNvPr id="16" name="">
            <a:extLst xmlns:a="http://schemas.openxmlformats.org/drawingml/2006/main">
              <a:ext uri="{FF2B5EF4-FFF2-40B4-BE49-F238E27FC236}">
                <a16:creationId xmlns:a16="http://schemas.microsoft.com/office/drawing/2014/main" id="{2C22ED37-2FC7-49F9-9126-9E7649B9F20B}"/>
              </a:ext>
            </a:extLst>
          </p:cNvPr>
          <p:cNvSpPr>
            <a:spLocks xmlns:a="http://schemas.openxmlformats.org/drawingml/2006/main" noGrp="1"/>
          </p:cNvSpPr>
          <p:nvPr/>
        </p:nvSpPr>
        <p:spPr>
          <a:xfrm xmlns:a="http://schemas.openxmlformats.org/drawingml/2006/main">
            <a:off x="609600" y="43624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iOS: &lt;10 ratings</a:t>
            </a:r>
          </a:p>
        </p:txBody>
      </p:sp>
      <p:sp>
        <p:nvSpPr>
          <p:cNvPr id="17" name="">
            <a:extLst xmlns:a="http://schemas.openxmlformats.org/drawingml/2006/main">
              <a:ext uri="{FF2B5EF4-FFF2-40B4-BE49-F238E27FC236}">
                <a16:creationId xmlns:a16="http://schemas.microsoft.com/office/drawing/2014/main" id="{2C4E441D-7E3C-446E-B705-5199C3C3C00A}"/>
              </a:ext>
            </a:extLst>
          </p:cNvPr>
          <p:cNvSpPr>
            <a:spLocks xmlns:a="http://schemas.openxmlformats.org/drawingml/2006/main" noGrp="1"/>
          </p:cNvSpPr>
          <p:nvPr/>
        </p:nvSpPr>
        <p:spPr>
          <a:xfrm xmlns:a="http://schemas.openxmlformats.org/drawingml/2006/main">
            <a:off x="3076575" y="43624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≈78% → 87%</a:t>
            </a:r>
          </a:p>
        </p:txBody>
      </p:sp>
      <p:sp>
        <p:nvSpPr>
          <p:cNvPr id="18" name="">
            <a:extLst xmlns:a="http://schemas.openxmlformats.org/drawingml/2006/main">
              <a:ext uri="{FF2B5EF4-FFF2-40B4-BE49-F238E27FC236}">
                <a16:creationId xmlns:a16="http://schemas.microsoft.com/office/drawing/2014/main" id="{C08C848D-4A0A-4B2C-B6AA-9CB910D2300D}"/>
              </a:ext>
            </a:extLst>
          </p:cNvPr>
          <p:cNvSpPr>
            <a:spLocks xmlns:a="http://schemas.openxmlformats.org/drawingml/2006/main" noGrp="1"/>
          </p:cNvSpPr>
          <p:nvPr/>
        </p:nvSpPr>
        <p:spPr>
          <a:xfrm xmlns:a="http://schemas.openxmlformats.org/drawingml/2006/main">
            <a:off x="609600" y="4667250"/>
            <a:ext cx="2466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ADB8C5"/>
                </a:solidFill>
                <a:latin typeface="Arial"/>
                <a:ea typeface="Arial"/>
                <a:cs typeface="Arial"/>
              </a:defRPr>
            </a:pPr>
            <a:r>
              <a:rPr sz="1575" b="0">
                <a:solidFill>
                  <a:srgbClr val="ADB8C5"/>
                </a:solidFill>
                <a:latin typeface="Arial"/>
                <a:ea typeface="Arial"/>
                <a:cs typeface="Arial"/>
              </a:rPr>
              <a:t>Chrome: &lt;10 downloads</a:t>
            </a:r>
          </a:p>
        </p:txBody>
      </p:sp>
      <p:sp>
        <p:nvSpPr>
          <p:cNvPr id="19" name="">
            <a:extLst xmlns:a="http://schemas.openxmlformats.org/drawingml/2006/main">
              <a:ext uri="{FF2B5EF4-FFF2-40B4-BE49-F238E27FC236}">
                <a16:creationId xmlns:a16="http://schemas.microsoft.com/office/drawing/2014/main" id="{B7901632-9DA3-4C35-8198-8528F5898739}"/>
              </a:ext>
            </a:extLst>
          </p:cNvPr>
          <p:cNvSpPr>
            <a:spLocks xmlns:a="http://schemas.openxmlformats.org/drawingml/2006/main" noGrp="1"/>
          </p:cNvSpPr>
          <p:nvPr/>
        </p:nvSpPr>
        <p:spPr>
          <a:xfrm xmlns:a="http://schemas.openxmlformats.org/drawingml/2006/main">
            <a:off x="3076575" y="4667250"/>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1">
                <a:solidFill>
                  <a:srgbClr val="F5B61C"/>
                </a:solidFill>
                <a:latin typeface="Arial"/>
                <a:ea typeface="Arial"/>
                <a:cs typeface="Arial"/>
              </a:defRPr>
            </a:pPr>
            <a:r>
              <a:rPr sz="1725" b="1">
                <a:solidFill>
                  <a:srgbClr val="F5B61C"/>
                </a:solidFill>
                <a:latin typeface="Arial"/>
                <a:ea typeface="Arial"/>
                <a:cs typeface="Arial"/>
              </a:rPr>
              <a:t>19% → 33%</a:t>
            </a:r>
          </a:p>
        </p:txBody>
      </p:sp>
      <p:sp>
        <p:nvSpPr>
          <p:cNvPr id="20" name="">
            <a:extLst xmlns:a="http://schemas.openxmlformats.org/drawingml/2006/main">
              <a:ext uri="{FF2B5EF4-FFF2-40B4-BE49-F238E27FC236}">
                <a16:creationId xmlns:a16="http://schemas.microsoft.com/office/drawing/2014/main" id="{60AB2631-07DC-4E82-AF0F-183E586791D6}"/>
              </a:ext>
            </a:extLst>
          </p:cNvPr>
          <p:cNvSpPr>
            <a:spLocks xmlns:a="http://schemas.openxmlformats.org/drawingml/2006/main" noGrp="1"/>
          </p:cNvSpPr>
          <p:nvPr/>
        </p:nvSpPr>
        <p:spPr>
          <a:xfrm xmlns:a="http://schemas.openxmlformats.org/drawingml/2006/main">
            <a:off x="609600" y="5010150"/>
            <a:ext cx="4800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4 marketplaces; iOS / Chrome shown.</a:t>
            </a:r>
          </a:p>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Jan 2025–Apr 2026; first 3 months.</a:t>
            </a:r>
          </a:p>
        </p:txBody>
      </p:sp>
      <p:sp>
        <p:nvSpPr>
          <p:cNvPr id="21" name="">
            <a:extLst xmlns:a="http://schemas.openxmlformats.org/drawingml/2006/main">
              <a:ext uri="{FF2B5EF4-FFF2-40B4-BE49-F238E27FC236}">
                <a16:creationId xmlns:a16="http://schemas.microsoft.com/office/drawing/2014/main" id="{0D46F468-96DF-4244-8BB5-9CAF30D88280}"/>
              </a:ext>
            </a:extLst>
          </p:cNvPr>
          <p:cNvSpPr>
            <a:spLocks xmlns:a="http://schemas.openxmlformats.org/drawingml/2006/main" noGrp="1"/>
          </p:cNvSpPr>
          <p:nvPr/>
        </p:nvSpPr>
        <p:spPr>
          <a:xfrm xmlns:a="http://schemas.openxmlformats.org/drawingml/2006/main">
            <a:off x="5867400" y="17145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DORA · 2025 · n = 4,867</a:t>
            </a:r>
          </a:p>
        </p:txBody>
      </p:sp>
      <p:sp>
        <p:nvSpPr>
          <p:cNvPr id="22" name="">
            <a:extLst xmlns:a="http://schemas.openxmlformats.org/drawingml/2006/main">
              <a:ext uri="{FF2B5EF4-FFF2-40B4-BE49-F238E27FC236}">
                <a16:creationId xmlns:a16="http://schemas.microsoft.com/office/drawing/2014/main" id="{15F276B9-0363-46F5-806A-FB51ADB20B34}"/>
              </a:ext>
            </a:extLst>
          </p:cNvPr>
          <p:cNvSpPr>
            <a:spLocks xmlns:a="http://schemas.openxmlformats.org/drawingml/2006/main" noGrp="1"/>
          </p:cNvSpPr>
          <p:nvPr/>
        </p:nvSpPr>
        <p:spPr>
          <a:xfrm xmlns:a="http://schemas.openxmlformats.org/drawingml/2006/main">
            <a:off x="5867400" y="2057400"/>
            <a:ext cx="571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Respondents reporting improvement:</a:t>
            </a:r>
          </a:p>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Productivity &gt;80% · Code quality 59%</a:t>
            </a:r>
          </a:p>
        </p:txBody>
      </p:sp>
      <p:sp>
        <p:nvSpPr>
          <p:cNvPr id="23" name="">
            <a:extLst xmlns:a="http://schemas.openxmlformats.org/drawingml/2006/main">
              <a:ext uri="{FF2B5EF4-FFF2-40B4-BE49-F238E27FC236}">
                <a16:creationId xmlns:a16="http://schemas.microsoft.com/office/drawing/2014/main" id="{0182A840-F863-4CA4-82CA-1FBC4EDFC66A}"/>
              </a:ext>
            </a:extLst>
          </p:cNvPr>
          <p:cNvSpPr>
            <a:spLocks xmlns:a="http://schemas.openxmlformats.org/drawingml/2006/main" noGrp="1"/>
          </p:cNvSpPr>
          <p:nvPr/>
        </p:nvSpPr>
        <p:spPr>
          <a:xfrm xmlns:a="http://schemas.openxmlformats.org/drawingml/2006/main">
            <a:off x="5867400" y="26289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5B61C"/>
                </a:solidFill>
                <a:latin typeface="Arial"/>
                <a:ea typeface="Arial"/>
                <a:cs typeface="Arial"/>
              </a:defRPr>
            </a:pPr>
            <a:r>
              <a:rPr sz="1500" b="1">
                <a:solidFill>
                  <a:srgbClr val="F5B61C"/>
                </a:solidFill>
                <a:latin typeface="Arial"/>
                <a:ea typeface="Arial"/>
                <a:cs typeface="Arial"/>
              </a:rPr>
              <a:t>Higher adoption ↔ throughput + instability</a:t>
            </a:r>
          </a:p>
        </p:txBody>
      </p:sp>
      <p:sp>
        <p:nvSpPr>
          <p:cNvPr id="24" name="">
            <a:extLst xmlns:a="http://schemas.openxmlformats.org/drawingml/2006/main">
              <a:ext uri="{FF2B5EF4-FFF2-40B4-BE49-F238E27FC236}">
                <a16:creationId xmlns:a16="http://schemas.microsoft.com/office/drawing/2014/main" id="{E903ECBC-6848-4A93-8A3E-EE7F5F7E2C1E}"/>
              </a:ext>
            </a:extLst>
          </p:cNvPr>
          <p:cNvSpPr>
            <a:spLocks xmlns:a="http://schemas.openxmlformats.org/drawingml/2006/main" noGrp="1"/>
          </p:cNvSpPr>
          <p:nvPr/>
        </p:nvSpPr>
        <p:spPr>
          <a:xfrm xmlns:a="http://schemas.openxmlformats.org/drawingml/2006/main">
            <a:off x="5867400" y="29241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Instability: failed production changes + unplanned fixes.</a:t>
            </a:r>
          </a:p>
        </p:txBody>
      </p:sp>
      <p:sp>
        <p:nvSpPr>
          <p:cNvPr id="25" name="">
            <a:extLst xmlns:a="http://schemas.openxmlformats.org/drawingml/2006/main">
              <a:ext uri="{FF2B5EF4-FFF2-40B4-BE49-F238E27FC236}">
                <a16:creationId xmlns:a16="http://schemas.microsoft.com/office/drawing/2014/main" id="{0665B7C4-B331-4860-8C33-0C12540CD25E}"/>
              </a:ext>
            </a:extLst>
          </p:cNvPr>
          <p:cNvSpPr>
            <a:spLocks xmlns:a="http://schemas.openxmlformats.org/drawingml/2006/main" noGrp="1"/>
          </p:cNvSpPr>
          <p:nvPr/>
        </p:nvSpPr>
        <p:spPr>
          <a:xfrm xmlns:a="http://schemas.openxmlformats.org/drawingml/2006/main">
            <a:off x="5867400" y="31718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Survey association; no causal estimate.</a:t>
            </a:r>
          </a:p>
        </p:txBody>
      </p:sp>
      <p:sp>
        <p:nvSpPr>
          <p:cNvPr id="26" name="">
            <a:extLst xmlns:a="http://schemas.openxmlformats.org/drawingml/2006/main">
              <a:ext uri="{FF2B5EF4-FFF2-40B4-BE49-F238E27FC236}">
                <a16:creationId xmlns:a16="http://schemas.microsoft.com/office/drawing/2014/main" id="{806CD37B-5529-46A6-8EE6-0E65C7A48BE9}"/>
              </a:ext>
            </a:extLst>
          </p:cNvPr>
          <p:cNvSpPr>
            <a:spLocks xmlns:a="http://schemas.openxmlformats.org/drawingml/2006/main" noGrp="1"/>
          </p:cNvSpPr>
          <p:nvPr/>
        </p:nvSpPr>
        <p:spPr>
          <a:xfrm xmlns:a="http://schemas.openxmlformats.org/drawingml/2006/main" flipH="0" flipV="0">
            <a:off x="5867400" y="3495675"/>
            <a:ext cx="57150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BFF90E6A-EC93-422C-8545-F841E489BC81}"/>
              </a:ext>
            </a:extLst>
          </p:cNvPr>
          <p:cNvSpPr>
            <a:spLocks xmlns:a="http://schemas.openxmlformats.org/drawingml/2006/main" noGrp="1"/>
          </p:cNvSpPr>
          <p:nvPr/>
        </p:nvSpPr>
        <p:spPr>
          <a:xfrm xmlns:a="http://schemas.openxmlformats.org/drawingml/2006/main">
            <a:off x="5867400" y="35623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28C7F7"/>
                </a:solidFill>
                <a:latin typeface="Arial"/>
                <a:ea typeface="Arial"/>
                <a:cs typeface="Arial"/>
              </a:defRPr>
            </a:pPr>
            <a:r>
              <a:rPr sz="1500" b="1">
                <a:solidFill>
                  <a:srgbClr val="28C7F7"/>
                </a:solidFill>
                <a:latin typeface="Arial"/>
                <a:ea typeface="Arial"/>
                <a:cs typeface="Arial"/>
              </a:rPr>
              <a:t>GITCLEAR · SHARES OF CHANGED LINES</a:t>
            </a:r>
          </a:p>
        </p:txBody>
      </p:sp>
      <p:graphicFrame>
        <p:nvGraphicFramePr>
          <p:cNvPr id="67" name=""/>
          <p:cNvGraphicFramePr/>
          <p:nvPr/>
        </p:nvGraphicFramePr>
        <p:xfrm>
          <a:off xmlns:a="http://schemas.openxmlformats.org/drawingml/2006/main" x="5867400" y="3886200"/>
          <a:ext xmlns:a="http://schemas.openxmlformats.org/drawingml/2006/main" cx="5715000" cy="942975"/>
        </p:xfrm>
        <a:graphic xmlns:a="http://schemas.openxmlformats.org/drawingml/2006/main">
          <a:graphicData uri="http://schemas.openxmlformats.org/drawingml/2006/table">
            <a:tbl>
              <a:tblPr/>
              <a:tblGrid>
                <a:gridCol w="2381250"/>
                <a:gridCol w="1524000"/>
                <a:gridCol w="1809750"/>
              </a:tblGrid>
              <a:tr h="314325">
                <a:tc>
                  <a:txBody>
                    <a:bodyPr lIns="171450" tIns="19050" rIns="171450" bIns="19050">
                      <a:noAutofit/>
                    </a:bodyPr>
                    <a:lstStyle/>
                    <a:p>
                      <a:r>
                        <a:rPr sz="1575" b="1">
                          <a:solidFill>
                            <a:srgbClr val="F4F7FA"/>
                          </a:solidFill>
                          <a:latin typeface="Arial"/>
                          <a:ea typeface="Arial"/>
                          <a:cs typeface="Arial"/>
                        </a:rPr>
                        <a:t>Metric</a:t>
                      </a:r>
                    </a:p>
                  </a:txBody>
                  <a:tcPr marL="91440" marR="91440" marT="45720" marB="45720" anchor="ctr">
                    <a:solidFill>
                      <a:srgbClr val="1A2734"/>
                    </a:solidFill>
                  </a:tcPr>
                </a:tc>
                <a:tc>
                  <a:txBody>
                    <a:bodyPr lIns="171450" tIns="19050" rIns="171450" bIns="19050">
                      <a:noAutofit/>
                    </a:bodyPr>
                    <a:lstStyle/>
                    <a:p>
                      <a:r>
                        <a:rPr sz="1575" b="1">
                          <a:solidFill>
                            <a:srgbClr val="F4F7FA"/>
                          </a:solidFill>
                          <a:latin typeface="Arial"/>
                          <a:ea typeface="Arial"/>
                          <a:cs typeface="Arial"/>
                        </a:rPr>
                        <a:t>2021¹</a:t>
                      </a:r>
                    </a:p>
                  </a:txBody>
                  <a:tcPr marL="91440" marR="91440" marT="45720" marB="45720" anchor="ctr">
                    <a:solidFill>
                      <a:srgbClr val="1A2734"/>
                    </a:solidFill>
                  </a:tcPr>
                </a:tc>
                <a:tc>
                  <a:txBody>
                    <a:bodyPr lIns="171450" tIns="19050" rIns="171450" bIns="19050">
                      <a:noAutofit/>
                    </a:bodyPr>
                    <a:lstStyle/>
                    <a:p>
                      <a:r>
                        <a:rPr sz="1575" b="1">
                          <a:solidFill>
                            <a:srgbClr val="28C7F7"/>
                          </a:solidFill>
                          <a:latin typeface="Arial"/>
                          <a:ea typeface="Arial"/>
                          <a:cs typeface="Arial"/>
                        </a:rPr>
                        <a:t>2026²</a:t>
                      </a:r>
                    </a:p>
                  </a:txBody>
                  <a:tcPr marL="91440" marR="91440" marT="45720" marB="45720" anchor="ctr">
                    <a:solidFill>
                      <a:srgbClr val="1A2734"/>
                    </a:solidFill>
                  </a:tcPr>
                </a:tc>
              </a:tr>
              <a:tr h="314325">
                <a:tc>
                  <a:txBody>
                    <a:bodyPr lIns="171450" tIns="19050" rIns="171450" bIns="19050">
                      <a:noAutofit/>
                    </a:bodyPr>
                    <a:lstStyle/>
                    <a:p>
                      <a:r>
                        <a:rPr sz="1500" b="1">
                          <a:solidFill>
                            <a:srgbClr val="F4F7FA"/>
                          </a:solidFill>
                          <a:latin typeface="Arial"/>
                          <a:ea typeface="Arial"/>
                          <a:cs typeface="Arial"/>
                        </a:rPr>
                        <a:t>Moved code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24.65%</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3.8% YTD</a:t>
                      </a:r>
                    </a:p>
                  </a:txBody>
                  <a:tcPr marL="91440" marR="91440" marT="45720" marB="45720" anchor="ctr">
                    <a:solidFill>
                      <a:srgbClr val="0B0F14"/>
                    </a:solidFill>
                  </a:tcPr>
                </a:tc>
              </a:tr>
              <a:tr h="314325">
                <a:tc>
                  <a:txBody>
                    <a:bodyPr lIns="171450" tIns="19050" rIns="171450" bIns="19050">
                      <a:noAutofit/>
                    </a:bodyPr>
                    <a:lstStyle/>
                    <a:p>
                      <a:r>
                        <a:rPr sz="1500" b="1">
                          <a:solidFill>
                            <a:srgbClr val="F4F7FA"/>
                          </a:solidFill>
                          <a:latin typeface="Arial"/>
                          <a:ea typeface="Arial"/>
                          <a:cs typeface="Arial"/>
                        </a:rPr>
                        <a:t>Copy/paste</a:t>
                      </a:r>
                    </a:p>
                  </a:txBody>
                  <a:tcPr marL="91440" marR="91440" marT="45720" marB="45720" anchor="ctr">
                    <a:solidFill>
                      <a:srgbClr val="0B0F14"/>
                    </a:solidFill>
                  </a:tcPr>
                </a:tc>
                <a:tc>
                  <a:txBody>
                    <a:bodyPr lIns="171450" tIns="19050" rIns="171450" bIns="19050">
                      <a:noAutofit/>
                    </a:bodyPr>
                    <a:lstStyle/>
                    <a:p>
                      <a:r>
                        <a:rPr sz="1500" b="0">
                          <a:solidFill>
                            <a:srgbClr val="F4F7FA"/>
                          </a:solidFill>
                          <a:latin typeface="Arial"/>
                          <a:ea typeface="Arial"/>
                          <a:cs typeface="Arial"/>
                        </a:rPr>
                        <a:t>8.66%</a:t>
                      </a:r>
                    </a:p>
                  </a:txBody>
                  <a:tcPr marL="91440" marR="91440" marT="45720" marB="45720" anchor="ctr">
                    <a:solidFill>
                      <a:srgbClr val="0B0F14"/>
                    </a:solidFill>
                  </a:tcPr>
                </a:tc>
                <a:tc>
                  <a:txBody>
                    <a:bodyPr lIns="171450" tIns="19050" rIns="171450" bIns="19050">
                      <a:noAutofit/>
                    </a:bodyPr>
                    <a:lstStyle/>
                    <a:p>
                      <a:r>
                        <a:rPr sz="1500" b="0">
                          <a:solidFill>
                            <a:srgbClr val="28C7F7"/>
                          </a:solidFill>
                          <a:latin typeface="Arial"/>
                          <a:ea typeface="Arial"/>
                          <a:cs typeface="Arial"/>
                        </a:rPr>
                        <a:t>15.7% H1</a:t>
                      </a:r>
                    </a:p>
                  </a:txBody>
                  <a:tcPr marL="91440" marR="91440" marT="45720" marB="45720" anchor="ctr">
                    <a:solidFill>
                      <a:srgbClr val="0B0F14"/>
                    </a:solidFill>
                  </a:tcPr>
                </a:tc>
              </a:tr>
            </a:tbl>
          </a:graphicData>
        </a:graphic>
      </p:graphicFrame>
      <p:sp>
        <p:nvSpPr>
          <p:cNvPr id="29" name="">
            <a:extLst xmlns:a="http://schemas.openxmlformats.org/drawingml/2006/main">
              <a:ext uri="{FF2B5EF4-FFF2-40B4-BE49-F238E27FC236}">
                <a16:creationId xmlns:a16="http://schemas.microsoft.com/office/drawing/2014/main" id="{F5EE1500-4B5C-47EF-9403-A10EB3027CEE}"/>
              </a:ext>
            </a:extLst>
          </p:cNvPr>
          <p:cNvSpPr>
            <a:spLocks xmlns:a="http://schemas.openxmlformats.org/drawingml/2006/main" noGrp="1"/>
          </p:cNvSpPr>
          <p:nvPr/>
        </p:nvSpPr>
        <p:spPr>
          <a:xfrm xmlns:a="http://schemas.openxmlformats.org/drawingml/2006/main">
            <a:off x="5867400" y="48768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¹2025 report  ²2026 report; different samples.</a:t>
            </a:r>
          </a:p>
        </p:txBody>
      </p:sp>
      <p:sp>
        <p:nvSpPr>
          <p:cNvPr id="30" name="">
            <a:extLst xmlns:a="http://schemas.openxmlformats.org/drawingml/2006/main">
              <a:ext uri="{FF2B5EF4-FFF2-40B4-BE49-F238E27FC236}">
                <a16:creationId xmlns:a16="http://schemas.microsoft.com/office/drawing/2014/main" id="{9264C81D-09AD-41EB-8F63-028A526DCC76}"/>
              </a:ext>
            </a:extLst>
          </p:cNvPr>
          <p:cNvSpPr>
            <a:spLocks xmlns:a="http://schemas.openxmlformats.org/drawingml/2006/main" noGrp="1"/>
          </p:cNvSpPr>
          <p:nvPr/>
        </p:nvSpPr>
        <p:spPr>
          <a:xfrm xmlns:a="http://schemas.openxmlformats.org/drawingml/2006/main">
            <a:off x="5867400" y="51244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5B61C"/>
                </a:solidFill>
                <a:latin typeface="Arial"/>
                <a:ea typeface="Arial"/>
                <a:cs typeface="Arial"/>
              </a:defRPr>
            </a:pPr>
            <a:r>
              <a:rPr sz="1350" b="0">
                <a:solidFill>
                  <a:srgbClr val="F5B61C"/>
                </a:solidFill>
                <a:latin typeface="Arial"/>
                <a:ea typeface="Arial"/>
                <a:cs typeface="Arial"/>
              </a:rPr>
              <a:t>Snapshots only; no comparable trend or causal estimate.</a:t>
            </a:r>
          </a:p>
        </p:txBody>
      </p:sp>
      <p:sp>
        <p:nvSpPr>
          <p:cNvPr id="31" name="">
            <a:extLst xmlns:a="http://schemas.openxmlformats.org/drawingml/2006/main">
              <a:ext uri="{FF2B5EF4-FFF2-40B4-BE49-F238E27FC236}">
                <a16:creationId xmlns:a16="http://schemas.microsoft.com/office/drawing/2014/main" id="{E09859F7-8260-4235-9991-22F870BDFBFC}"/>
              </a:ext>
            </a:extLst>
          </p:cNvPr>
          <p:cNvSpPr>
            <a:spLocks xmlns:a="http://schemas.openxmlformats.org/drawingml/2006/main" noGrp="1"/>
          </p:cNvSpPr>
          <p:nvPr/>
        </p:nvSpPr>
        <p:spPr>
          <a:xfrm xmlns:a="http://schemas.openxmlformats.org/drawingml/2006/main" flipH="0" flipV="0">
            <a:off x="609600" y="54959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2" name="">
            <a:extLst xmlns:a="http://schemas.openxmlformats.org/drawingml/2006/main">
              <a:ext uri="{FF2B5EF4-FFF2-40B4-BE49-F238E27FC236}">
                <a16:creationId xmlns:a16="http://schemas.microsoft.com/office/drawing/2014/main" id="{BCE50901-83C2-4EBD-8494-C75681CFBED9}"/>
              </a:ext>
            </a:extLst>
          </p:cNvPr>
          <p:cNvSpPr>
            <a:spLocks xmlns:a="http://schemas.openxmlformats.org/drawingml/2006/main" noGrp="1"/>
          </p:cNvSpPr>
          <p:nvPr/>
        </p:nvSpPr>
        <p:spPr>
          <a:xfrm xmlns:a="http://schemas.openxmlformats.org/drawingml/2006/main">
            <a:off x="60960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METR · MAY 2026 · n = 349</a:t>
            </a:r>
          </a:p>
        </p:txBody>
      </p:sp>
      <p:sp>
        <p:nvSpPr>
          <p:cNvPr id="33" name="">
            <a:extLst xmlns:a="http://schemas.openxmlformats.org/drawingml/2006/main">
              <a:ext uri="{FF2B5EF4-FFF2-40B4-BE49-F238E27FC236}">
                <a16:creationId xmlns:a16="http://schemas.microsoft.com/office/drawing/2014/main" id="{FD80D0FA-7B21-437C-937C-565229B22D0C}"/>
              </a:ext>
            </a:extLst>
          </p:cNvPr>
          <p:cNvSpPr>
            <a:spLocks xmlns:a="http://schemas.openxmlformats.org/drawingml/2006/main" noGrp="1"/>
          </p:cNvSpPr>
          <p:nvPr/>
        </p:nvSpPr>
        <p:spPr>
          <a:xfrm xmlns:a="http://schemas.openxmlformats.org/drawingml/2006/main">
            <a:off x="60960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4F7FA"/>
                </a:solidFill>
                <a:latin typeface="Arial"/>
                <a:ea typeface="Arial"/>
                <a:cs typeface="Arial"/>
              </a:defRPr>
            </a:pPr>
            <a:r>
              <a:rPr sz="1725" b="1">
                <a:solidFill>
                  <a:srgbClr val="F4F7FA"/>
                </a:solidFill>
                <a:latin typeface="Arial"/>
                <a:ea typeface="Arial"/>
                <a:cs typeface="Arial"/>
              </a:rPr>
              <a:t>1.4–2× self-reported work value</a:t>
            </a:r>
          </a:p>
        </p:txBody>
      </p:sp>
      <p:sp>
        <p:nvSpPr>
          <p:cNvPr id="34" name="">
            <a:extLst xmlns:a="http://schemas.openxmlformats.org/drawingml/2006/main">
              <a:ext uri="{FF2B5EF4-FFF2-40B4-BE49-F238E27FC236}">
                <a16:creationId xmlns:a16="http://schemas.microsoft.com/office/drawing/2014/main" id="{3F967FAA-FEF0-4A45-B788-99A409A98171}"/>
              </a:ext>
            </a:extLst>
          </p:cNvPr>
          <p:cNvSpPr>
            <a:spLocks xmlns:a="http://schemas.openxmlformats.org/drawingml/2006/main" noGrp="1"/>
          </p:cNvSpPr>
          <p:nvPr/>
        </p:nvSpPr>
        <p:spPr>
          <a:xfrm xmlns:a="http://schemas.openxmlformats.org/drawingml/2006/main">
            <a:off x="60960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ADB8C5"/>
                </a:solidFill>
                <a:latin typeface="Arial"/>
                <a:ea typeface="Arial"/>
                <a:cs typeface="Arial"/>
              </a:defRPr>
            </a:pPr>
            <a:r>
              <a:rPr sz="1425" b="0">
                <a:solidFill>
                  <a:srgbClr val="ADB8C5"/>
                </a:solidFill>
                <a:latin typeface="Arial"/>
                <a:ea typeface="Arial"/>
                <a:cs typeface="Arial"/>
              </a:rPr>
              <a:t>Medians across three questions.</a:t>
            </a:r>
          </a:p>
        </p:txBody>
      </p:sp>
      <p:sp>
        <p:nvSpPr>
          <p:cNvPr id="35" name="">
            <a:extLst xmlns:a="http://schemas.openxmlformats.org/drawingml/2006/main">
              <a:ext uri="{FF2B5EF4-FFF2-40B4-BE49-F238E27FC236}">
                <a16:creationId xmlns:a16="http://schemas.microsoft.com/office/drawing/2014/main" id="{AFCEA862-9C53-4900-A1B9-7FE9748E37BD}"/>
              </a:ext>
            </a:extLst>
          </p:cNvPr>
          <p:cNvSpPr>
            <a:spLocks xmlns:a="http://schemas.openxmlformats.org/drawingml/2006/main" noGrp="1"/>
          </p:cNvSpPr>
          <p:nvPr/>
        </p:nvSpPr>
        <p:spPr>
          <a:xfrm xmlns:a="http://schemas.openxmlformats.org/drawingml/2006/main">
            <a:off x="60960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Technical workers; no causal estimate.</a:t>
            </a:r>
          </a:p>
        </p:txBody>
      </p:sp>
      <p:sp>
        <p:nvSpPr>
          <p:cNvPr id="36" name="">
            <a:extLst xmlns:a="http://schemas.openxmlformats.org/drawingml/2006/main">
              <a:ext uri="{FF2B5EF4-FFF2-40B4-BE49-F238E27FC236}">
                <a16:creationId xmlns:a16="http://schemas.microsoft.com/office/drawing/2014/main" id="{E3FF626B-6639-4197-BF52-5594AFDC817B}"/>
              </a:ext>
            </a:extLst>
          </p:cNvPr>
          <p:cNvSpPr>
            <a:spLocks xmlns:a="http://schemas.openxmlformats.org/drawingml/2006/main" noGrp="1"/>
          </p:cNvSpPr>
          <p:nvPr/>
        </p:nvSpPr>
        <p:spPr>
          <a:xfrm xmlns:a="http://schemas.openxmlformats.org/drawingml/2006/main">
            <a:off x="6153150" y="5581650"/>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28C7F7"/>
                </a:solidFill>
                <a:latin typeface="Arial"/>
                <a:ea typeface="Arial"/>
                <a:cs typeface="Arial"/>
              </a:defRPr>
            </a:pPr>
            <a:r>
              <a:rPr sz="1425" b="1">
                <a:solidFill>
                  <a:srgbClr val="28C7F7"/>
                </a:solidFill>
                <a:latin typeface="Arial"/>
                <a:ea typeface="Arial"/>
                <a:cs typeface="Arial"/>
              </a:rPr>
              <a:t>AGARWAL · JAN 2026 · 1,197 REPOS</a:t>
            </a:r>
          </a:p>
        </p:txBody>
      </p:sp>
      <p:sp>
        <p:nvSpPr>
          <p:cNvPr id="37" name="">
            <a:extLst xmlns:a="http://schemas.openxmlformats.org/drawingml/2006/main">
              <a:ext uri="{FF2B5EF4-FFF2-40B4-BE49-F238E27FC236}">
                <a16:creationId xmlns:a16="http://schemas.microsoft.com/office/drawing/2014/main" id="{E84F1321-0644-4FB3-A496-E028A6862104}"/>
              </a:ext>
            </a:extLst>
          </p:cNvPr>
          <p:cNvSpPr>
            <a:spLocks xmlns:a="http://schemas.openxmlformats.org/drawingml/2006/main" noGrp="1"/>
          </p:cNvSpPr>
          <p:nvPr/>
        </p:nvSpPr>
        <p:spPr>
          <a:xfrm xmlns:a="http://schemas.openxmlformats.org/drawingml/2006/main">
            <a:off x="6153150" y="5895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4F7FA"/>
                </a:solidFill>
                <a:latin typeface="Arial"/>
                <a:ea typeface="Arial"/>
                <a:cs typeface="Arial"/>
              </a:defRPr>
            </a:pPr>
            <a:r>
              <a:rPr sz="1500" b="1">
                <a:solidFill>
                  <a:srgbClr val="F4F7FA"/>
                </a:solidFill>
                <a:latin typeface="Arial"/>
                <a:ea typeface="Arial"/>
                <a:cs typeface="Arial"/>
              </a:rPr>
              <a:t>Cognitive complexity after agent adoption</a:t>
            </a:r>
          </a:p>
        </p:txBody>
      </p:sp>
      <p:sp>
        <p:nvSpPr>
          <p:cNvPr id="38" name="">
            <a:extLst xmlns:a="http://schemas.openxmlformats.org/drawingml/2006/main">
              <a:ext uri="{FF2B5EF4-FFF2-40B4-BE49-F238E27FC236}">
                <a16:creationId xmlns:a16="http://schemas.microsoft.com/office/drawing/2014/main" id="{1EBA12CE-7F34-43C6-8A11-9FB2DF554E79}"/>
              </a:ext>
            </a:extLst>
          </p:cNvPr>
          <p:cNvSpPr>
            <a:spLocks xmlns:a="http://schemas.openxmlformats.org/drawingml/2006/main" noGrp="1"/>
          </p:cNvSpPr>
          <p:nvPr/>
        </p:nvSpPr>
        <p:spPr>
          <a:xfrm xmlns:a="http://schemas.openxmlformats.org/drawingml/2006/main">
            <a:off x="6153150" y="6191250"/>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4F7FA"/>
                </a:solidFill>
                <a:latin typeface="Arial"/>
                <a:ea typeface="Arial"/>
                <a:cs typeface="Arial"/>
              </a:defRPr>
            </a:pPr>
            <a:r>
              <a:rPr sz="1425" b="0">
                <a:solidFill>
                  <a:srgbClr val="F4F7FA"/>
                </a:solidFill>
                <a:latin typeface="Arial"/>
                <a:ea typeface="Arial"/>
                <a:cs typeface="Arial"/>
              </a:rPr>
              <a:t>Agent-first +34.85% · Prior AI-IDE +42.87%</a:t>
            </a:r>
          </a:p>
        </p:txBody>
      </p:sp>
      <p:sp>
        <p:nvSpPr>
          <p:cNvPr id="39" name="">
            <a:extLst xmlns:a="http://schemas.openxmlformats.org/drawingml/2006/main">
              <a:ext uri="{FF2B5EF4-FFF2-40B4-BE49-F238E27FC236}">
                <a16:creationId xmlns:a16="http://schemas.microsoft.com/office/drawing/2014/main" id="{A60D3B73-1608-471A-B06F-8B7B51175D45}"/>
              </a:ext>
            </a:extLst>
          </p:cNvPr>
          <p:cNvSpPr>
            <a:spLocks xmlns:a="http://schemas.openxmlformats.org/drawingml/2006/main" noGrp="1"/>
          </p:cNvSpPr>
          <p:nvPr/>
        </p:nvSpPr>
        <p:spPr>
          <a:xfrm xmlns:a="http://schemas.openxmlformats.org/drawingml/2006/main">
            <a:off x="6153150" y="6448425"/>
            <a:ext cx="5257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ADB8C5"/>
                </a:solidFill>
                <a:latin typeface="Arial"/>
                <a:ea typeface="Arial"/>
                <a:cs typeface="Arial"/>
              </a:defRPr>
            </a:pPr>
            <a:r>
              <a:rPr sz="1350" b="0">
                <a:solidFill>
                  <a:srgbClr val="ADB8C5"/>
                </a:solidFill>
                <a:latin typeface="Arial"/>
                <a:ea typeface="Arial"/>
                <a:cs typeface="Arial"/>
              </a:rPr>
              <a:t>Matched controls; 19,236 repo-months.</a:t>
            </a:r>
          </a:p>
        </p:txBody>
      </p:sp>
    </p:spTree>
    <p:extLst>
      <p:ext uri="{BB962C8B-B14F-4D97-AF65-F5344CB8AC3E}">
        <p14:creationId xmlns:p14="http://schemas.microsoft.com/office/powerpoint/2010/main" val="382677822"/>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0F61564-7EC1-48B1-B159-6BACB6611A38}"/>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The New Scarcity Is Human Comprehension</a:t>
            </a:r>
          </a:p>
        </p:txBody>
      </p:sp>
      <p:sp>
        <p:nvSpPr>
          <p:cNvPr id="2" name="">
            <a:extLst xmlns:a="http://schemas.openxmlformats.org/drawingml/2006/main">
              <a:ext uri="{FF2B5EF4-FFF2-40B4-BE49-F238E27FC236}">
                <a16:creationId xmlns:a16="http://schemas.microsoft.com/office/drawing/2014/main" id="{3BDD678B-3C22-4322-8383-45EA4270DE8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6FF9C4C5-E915-430D-9401-EBF6976EB62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D0C3C3A-CC8D-4C98-BF13-7C70C48E229C}"/>
              </a:ext>
            </a:extLst>
          </p:cNvPr>
          <p:cNvSpPr>
            <a:spLocks xmlns:a="http://schemas.openxmlformats.org/drawingml/2006/main" noGrp="1"/>
          </p:cNvSpPr>
          <p:nvPr/>
        </p:nvSpPr>
        <p:spPr>
          <a:xfrm xmlns:a="http://schemas.openxmlformats.org/drawingml/2006/main" flipH="0" flipV="0">
            <a:off x="838200" y="4695825"/>
            <a:ext cx="6686550" cy="0"/>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5" name="">
            <a:extLst xmlns:a="http://schemas.openxmlformats.org/drawingml/2006/main">
              <a:ext uri="{FF2B5EF4-FFF2-40B4-BE49-F238E27FC236}">
                <a16:creationId xmlns:a16="http://schemas.microsoft.com/office/drawing/2014/main" id="{991D6D29-2A47-4B87-81AE-5098D8F68A8C}"/>
              </a:ext>
            </a:extLst>
          </p:cNvPr>
          <p:cNvSpPr>
            <a:spLocks xmlns:a="http://schemas.openxmlformats.org/drawingml/2006/main" noGrp="1"/>
          </p:cNvSpPr>
          <p:nvPr/>
        </p:nvSpPr>
        <p:spPr>
          <a:xfrm xmlns:a="http://schemas.openxmlformats.org/drawingml/2006/main" flipH="0" flipV="1">
            <a:off x="838200" y="2171700"/>
            <a:ext cx="0" cy="2524125"/>
          </a:xfrm>
          <a:prstGeom xmlns:a="http://schemas.openxmlformats.org/drawingml/2006/main" prst="line">
            <a:avLst/>
          </a:prstGeom>
          <a:noFill xmlns:a="http://schemas.openxmlformats.org/drawingml/2006/main"/>
          <a:ln xmlns:a="http://schemas.openxmlformats.org/drawingml/2006/main" w="19050">
            <a:solidFill>
              <a:srgbClr val="ADB8C5"/>
            </a:solidFill>
            <a:prstDash val="solid"/>
          </a:ln>
        </p:spPr>
      </p:sp>
      <p:sp>
        <p:nvSpPr>
          <p:cNvPr id="6" name="">
            <a:extLst xmlns:a="http://schemas.openxmlformats.org/drawingml/2006/main">
              <a:ext uri="{FF2B5EF4-FFF2-40B4-BE49-F238E27FC236}">
                <a16:creationId xmlns:a16="http://schemas.microsoft.com/office/drawing/2014/main" id="{F6F4BC3C-187B-4B5A-871D-B2331E2232C8}"/>
              </a:ext>
            </a:extLst>
          </p:cNvPr>
          <p:cNvSpPr>
            <a:spLocks xmlns:a="http://schemas.openxmlformats.org/drawingml/2006/main" noGrp="1"/>
          </p:cNvSpPr>
          <p:nvPr/>
        </p:nvSpPr>
        <p:spPr>
          <a:xfrm xmlns:a="http://schemas.openxmlformats.org/drawingml/2006/main">
            <a:off x="952500" y="2238375"/>
            <a:ext cx="6143625" cy="2190750"/>
          </a:xfrm>
          <a:custGeom xmlns:a="http://schemas.openxmlformats.org/drawingml/2006/main">
            <a:pathLst>
              <a:path w="6143625" h="2190750">
                <a:moveTo>
                  <a:pt x="0" y="2190750"/>
                </a:moveTo>
                <a:lnTo>
                  <a:pt x="51197" y="2187339"/>
                </a:lnTo>
                <a:lnTo>
                  <a:pt x="102394" y="2183679"/>
                </a:lnTo>
                <a:lnTo>
                  <a:pt x="153591" y="2179769"/>
                </a:lnTo>
                <a:lnTo>
                  <a:pt x="204788" y="2175609"/>
                </a:lnTo>
                <a:lnTo>
                  <a:pt x="255984" y="2171201"/>
                </a:lnTo>
                <a:lnTo>
                  <a:pt x="307181" y="2166542"/>
                </a:lnTo>
                <a:lnTo>
                  <a:pt x="358378" y="2161634"/>
                </a:lnTo>
                <a:lnTo>
                  <a:pt x="409575" y="2156477"/>
                </a:lnTo>
                <a:lnTo>
                  <a:pt x="460772" y="2151070"/>
                </a:lnTo>
                <a:lnTo>
                  <a:pt x="511969" y="2145414"/>
                </a:lnTo>
                <a:lnTo>
                  <a:pt x="563166" y="2139508"/>
                </a:lnTo>
                <a:lnTo>
                  <a:pt x="614363" y="2133352"/>
                </a:lnTo>
                <a:lnTo>
                  <a:pt x="665559" y="2126947"/>
                </a:lnTo>
                <a:lnTo>
                  <a:pt x="716756" y="2120293"/>
                </a:lnTo>
                <a:lnTo>
                  <a:pt x="767953" y="2113389"/>
                </a:lnTo>
                <a:lnTo>
                  <a:pt x="819150" y="2106236"/>
                </a:lnTo>
                <a:lnTo>
                  <a:pt x="870347" y="2098833"/>
                </a:lnTo>
                <a:lnTo>
                  <a:pt x="921544" y="2091180"/>
                </a:lnTo>
                <a:lnTo>
                  <a:pt x="972741" y="2083278"/>
                </a:lnTo>
                <a:lnTo>
                  <a:pt x="1023938" y="2075127"/>
                </a:lnTo>
                <a:lnTo>
                  <a:pt x="1075134" y="2066726"/>
                </a:lnTo>
                <a:lnTo>
                  <a:pt x="1126331" y="2058076"/>
                </a:lnTo>
                <a:lnTo>
                  <a:pt x="1177528" y="2049176"/>
                </a:lnTo>
                <a:lnTo>
                  <a:pt x="1228725" y="2040026"/>
                </a:lnTo>
                <a:lnTo>
                  <a:pt x="1279922" y="2030627"/>
                </a:lnTo>
                <a:lnTo>
                  <a:pt x="1331119" y="2020979"/>
                </a:lnTo>
                <a:lnTo>
                  <a:pt x="1382316" y="2011081"/>
                </a:lnTo>
                <a:lnTo>
                  <a:pt x="1433513" y="2000934"/>
                </a:lnTo>
                <a:lnTo>
                  <a:pt x="1484709" y="1990537"/>
                </a:lnTo>
                <a:lnTo>
                  <a:pt x="1535906" y="1979890"/>
                </a:lnTo>
                <a:lnTo>
                  <a:pt x="1587103" y="1968994"/>
                </a:lnTo>
                <a:lnTo>
                  <a:pt x="1638300" y="1957849"/>
                </a:lnTo>
                <a:lnTo>
                  <a:pt x="1689497" y="1946454"/>
                </a:lnTo>
                <a:lnTo>
                  <a:pt x="1740694" y="1934810"/>
                </a:lnTo>
                <a:lnTo>
                  <a:pt x="1791891" y="1922916"/>
                </a:lnTo>
                <a:lnTo>
                  <a:pt x="1843088" y="1910772"/>
                </a:lnTo>
                <a:lnTo>
                  <a:pt x="1894284" y="1898379"/>
                </a:lnTo>
                <a:lnTo>
                  <a:pt x="1945481" y="1885737"/>
                </a:lnTo>
                <a:lnTo>
                  <a:pt x="1996678" y="1872845"/>
                </a:lnTo>
                <a:lnTo>
                  <a:pt x="2047875" y="1859703"/>
                </a:lnTo>
                <a:lnTo>
                  <a:pt x="2099072" y="1846312"/>
                </a:lnTo>
                <a:lnTo>
                  <a:pt x="2150269" y="1832672"/>
                </a:lnTo>
                <a:lnTo>
                  <a:pt x="2201466" y="1818782"/>
                </a:lnTo>
                <a:lnTo>
                  <a:pt x="2252662" y="1804642"/>
                </a:lnTo>
                <a:lnTo>
                  <a:pt x="2303859" y="1790254"/>
                </a:lnTo>
                <a:lnTo>
                  <a:pt x="2355056" y="1775615"/>
                </a:lnTo>
                <a:lnTo>
                  <a:pt x="2406253" y="1760727"/>
                </a:lnTo>
                <a:lnTo>
                  <a:pt x="2457450" y="1745590"/>
                </a:lnTo>
                <a:lnTo>
                  <a:pt x="2508647" y="1730203"/>
                </a:lnTo>
                <a:lnTo>
                  <a:pt x="2559844" y="1714566"/>
                </a:lnTo>
                <a:lnTo>
                  <a:pt x="2611041" y="1698680"/>
                </a:lnTo>
                <a:lnTo>
                  <a:pt x="2662238" y="1682545"/>
                </a:lnTo>
                <a:lnTo>
                  <a:pt x="2713434" y="1666160"/>
                </a:lnTo>
                <a:lnTo>
                  <a:pt x="2764631" y="1649525"/>
                </a:lnTo>
                <a:lnTo>
                  <a:pt x="2815828" y="1632641"/>
                </a:lnTo>
                <a:lnTo>
                  <a:pt x="2867025" y="1615508"/>
                </a:lnTo>
                <a:lnTo>
                  <a:pt x="2918222" y="1598125"/>
                </a:lnTo>
                <a:lnTo>
                  <a:pt x="2969419" y="1580492"/>
                </a:lnTo>
                <a:lnTo>
                  <a:pt x="3020616" y="1562610"/>
                </a:lnTo>
                <a:lnTo>
                  <a:pt x="3071813" y="1544479"/>
                </a:lnTo>
                <a:lnTo>
                  <a:pt x="3123009" y="1526098"/>
                </a:lnTo>
                <a:lnTo>
                  <a:pt x="3174206" y="1507467"/>
                </a:lnTo>
                <a:lnTo>
                  <a:pt x="3225403" y="1488587"/>
                </a:lnTo>
                <a:lnTo>
                  <a:pt x="3276600" y="1469458"/>
                </a:lnTo>
                <a:lnTo>
                  <a:pt x="3327797" y="1450079"/>
                </a:lnTo>
                <a:lnTo>
                  <a:pt x="3378994" y="1430450"/>
                </a:lnTo>
                <a:lnTo>
                  <a:pt x="3430191" y="1410572"/>
                </a:lnTo>
                <a:lnTo>
                  <a:pt x="3481388" y="1390445"/>
                </a:lnTo>
                <a:lnTo>
                  <a:pt x="3532584" y="1370068"/>
                </a:lnTo>
                <a:lnTo>
                  <a:pt x="3583781" y="1349441"/>
                </a:lnTo>
                <a:lnTo>
                  <a:pt x="3634978" y="1328565"/>
                </a:lnTo>
                <a:lnTo>
                  <a:pt x="3686175" y="1307440"/>
                </a:lnTo>
                <a:lnTo>
                  <a:pt x="3737372" y="1286065"/>
                </a:lnTo>
                <a:lnTo>
                  <a:pt x="3788569" y="1264440"/>
                </a:lnTo>
                <a:lnTo>
                  <a:pt x="3839766" y="1242566"/>
                </a:lnTo>
                <a:lnTo>
                  <a:pt x="3890963" y="1220442"/>
                </a:lnTo>
                <a:lnTo>
                  <a:pt x="3942159" y="1198069"/>
                </a:lnTo>
                <a:lnTo>
                  <a:pt x="3993356" y="1175447"/>
                </a:lnTo>
                <a:lnTo>
                  <a:pt x="4044553" y="1152575"/>
                </a:lnTo>
                <a:lnTo>
                  <a:pt x="4095750" y="1129453"/>
                </a:lnTo>
                <a:lnTo>
                  <a:pt x="4146947" y="1106082"/>
                </a:lnTo>
                <a:lnTo>
                  <a:pt x="4198144" y="1082462"/>
                </a:lnTo>
                <a:lnTo>
                  <a:pt x="4249341" y="1058592"/>
                </a:lnTo>
                <a:lnTo>
                  <a:pt x="4300537" y="1034472"/>
                </a:lnTo>
                <a:lnTo>
                  <a:pt x="4351734" y="1010103"/>
                </a:lnTo>
                <a:lnTo>
                  <a:pt x="4402931" y="985485"/>
                </a:lnTo>
                <a:lnTo>
                  <a:pt x="4454128" y="960616"/>
                </a:lnTo>
                <a:lnTo>
                  <a:pt x="4505325" y="935499"/>
                </a:lnTo>
                <a:lnTo>
                  <a:pt x="4556522" y="910132"/>
                </a:lnTo>
                <a:lnTo>
                  <a:pt x="4607719" y="884515"/>
                </a:lnTo>
                <a:lnTo>
                  <a:pt x="4658916" y="858649"/>
                </a:lnTo>
                <a:lnTo>
                  <a:pt x="4710113" y="832534"/>
                </a:lnTo>
                <a:lnTo>
                  <a:pt x="4761309" y="806169"/>
                </a:lnTo>
                <a:lnTo>
                  <a:pt x="4812506" y="779554"/>
                </a:lnTo>
                <a:lnTo>
                  <a:pt x="4863703" y="752690"/>
                </a:lnTo>
                <a:lnTo>
                  <a:pt x="4914900" y="725576"/>
                </a:lnTo>
                <a:lnTo>
                  <a:pt x="4966097" y="698213"/>
                </a:lnTo>
                <a:lnTo>
                  <a:pt x="5017294" y="670601"/>
                </a:lnTo>
                <a:lnTo>
                  <a:pt x="5068491" y="642739"/>
                </a:lnTo>
                <a:lnTo>
                  <a:pt x="5119688" y="614627"/>
                </a:lnTo>
                <a:lnTo>
                  <a:pt x="5170884" y="586266"/>
                </a:lnTo>
                <a:lnTo>
                  <a:pt x="5222081" y="557655"/>
                </a:lnTo>
                <a:lnTo>
                  <a:pt x="5273278" y="528795"/>
                </a:lnTo>
                <a:lnTo>
                  <a:pt x="5324475" y="499686"/>
                </a:lnTo>
                <a:lnTo>
                  <a:pt x="5375672" y="470327"/>
                </a:lnTo>
                <a:lnTo>
                  <a:pt x="5426869" y="440718"/>
                </a:lnTo>
                <a:lnTo>
                  <a:pt x="5478066" y="410860"/>
                </a:lnTo>
                <a:lnTo>
                  <a:pt x="5529263" y="380752"/>
                </a:lnTo>
                <a:lnTo>
                  <a:pt x="5580459" y="350395"/>
                </a:lnTo>
                <a:lnTo>
                  <a:pt x="5631656" y="319789"/>
                </a:lnTo>
                <a:lnTo>
                  <a:pt x="5682853" y="288933"/>
                </a:lnTo>
                <a:lnTo>
                  <a:pt x="5734050" y="257827"/>
                </a:lnTo>
                <a:lnTo>
                  <a:pt x="5785247" y="226472"/>
                </a:lnTo>
                <a:lnTo>
                  <a:pt x="5836444" y="194867"/>
                </a:lnTo>
                <a:lnTo>
                  <a:pt x="5887641" y="163013"/>
                </a:lnTo>
                <a:lnTo>
                  <a:pt x="5938838" y="130909"/>
                </a:lnTo>
                <a:lnTo>
                  <a:pt x="5990034" y="98556"/>
                </a:lnTo>
                <a:lnTo>
                  <a:pt x="6041231" y="65954"/>
                </a:lnTo>
                <a:lnTo>
                  <a:pt x="6092428" y="33102"/>
                </a:lnTo>
                <a:lnTo>
                  <a:pt x="6143625" y="0"/>
                </a:lnTo>
              </a:path>
            </a:pathLst>
          </a:custGeom>
          <a:noFill xmlns:a="http://schemas.openxmlformats.org/drawingml/2006/main"/>
          <a:ln xmlns:a="http://schemas.openxmlformats.org/drawingml/2006/main" w="38100">
            <a:solidFill>
              <a:srgbClr val="28C7F7"/>
            </a:solidFill>
            <a:prstDash val="solid"/>
          </a:ln>
        </p:spPr>
      </p:sp>
      <p:sp>
        <p:nvSpPr>
          <p:cNvPr id="7" name="">
            <a:extLst xmlns:a="http://schemas.openxmlformats.org/drawingml/2006/main">
              <a:ext uri="{FF2B5EF4-FFF2-40B4-BE49-F238E27FC236}">
                <a16:creationId xmlns:a16="http://schemas.microsoft.com/office/drawing/2014/main" id="{8730F7C4-4241-44EE-84AF-1CE2D9FD8C11}"/>
              </a:ext>
            </a:extLst>
          </p:cNvPr>
          <p:cNvSpPr>
            <a:spLocks xmlns:a="http://schemas.openxmlformats.org/drawingml/2006/main" noGrp="1"/>
          </p:cNvSpPr>
          <p:nvPr/>
        </p:nvSpPr>
        <p:spPr>
          <a:xfrm xmlns:a="http://schemas.openxmlformats.org/drawingml/2006/main" flipH="0" flipV="0">
            <a:off x="952500" y="4429125"/>
            <a:ext cx="6143625" cy="0"/>
          </a:xfrm>
          <a:prstGeom xmlns:a="http://schemas.openxmlformats.org/drawingml/2006/main" prst="line">
            <a:avLst/>
          </a:prstGeom>
          <a:noFill xmlns:a="http://schemas.openxmlformats.org/drawingml/2006/main"/>
          <a:ln xmlns:a="http://schemas.openxmlformats.org/drawingml/2006/main" w="38100">
            <a:solidFill>
              <a:srgbClr val="F5B61C"/>
            </a:solidFill>
            <a:prstDash val="solid"/>
          </a:ln>
        </p:spPr>
      </p:sp>
      <p:sp>
        <p:nvSpPr>
          <p:cNvPr id="8" name="">
            <a:extLst xmlns:a="http://schemas.openxmlformats.org/drawingml/2006/main">
              <a:ext uri="{FF2B5EF4-FFF2-40B4-BE49-F238E27FC236}">
                <a16:creationId xmlns:a16="http://schemas.microsoft.com/office/drawing/2014/main" id="{5C96F6D3-6918-4344-9F4A-1A32145868C7}"/>
              </a:ext>
            </a:extLst>
          </p:cNvPr>
          <p:cNvSpPr>
            <a:spLocks xmlns:a="http://schemas.openxmlformats.org/drawingml/2006/main" noGrp="1"/>
          </p:cNvSpPr>
          <p:nvPr/>
        </p:nvSpPr>
        <p:spPr>
          <a:xfrm xmlns:a="http://schemas.openxmlformats.org/drawingml/2006/main">
            <a:off x="1047750" y="1838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8C7F7"/>
                </a:solidFill>
                <a:latin typeface="Arial"/>
                <a:ea typeface="Arial"/>
                <a:cs typeface="Arial"/>
              </a:defRPr>
            </a:pPr>
            <a:r>
              <a:rPr sz="1875" b="1">
                <a:solidFill>
                  <a:srgbClr val="28C7F7"/>
                </a:solidFill>
                <a:latin typeface="Arial"/>
                <a:ea typeface="Arial"/>
                <a:cs typeface="Arial"/>
              </a:rPr>
              <a:t>Machine generation capacity</a:t>
            </a:r>
          </a:p>
        </p:txBody>
      </p:sp>
      <p:sp>
        <p:nvSpPr>
          <p:cNvPr id="9" name="">
            <a:extLst xmlns:a="http://schemas.openxmlformats.org/drawingml/2006/main">
              <a:ext uri="{FF2B5EF4-FFF2-40B4-BE49-F238E27FC236}">
                <a16:creationId xmlns:a16="http://schemas.microsoft.com/office/drawing/2014/main" id="{6529C8D8-2625-4144-82BF-F5D39D5E0843}"/>
              </a:ext>
            </a:extLst>
          </p:cNvPr>
          <p:cNvSpPr>
            <a:spLocks xmlns:a="http://schemas.openxmlformats.org/drawingml/2006/main" noGrp="1"/>
          </p:cNvSpPr>
          <p:nvPr/>
        </p:nvSpPr>
        <p:spPr>
          <a:xfrm xmlns:a="http://schemas.openxmlformats.org/drawingml/2006/main">
            <a:off x="1028700" y="48577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F5B61C"/>
                </a:solidFill>
                <a:latin typeface="Arial"/>
                <a:ea typeface="Arial"/>
                <a:cs typeface="Arial"/>
              </a:defRPr>
            </a:pPr>
            <a:r>
              <a:rPr sz="1725" b="0">
                <a:solidFill>
                  <a:srgbClr val="F5B61C"/>
                </a:solidFill>
                <a:latin typeface="Arial"/>
                <a:ea typeface="Arial"/>
                <a:cs typeface="Arial"/>
              </a:rPr>
              <a:t>Human comprehension capacity</a:t>
            </a:r>
          </a:p>
        </p:txBody>
      </p:sp>
      <p:sp>
        <p:nvSpPr>
          <p:cNvPr id="10" name="">
            <a:extLst xmlns:a="http://schemas.openxmlformats.org/drawingml/2006/main">
              <a:ext uri="{FF2B5EF4-FFF2-40B4-BE49-F238E27FC236}">
                <a16:creationId xmlns:a16="http://schemas.microsoft.com/office/drawing/2014/main" id="{60F02E5C-C357-4DE1-B9F3-89DD844538C5}"/>
              </a:ext>
            </a:extLst>
          </p:cNvPr>
          <p:cNvSpPr>
            <a:spLocks xmlns:a="http://schemas.openxmlformats.org/drawingml/2006/main" noGrp="1"/>
          </p:cNvSpPr>
          <p:nvPr/>
        </p:nvSpPr>
        <p:spPr>
          <a:xfrm xmlns:a="http://schemas.openxmlformats.org/drawingml/2006/main">
            <a:off x="5000625" y="3524250"/>
            <a:ext cx="247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Potential</a:t>
            </a:r>
          </a:p>
          <a:p xmlns:a="http://schemas.openxmlformats.org/drawingml/2006/main">
            <a:pPr algn="l">
              <a:defRPr sz="1650" b="0">
                <a:solidFill>
                  <a:srgbClr val="ADB8C5"/>
                </a:solidFill>
                <a:latin typeface="Arial"/>
                <a:ea typeface="Arial"/>
                <a:cs typeface="Arial"/>
              </a:defRPr>
            </a:pPr>
            <a:r>
              <a:rPr sz="1650" b="0">
                <a:solidFill>
                  <a:srgbClr val="ADB8C5"/>
                </a:solidFill>
                <a:latin typeface="Arial"/>
                <a:ea typeface="Arial"/>
                <a:cs typeface="Arial"/>
              </a:rPr>
              <a:t>comprehension gap</a:t>
            </a:r>
          </a:p>
        </p:txBody>
      </p:sp>
      <p:sp>
        <p:nvSpPr>
          <p:cNvPr id="11" name="">
            <a:extLst xmlns:a="http://schemas.openxmlformats.org/drawingml/2006/main">
              <a:ext uri="{FF2B5EF4-FFF2-40B4-BE49-F238E27FC236}">
                <a16:creationId xmlns:a16="http://schemas.microsoft.com/office/drawing/2014/main" id="{7185BB0D-B86F-431A-9EE5-4672C31D6F01}"/>
              </a:ext>
            </a:extLst>
          </p:cNvPr>
          <p:cNvSpPr>
            <a:spLocks xmlns:a="http://schemas.openxmlformats.org/drawingml/2006/main" noGrp="1"/>
          </p:cNvSpPr>
          <p:nvPr/>
        </p:nvSpPr>
        <p:spPr>
          <a:xfrm xmlns:a="http://schemas.openxmlformats.org/drawingml/2006/main">
            <a:off x="5572125" y="46958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Adoption / time</a:t>
            </a:r>
          </a:p>
        </p:txBody>
      </p:sp>
      <p:sp>
        <p:nvSpPr>
          <p:cNvPr id="12" name="">
            <a:extLst xmlns:a="http://schemas.openxmlformats.org/drawingml/2006/main">
              <a:ext uri="{FF2B5EF4-FFF2-40B4-BE49-F238E27FC236}">
                <a16:creationId xmlns:a16="http://schemas.microsoft.com/office/drawing/2014/main" id="{688D689A-6FF0-41CE-A459-AE95817EDE68}"/>
              </a:ext>
            </a:extLst>
          </p:cNvPr>
          <p:cNvSpPr>
            <a:spLocks xmlns:a="http://schemas.openxmlformats.org/drawingml/2006/main" noGrp="1"/>
          </p:cNvSpPr>
          <p:nvPr/>
        </p:nvSpPr>
        <p:spPr>
          <a:xfrm xmlns:a="http://schemas.openxmlformats.org/drawingml/2006/main">
            <a:off x="8048549" y="2148840"/>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2200" b="0">
                <ns0:solidFill>
                  <ns0:srgbClr val="F4F7FA"/>
                </ns0:solidFill>
                <ns0:latin typeface="Arial"/>
                <ns0:ea typeface="Arial"/>
                <ns0:cs typeface="Arial"/>
              </ns0:defRPr>
            </ns0:pPr>
            <ns0:r>
              <ns0:rPr sz="2200" b="0">
                <ns0:solidFill>
                  <ns0:srgbClr val="F4F7FA"/>
                </ns0:solidFill>
                <ns0:latin typeface="Arial"/>
                <ns0:ea typeface="Arial"/>
                <ns0:cs typeface="Arial"/>
              </ns0:rPr>
              <ns0:t>Can we explain</ns0:t>
            </ns0:r>
          </ns0:p>
          <ns1:p xmlns:ns1="http://schemas.openxmlformats.org/drawingml/2006/main">
            <ns1:pPr algn="l">
              <ns1:defRPr sz="2200" b="0">
                <ns1:solidFill>
                  <ns1:srgbClr val="F4F7FA"/>
                </ns1:solidFill>
                <ns1:latin typeface="Arial"/>
                <ns1:ea typeface="Arial"/>
                <ns1:cs typeface="Arial"/>
              </ns1:defRPr>
            </ns1:pPr>
            <ns1:r>
              <ns1:rPr sz="2200" b="0">
                <ns1:solidFill>
                  <ns1:srgbClr val="F4F7FA"/>
                </ns1:solidFill>
                <ns1:latin typeface="Arial"/>
                <ns1:ea typeface="Arial"/>
                <ns1:cs typeface="Arial"/>
              </ns1:rPr>
              <ns1:t>the change?</ns1:t>
            </ns1:r>
          </ns1:p>
        </p:txBody>
      </p:sp>
      <p:sp>
        <p:nvSpPr>
          <p:cNvPr id="14" name="">
            <a:extLst xmlns:a="http://schemas.openxmlformats.org/drawingml/2006/main">
              <a:ext uri="{FF2B5EF4-FFF2-40B4-BE49-F238E27FC236}">
                <a16:creationId xmlns:a16="http://schemas.microsoft.com/office/drawing/2014/main" id="{E5F9F1C3-202F-4F5F-BD0E-F92712140D3A}"/>
              </a:ext>
            </a:extLst>
          </p:cNvPr>
          <p:cNvSpPr>
            <a:spLocks xmlns:a="http://schemas.openxmlformats.org/drawingml/2006/main" noGrp="1"/>
          </p:cNvSpPr>
          <p:nvPr/>
        </p:nvSpPr>
        <p:spPr>
          <a:xfrm xmlns:a="http://schemas.openxmlformats.org/drawingml/2006/main">
            <a:off x="8048549" y="3182112"/>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200" b="0">
                <ns2:solidFill>
                  <ns2:srgbClr val="F4F7FA"/>
                </ns2:solidFill>
                <ns2:latin typeface="Arial"/>
                <ns2:ea typeface="Arial"/>
                <ns2:cs typeface="Arial"/>
              </ns2:defRPr>
            </ns2:pPr>
            <ns2:r>
              <ns2:rPr sz="2200" b="0">
                <ns2:solidFill>
                  <ns2:srgbClr val="F4F7FA"/>
                </ns2:solidFill>
                <ns2:latin typeface="Arial"/>
                <ns2:ea typeface="Arial"/>
                <ns2:cs typeface="Arial"/>
              </ns2:rPr>
              <ns2:t>Can we maintain</ns2:t>
            </ns2:r>
          </ns2:p>
          <ns3:p xmlns:ns3="http://schemas.openxmlformats.org/drawingml/2006/main">
            <ns3:pPr algn="l">
              <ns3:defRPr sz="2200" b="0">
                <ns3:solidFill>
                  <ns3:srgbClr val="F4F7FA"/>
                </ns3:solidFill>
                <ns3:latin typeface="Arial"/>
                <ns3:ea typeface="Arial"/>
                <ns3:cs typeface="Arial"/>
              </ns3:defRPr>
            </ns3:pPr>
            <ns3:r>
              <ns3:rPr sz="2200" b="0">
                <ns3:solidFill>
                  <ns3:srgbClr val="F4F7FA"/>
                </ns3:solidFill>
                <ns3:latin typeface="Arial"/>
                <ns3:ea typeface="Arial"/>
                <ns3:cs typeface="Arial"/>
              </ns3:rPr>
              <ns3:t>the dependency?</ns3:t>
            </ns3:r>
          </ns3:p>
        </p:txBody>
      </p:sp>
      <p:sp>
        <p:nvSpPr>
          <p:cNvPr id="16" name="">
            <a:extLst xmlns:a="http://schemas.openxmlformats.org/drawingml/2006/main">
              <a:ext uri="{FF2B5EF4-FFF2-40B4-BE49-F238E27FC236}">
                <a16:creationId xmlns:a16="http://schemas.microsoft.com/office/drawing/2014/main" id="{ACF33074-DA5E-4A2D-ABD7-316E110F171B}"/>
              </a:ext>
            </a:extLst>
          </p:cNvPr>
          <p:cNvSpPr>
            <a:spLocks xmlns:a="http://schemas.openxmlformats.org/drawingml/2006/main" noGrp="1"/>
          </p:cNvSpPr>
          <p:nvPr/>
        </p:nvSpPr>
        <p:spPr>
          <a:xfrm xmlns:a="http://schemas.openxmlformats.org/drawingml/2006/main">
            <a:off x="8048549" y="4215384"/>
            <a:ext cx="352409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200" b="0">
                <ns4:solidFill>
                  <ns4:srgbClr val="F4F7FA"/>
                </ns4:solidFill>
                <ns4:latin typeface="Arial"/>
                <ns4:ea typeface="Arial"/>
                <ns4:cs typeface="Arial"/>
              </ns4:defRPr>
            </ns4:pPr>
            <ns4:r>
              <ns4:rPr sz="2200" b="0">
                <ns4:solidFill>
                  <ns4:srgbClr val="F4F7FA"/>
                </ns4:solidFill>
                <ns4:latin typeface="Arial"/>
                <ns4:ea typeface="Arial"/>
                <ns4:cs typeface="Arial"/>
              </ns4:rPr>
              <ns4:t>Can we recover</ns4:t>
            </ns4:r>
          </ns4:p>
          <ns5:p xmlns:ns5="http://schemas.openxmlformats.org/drawingml/2006/main">
            <ns5:pPr algn="l">
              <ns5:defRPr sz="2200" b="0">
                <ns5:solidFill>
                  <ns5:srgbClr val="F4F7FA"/>
                </ns5:solidFill>
                <ns5:latin typeface="Arial"/>
                <ns5:ea typeface="Arial"/>
                <ns5:cs typeface="Arial"/>
              </ns5:defRPr>
            </ns5:pPr>
            <ns5:r>
              <ns5:rPr sz="2200" b="0">
                <ns5:solidFill>
                  <ns5:srgbClr val="F4F7FA"/>
                </ns5:solidFill>
                <ns5:latin typeface="Arial"/>
                <ns5:ea typeface="Arial"/>
                <ns5:cs typeface="Arial"/>
              </ns5:rPr>
              <ns5:t>the system?</ns5:t>
            </ns5:r>
          </ns5:p>
        </p:txBody>
      </p:sp>
      <p:sp>
        <p:nvSpPr>
          <p:cNvPr id="18" name="">
            <a:extLst xmlns:a="http://schemas.openxmlformats.org/drawingml/2006/main">
              <a:ext uri="{FF2B5EF4-FFF2-40B4-BE49-F238E27FC236}">
                <a16:creationId xmlns:a16="http://schemas.microsoft.com/office/drawing/2014/main" id="{13262338-56D5-4079-AF5D-13D306205415}"/>
              </a:ext>
            </a:extLst>
          </p:cNvPr>
          <p:cNvSpPr>
            <a:spLocks xmlns:a="http://schemas.openxmlformats.org/drawingml/2006/main" noGrp="1"/>
          </p:cNvSpPr>
          <p:nvPr/>
        </p:nvSpPr>
        <p:spPr>
          <a:xfrm xmlns:a="http://schemas.openxmlformats.org/drawingml/2006/main">
            <a:off x="838200" y="5343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6:p xmlns:ns6="http://schemas.openxmlformats.org/drawingml/2006/main">
            <ns6:pPr algn="l">
              <ns6:defRPr sz="1450" b="0">
                <ns6:solidFill>
                  <ns6:srgbClr val="ADB8C5"/>
                </ns6:solidFill>
                <ns6:latin typeface="Arial"/>
                <ns6:ea typeface="Arial"/>
                <ns6:cs typeface="Arial"/>
              </ns6:defRPr>
            </ns6:pPr>
            <ns6:r>
              <ns6:rPr sz="1450" b="0">
                <ns6:solidFill>
                  <ns6:srgbClr val="ADB8C5"/>
                </ns6:solidFill>
                <ns6:latin typeface="Arial"/>
                <ns6:ea typeface="Arial"/>
                <ns6:cs typeface="Arial"/>
              </ns6:rPr>
              <ns6:t>Illustrative overload hypothesis; motivated by the evidence, not measured by those studies.</ns6:t>
            </ns6:r>
          </ns6:p>
        </p:txBody>
      </p:sp>
      <p:sp>
        <p:nvSpPr>
          <p:cNvPr id="19" name="">
            <a:extLst xmlns:a="http://schemas.openxmlformats.org/drawingml/2006/main">
              <a:ext uri="{FF2B5EF4-FFF2-40B4-BE49-F238E27FC236}">
                <a16:creationId xmlns:a16="http://schemas.microsoft.com/office/drawing/2014/main" id="{C7E794E0-9EBF-4AA4-9202-4A3798358511}"/>
              </a:ext>
            </a:extLst>
          </p:cNvPr>
          <p:cNvSpPr>
            <a:spLocks xmlns:a="http://schemas.openxmlformats.org/drawingml/2006/main" noGrp="1"/>
          </p:cNvSpPr>
          <p:nvPr/>
        </p:nvSpPr>
        <p:spPr>
          <a:xfrm xmlns:a="http://schemas.openxmlformats.org/drawingml/2006/main" flipH="0" flipV="0">
            <a:off x="609600" y="573405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0" name="">
            <a:extLst xmlns:a="http://schemas.openxmlformats.org/drawingml/2006/main">
              <a:ext uri="{FF2B5EF4-FFF2-40B4-BE49-F238E27FC236}">
                <a16:creationId xmlns:a16="http://schemas.microsoft.com/office/drawing/2014/main" id="{DF37E198-CED7-4202-AE33-750A2A444B6E}"/>
              </a:ext>
            </a:extLst>
          </p:cNvPr>
          <p:cNvSpPr>
            <a:spLocks xmlns:a="http://schemas.openxmlformats.org/drawingml/2006/main" noGrp="1"/>
          </p:cNvSpPr>
          <p:nvPr/>
        </p:nvSpPr>
        <p:spPr>
          <a:xfrm xmlns:a="http://schemas.openxmlformats.org/drawingml/2006/main">
            <a:off x="609600" y="5905500"/>
            <a:ext cx="1064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7:p xmlns:ns7="http://schemas.openxmlformats.org/drawingml/2006/main">
            <ns7:pPr algn="l">
              <ns7:defRPr sz="2200" b="1">
                <ns7:solidFill>
                  <ns7:srgbClr val="F4F7FA"/>
                </ns7:solidFill>
                <ns7:latin typeface="Arial"/>
                <ns7:ea typeface="Arial"/>
                <ns7:cs typeface="Arial"/>
              </ns7:defRPr>
            </ns7:pPr>
            <ns7:r>
              <ns7:rPr sz="2200" b="1">
                <ns7:solidFill>
                  <ns7:srgbClr val="F4F7FA"/>
                </ns7:solidFill>
                <ns7:latin typeface="Arial"/>
                <ns7:ea typeface="Arial"/>
                <ns7:cs typeface="Arial"/>
              </ns7:rPr>
              <ns7:t>If AI cannot recover the system, the team still must.</ns7:t>
            </ns7:r>
          </ns7:p>
        </p:txBody>
      </p:sp>
    </p:spTree>
    <p:extLst>
      <p:ext uri="{BB962C8B-B14F-4D97-AF65-F5344CB8AC3E}">
        <p14:creationId xmlns:p14="http://schemas.microsoft.com/office/powerpoint/2010/main" val="326020407"/>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8193453-7990-4B7C-9819-A81F6404FA9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We Are Searching for a New</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SDLC Equilibrium</a:t>
            </a:r>
          </a:p>
        </p:txBody>
      </p:sp>
      <p:sp>
        <p:nvSpPr>
          <p:cNvPr id="2" name="">
            <a:extLst xmlns:a="http://schemas.openxmlformats.org/drawingml/2006/main">
              <a:ext uri="{FF2B5EF4-FFF2-40B4-BE49-F238E27FC236}">
                <a16:creationId xmlns:a16="http://schemas.microsoft.com/office/drawing/2014/main" id="{2A60C43F-71EC-4F45-BB95-90CF31E1B1BD}"/>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60797D8-5887-4329-8327-FB3AB5F1B2E7}"/>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087E1AF-FDA4-4946-936D-176EEFFAA147}"/>
              </a:ext>
            </a:extLst>
          </p:cNvPr>
          <p:cNvSpPr>
            <a:spLocks xmlns:a="http://schemas.openxmlformats.org/drawingml/2006/main" noGrp="1"/>
          </p:cNvSpPr>
          <p:nvPr/>
        </p:nvSpPr>
        <p:spPr>
          <a:xfrm xmlns:a="http://schemas.openxmlformats.org/drawingml/2006/main">
            <a:off x="609905"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1750" b="1">
                <ns0:solidFill>
                  <ns0:srgbClr val="28C7F7"/>
                </ns0:solidFill>
                <ns0:latin typeface="Arial"/>
                <ns0:ea typeface="Arial"/>
                <ns0:cs typeface="Arial"/>
              </ns0:defRPr>
            </ns0:pPr>
            <ns0:r>
              <ns0:rPr sz="1750" b="1">
                <ns0:solidFill>
                  <ns0:srgbClr val="28C7F7"/>
                </ns0:solidFill>
                <ns0:latin typeface="Arial"/>
                <ns0:ea typeface="Arial"/>
                <ns0:cs typeface="Arial"/>
              </ns0:rPr>
              <ns0:t>CAPABILITIES CHANGE</ns0:t>
            </ns0:r>
          </ns0:p>
        </p:txBody>
      </p:sp>
      <p:sp>
        <p:nvSpPr>
          <p:cNvPr id="5" name="">
            <a:extLst xmlns:a="http://schemas.openxmlformats.org/drawingml/2006/main">
              <a:ext uri="{FF2B5EF4-FFF2-40B4-BE49-F238E27FC236}">
                <a16:creationId xmlns:a16="http://schemas.microsoft.com/office/drawing/2014/main" id="{0FA6B746-B350-435E-B2C2-E470A18DA275}"/>
              </a:ext>
            </a:extLst>
          </p:cNvPr>
          <p:cNvSpPr>
            <a:spLocks xmlns:a="http://schemas.openxmlformats.org/drawingml/2006/main" noGrp="1"/>
          </p:cNvSpPr>
          <p:nvPr/>
        </p:nvSpPr>
        <p:spPr>
          <a:xfrm xmlns:a="http://schemas.openxmlformats.org/drawingml/2006/main">
            <a:off x="609905"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300" b="0">
                <ns4:solidFill>
                  <ns4:srgbClr val="F4F7FA"/>
                </ns4:solidFill>
                <ns4:latin typeface="Arial"/>
                <ns4:ea typeface="Arial"/>
                <ns4:cs typeface="Arial"/>
              </ns4:defRPr>
            </ns4:pPr>
            <ns4:r>
              <ns4:rPr sz="2300" b="0">
                <ns4:solidFill>
                  <ns4:srgbClr val="F4F7FA"/>
                </ns4:solidFill>
                <ns4:latin typeface="Arial"/>
                <ns4:ea typeface="Arial"/>
                <ns4:cs typeface="Arial"/>
              </ns4:rPr>
              <ns4:t>Generation</ns4:t>
            </ns4:r>
          </ns4:p>
          <ns5:p xmlns:ns5="http://schemas.openxmlformats.org/drawingml/2006/main">
            <ns5:pPr algn="l">
              <ns5:defRPr sz="2300" b="0">
                <ns5:solidFill>
                  <ns5:srgbClr val="F4F7FA"/>
                </ns5:solidFill>
                <ns5:latin typeface="Arial"/>
                <ns5:ea typeface="Arial"/>
                <ns5:cs typeface="Arial"/>
              </ns5:defRPr>
            </ns5:pPr>
            <ns5:r>
              <ns5:rPr sz="2300" b="0">
                <ns5:solidFill>
                  <ns5:srgbClr val="F4F7FA"/>
                </ns5:solidFill>
                <ns5:latin typeface="Arial"/>
                <ns5:ea typeface="Arial"/>
                <ns5:cs typeface="Arial"/>
              </ns5:rPr>
              <ns5:t>Review</ns5:t>
            </ns5:r>
          </ns5:p>
          <ns6:p xmlns:ns6="http://schemas.openxmlformats.org/drawingml/2006/main">
            <ns6:pPr algn="l">
              <ns6:defRPr sz="2300" b="0">
                <ns6:solidFill>
                  <ns6:srgbClr val="F4F7FA"/>
                </ns6:solidFill>
                <ns6:latin typeface="Arial"/>
                <ns6:ea typeface="Arial"/>
                <ns6:cs typeface="Arial"/>
              </ns6:defRPr>
            </ns6:pPr>
            <ns6:r>
              <ns6:rPr sz="2300" b="0">
                <ns6:solidFill>
                  <ns6:srgbClr val="F4F7FA"/>
                </ns6:solidFill>
                <ns6:latin typeface="Arial"/>
                <ns6:ea typeface="Arial"/>
                <ns6:cs typeface="Arial"/>
              </ns6:rPr>
              <ns6:t>Integration</ns6:t>
            </ns6:r>
          </ns6:p>
          <ns7:p xmlns:ns7="http://schemas.openxmlformats.org/drawingml/2006/main">
            <ns7:pPr algn="l">
              <ns7:defRPr sz="2300" b="0">
                <ns7:solidFill>
                  <ns7:srgbClr val="F4F7FA"/>
                </ns7:solidFill>
                <ns7:latin typeface="Arial"/>
                <ns7:ea typeface="Arial"/>
                <ns7:cs typeface="Arial"/>
              </ns7:defRPr>
            </ns7:pPr>
            <ns7:r>
              <ns7:rPr sz="2300" b="0">
                <ns7:solidFill>
                  <ns7:srgbClr val="F4F7FA"/>
                </ns7:solidFill>
                <ns7:latin typeface="Arial"/>
                <ns7:ea typeface="Arial"/>
                <ns7:cs typeface="Arial"/>
              </ns7:rPr>
              <ns7:t>Understanding</ns7:t>
            </ns7:r>
          </ns7:p>
        </p:txBody>
      </p:sp>
      <p:sp>
        <p:nvSpPr>
          <p:cNvPr id="6" name="">
            <a:extLst xmlns:a="http://schemas.openxmlformats.org/drawingml/2006/main">
              <a:ext uri="{FF2B5EF4-FFF2-40B4-BE49-F238E27FC236}">
                <a16:creationId xmlns:a16="http://schemas.microsoft.com/office/drawing/2014/main" id="{24BE07E1-86D8-4BF0-86C5-68D0A0DD6B56}"/>
              </a:ext>
            </a:extLst>
          </p:cNvPr>
          <p:cNvSpPr>
            <a:spLocks xmlns:a="http://schemas.openxmlformats.org/drawingml/2006/main" noGrp="1"/>
          </p:cNvSpPr>
          <p:nvPr/>
        </p:nvSpPr>
        <p:spPr>
          <a:xfrm xmlns:a="http://schemas.openxmlformats.org/drawingml/2006/main">
            <a:off x="4400093"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1750" b="1">
                <ns1:solidFill>
                  <ns1:srgbClr val="28C7F7"/>
                </ns1:solidFill>
                <ns1:latin typeface="Arial"/>
                <ns1:ea typeface="Arial"/>
                <ns1:cs typeface="Arial"/>
              </ns1:defRPr>
            </ns1:pPr>
            <ns1:r>
              <ns1:rPr sz="1750" b="1">
                <ns1:solidFill>
                  <ns1:srgbClr val="28C7F7"/>
                </ns1:solidFill>
                <ns1:latin typeface="Arial"/>
                <ns1:ea typeface="Arial"/>
                <ns1:cs typeface="Arial"/>
              </ns1:rPr>
              <ns1:t>OPERATING MODEL</ns1:t>
            </ns1:r>
          </ns1:p>
          <ns2:p xmlns:ns2="http://schemas.openxmlformats.org/drawingml/2006/main">
            <ns2:pPr algn="l">
              <ns2:defRPr sz="1750" b="1">
                <ns2:solidFill>
                  <ns2:srgbClr val="28C7F7"/>
                </ns2:solidFill>
                <ns2:latin typeface="Arial"/>
                <ns2:ea typeface="Arial"/>
                <ns2:cs typeface="Arial"/>
              </ns2:defRPr>
            </ns2:pPr>
            <ns2:r>
              <ns2:rPr sz="1750" b="1">
                <ns2:solidFill>
                  <ns2:srgbClr val="28C7F7"/>
                </ns2:solidFill>
                <ns2:latin typeface="Arial"/>
                <ns2:ea typeface="Arial"/>
                <ns2:cs typeface="Arial"/>
              </ns2:rPr>
              <ns2:t>MUST ADAPT</ns2:t>
            </ns2:r>
          </ns2:p>
        </p:txBody>
      </p:sp>
      <p:sp>
        <p:nvSpPr>
          <p:cNvPr id="7" name="">
            <a:extLst xmlns:a="http://schemas.openxmlformats.org/drawingml/2006/main">
              <a:ext uri="{FF2B5EF4-FFF2-40B4-BE49-F238E27FC236}">
                <a16:creationId xmlns:a16="http://schemas.microsoft.com/office/drawing/2014/main" id="{19A85357-7E94-4543-B18D-503D912898F4}"/>
              </a:ext>
            </a:extLst>
          </p:cNvPr>
          <p:cNvSpPr>
            <a:spLocks xmlns:a="http://schemas.openxmlformats.org/drawingml/2006/main" noGrp="1"/>
          </p:cNvSpPr>
          <p:nvPr/>
        </p:nvSpPr>
        <p:spPr>
          <a:xfrm xmlns:a="http://schemas.openxmlformats.org/drawingml/2006/main">
            <a:off x="4400093"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8:p xmlns:ns8="http://schemas.openxmlformats.org/drawingml/2006/main">
            <ns8:pPr algn="l">
              <ns8:defRPr sz="2300" b="0">
                <ns8:solidFill>
                  <ns8:srgbClr val="F4F7FA"/>
                </ns8:solidFill>
                <ns8:latin typeface="Arial"/>
                <ns8:ea typeface="Arial"/>
                <ns8:cs typeface="Arial"/>
              </ns8:defRPr>
            </ns8:pPr>
            <ns8:r>
              <ns8:rPr sz="2300" b="0">
                <ns8:solidFill>
                  <ns8:srgbClr val="F4F7FA"/>
                </ns8:solidFill>
                <ns8:latin typeface="Arial"/>
                <ns8:ea typeface="Arial"/>
                <ns8:cs typeface="Arial"/>
              </ns8:rPr>
              <ns8:t>Work allocation</ns8:t>
            </ns8:r>
          </ns8:p>
          <ns9:p xmlns:ns9="http://schemas.openxmlformats.org/drawingml/2006/main">
            <ns9:pPr algn="l">
              <ns9:defRPr sz="2300" b="0">
                <ns9:solidFill>
                  <ns9:srgbClr val="F4F7FA"/>
                </ns9:solidFill>
                <ns9:latin typeface="Arial"/>
                <ns9:ea typeface="Arial"/>
                <ns9:cs typeface="Arial"/>
              </ns9:defRPr>
            </ns9:pPr>
            <ns9:r>
              <ns9:rPr sz="2300" b="0">
                <ns9:solidFill>
                  <ns9:srgbClr val="F4F7FA"/>
                </ns9:solidFill>
                <ns9:latin typeface="Arial"/>
                <ns9:ea typeface="Arial"/>
                <ns9:cs typeface="Arial"/>
              </ns9:rPr>
              <ns9:t>Ownership</ns9:t>
            </ns9:r>
          </ns9:p>
          <ns10:p xmlns:ns10="http://schemas.openxmlformats.org/drawingml/2006/main">
            <ns10:pPr algn="l">
              <ns10:defRPr sz="2300" b="0">
                <ns10:solidFill>
                  <ns10:srgbClr val="F4F7FA"/>
                </ns10:solidFill>
                <ns10:latin typeface="Arial"/>
                <ns10:ea typeface="Arial"/>
                <ns10:cs typeface="Arial"/>
              </ns10:defRPr>
            </ns10:pPr>
            <ns10:r>
              <ns10:rPr sz="2300" b="0">
                <ns10:solidFill>
                  <ns10:srgbClr val="F4F7FA"/>
                </ns10:solidFill>
                <ns10:latin typeface="Arial"/>
                <ns10:ea typeface="Arial"/>
                <ns10:cs typeface="Arial"/>
              </ns10:rPr>
              <ns10:t>Learning</ns10:t>
            </ns10:r>
          </ns10:p>
          <ns11:p xmlns:ns11="http://schemas.openxmlformats.org/drawingml/2006/main">
            <ns11:pPr algn="l">
              <ns11:defRPr sz="2300" b="0">
                <ns11:solidFill>
                  <ns11:srgbClr val="F4F7FA"/>
                </ns11:solidFill>
                <ns11:latin typeface="Arial"/>
                <ns11:ea typeface="Arial"/>
                <ns11:cs typeface="Arial"/>
              </ns11:defRPr>
            </ns11:pPr>
            <ns11:r>
              <ns11:rPr sz="2300" b="0">
                <ns11:solidFill>
                  <ns11:srgbClr val="F4F7FA"/>
                </ns11:solidFill>
                <ns11:latin typeface="Arial"/>
                <ns11:ea typeface="Arial"/>
                <ns11:cs typeface="Arial"/>
              </ns11:rPr>
              <ns11:t>Feedback</ns11:t>
            </ns11:r>
          </ns11:p>
        </p:txBody>
      </p:sp>
      <p:sp>
        <p:nvSpPr>
          <p:cNvPr id="8" name="">
            <a:extLst xmlns:a="http://schemas.openxmlformats.org/drawingml/2006/main">
              <a:ext uri="{FF2B5EF4-FFF2-40B4-BE49-F238E27FC236}">
                <a16:creationId xmlns:a16="http://schemas.microsoft.com/office/drawing/2014/main" id="{7AD3A518-7691-49EA-82AC-BCC21D393751}"/>
              </a:ext>
            </a:extLst>
          </p:cNvPr>
          <p:cNvSpPr>
            <a:spLocks xmlns:a="http://schemas.openxmlformats.org/drawingml/2006/main" noGrp="1"/>
          </p:cNvSpPr>
          <p:nvPr/>
        </p:nvSpPr>
        <p:spPr>
          <a:xfrm xmlns:a="http://schemas.openxmlformats.org/drawingml/2006/main">
            <a:off x="8191195" y="1810512"/>
            <a:ext cx="3390595"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750" b="1">
                <ns3:solidFill>
                  <ns3:srgbClr val="F5B61C"/>
                </ns3:solidFill>
                <ns3:latin typeface="Arial"/>
                <ns3:ea typeface="Arial"/>
                <ns3:cs typeface="Arial"/>
              </ns3:defRPr>
            </ns3:pPr>
            <ns3:r>
              <ns3:rPr sz="1750" b="1">
                <ns3:solidFill>
                  <ns3:srgbClr val="F5B61C"/>
                </ns3:solidFill>
                <ns3:latin typeface="Arial"/>
                <ns3:ea typeface="Arial"/>
                <ns3:cs typeface="Arial"/>
              </ns3:rPr>
              <ns3:t>WORKING HYPOTHESES</ns3:t>
            </ns3:r>
          </ns3:p>
        </p:txBody>
      </p:sp>
      <p:sp>
        <p:nvSpPr>
          <p:cNvPr id="9" name="">
            <a:extLst xmlns:a="http://schemas.openxmlformats.org/drawingml/2006/main">
              <a:ext uri="{FF2B5EF4-FFF2-40B4-BE49-F238E27FC236}">
                <a16:creationId xmlns:a16="http://schemas.microsoft.com/office/drawing/2014/main" id="{262DC350-232B-499C-AC14-E584FEF80CB0}"/>
              </a:ext>
            </a:extLst>
          </p:cNvPr>
          <p:cNvSpPr>
            <a:spLocks xmlns:a="http://schemas.openxmlformats.org/drawingml/2006/main" noGrp="1"/>
          </p:cNvSpPr>
          <p:nvPr/>
        </p:nvSpPr>
        <p:spPr>
          <a:xfrm xmlns:a="http://schemas.openxmlformats.org/drawingml/2006/main">
            <a:off x="8191195" y="2606040"/>
            <a:ext cx="3390595" cy="242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2:p xmlns:ns12="http://schemas.openxmlformats.org/drawingml/2006/main">
            <ns12:pPr algn="l">
              <ns12:defRPr sz="2000" b="0">
                <ns12:solidFill>
                  <ns12:srgbClr val="F4F7FA"/>
                </ns12:solidFill>
                <ns12:latin typeface="Arial"/>
                <ns12:ea typeface="Arial"/>
                <ns12:cs typeface="Arial"/>
              </ns12:defRPr>
            </ns12:pPr>
            <ns12:r>
              <ns12:rPr sz="2000" b="0">
                <ns12:solidFill>
                  <ns12:srgbClr val="F4F7FA"/>
                </ns12:solidFill>
                <ns12:latin typeface="Arial"/>
                <ns12:ea typeface="Arial"/>
                <ns12:cs typeface="Arial"/>
              </ns12:rPr>
              <ns12:t>Which constraint does this address?</ns12:t>
            </ns12:r>
          </ns12:p>
          <ns13:p xmlns:ns13="http://schemas.openxmlformats.org/drawingml/2006/main">
            <ns13:pPr algn="l">
              <ns13:defRPr sz="2000" b="0">
                <ns13:solidFill>
                  <ns13:srgbClr val="F4F7FA"/>
                </ns13:solidFill>
                <ns13:latin typeface="Arial"/>
                <ns13:ea typeface="Arial"/>
                <ns13:cs typeface="Arial"/>
              </ns13:defRPr>
            </ns13:pPr>
            <ns13:r>
              <ns13:rPr sz="2000" b="0">
                <ns13:solidFill>
                  <ns13:srgbClr val="F4F7FA"/>
                </ns13:solidFill>
                <ns13:latin typeface="Arial"/>
                <ns13:ea typeface="Arial"/>
                <ns13:cs typeface="Arial"/>
              </ns13:rPr>
              <ns13:t>What must be true for it to work?</ns13:t>
            </ns13:r>
          </ns13:p>
          <ns14:p xmlns:ns14="http://schemas.openxmlformats.org/drawingml/2006/main">
            <ns14:pPr algn="l">
              <ns14:defRPr sz="2000" b="0">
                <ns14:solidFill>
                  <ns14:srgbClr val="F4F7FA"/>
                </ns14:solidFill>
                <ns14:latin typeface="Arial"/>
                <ns14:ea typeface="Arial"/>
                <ns14:cs typeface="Arial"/>
              </ns14:defRPr>
            </ns14:pPr>
            <ns14:r>
              <ns14:rPr sz="2000" b="0">
                <ns14:solidFill>
                  <ns14:srgbClr val="F4F7FA"/>
                </ns14:solidFill>
                <ns14:latin typeface="Arial"/>
                <ns14:ea typeface="Arial"/>
                <ns14:cs typeface="Arial"/>
              </ns14:rPr>
              <ns14:t>What would make us revise it?</ns14:t>
            </ns14:r>
          </ns14:p>
        </p:txBody>
      </p:sp>
      <p:sp>
        <p:nvSpPr>
          <p:cNvPr id="10" name="">
            <a:extLst xmlns:a="http://schemas.openxmlformats.org/drawingml/2006/main">
              <a:ext uri="{FF2B5EF4-FFF2-40B4-BE49-F238E27FC236}">
                <a16:creationId xmlns:a16="http://schemas.microsoft.com/office/drawing/2014/main" id="{7DBB225B-43CD-4ECE-B131-901C9959417B}"/>
              </a:ext>
            </a:extLst>
          </p:cNvPr>
          <p:cNvSpPr>
            <a:spLocks xmlns:a="http://schemas.openxmlformats.org/drawingml/2006/main" noGrp="1"/>
          </p:cNvSpPr>
          <p:nvPr/>
        </p:nvSpPr>
        <p:spPr>
          <a:xfrm xmlns:a="http://schemas.openxmlformats.org/drawingml/2006/main" flipH="0" flipV="0">
            <a:off x="609905" y="5285232"/>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539146E0-32BA-4F6A-8A42-55CD9861B301}"/>
              </a:ext>
            </a:extLst>
          </p:cNvPr>
          <p:cNvSpPr>
            <a:spLocks xmlns:a="http://schemas.openxmlformats.org/drawingml/2006/main" noGrp="1"/>
          </p:cNvSpPr>
          <p:nvPr/>
        </p:nvSpPr>
        <p:spPr>
          <a:xfrm xmlns:a="http://schemas.openxmlformats.org/drawingml/2006/main">
            <a:off x="609905" y="5486400"/>
            <a:ext cx="109728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5:p xmlns:ns15="http://schemas.openxmlformats.org/drawingml/2006/main">
            <ns15:pPr algn="l">
              <ns15:defRPr sz="2300" b="1">
                <ns15:solidFill>
                  <ns15:srgbClr val="F4F7FA"/>
                </ns15:solidFill>
                <ns15:latin typeface="Arial"/>
                <ns15:ea typeface="Arial"/>
                <ns15:cs typeface="Arial"/>
              </ns15:defRPr>
            </ns15:pPr>
            <ns15:r>
              <ns15:rPr sz="2300" b="1">
                <ns15:solidFill>
                  <ns15:srgbClr val="F4F7FA"/>
                </ns15:solidFill>
                <ns15:latin typeface="Arial"/>
                <ns15:ea typeface="Arial"/>
                <ns15:cs typeface="Arial"/>
              </ns15:rPr>
              <ns15:t>Test delivery, quality, full cost and team health.</ns15:t>
            </ns15:r>
          </ns15:p>
        </p:txBody>
      </p:sp>
      <p:sp>
        <p:nvSpPr>
          <p:cNvPr id="31" name="">
            <a:extLst xmlns:a="http://schemas.openxmlformats.org/drawingml/2006/main">
              <a:ext uri="{FF2B5EF4-FFF2-40B4-BE49-F238E27FC236}">
                <a16:creationId xmlns:a16="http://schemas.microsoft.com/office/drawing/2014/main" id="{256FD84E-5225-40F3-8B96-A707D85C24E4}"/>
              </a:ext>
            </a:extLst>
          </p:cNvPr>
          <p:cNvSpPr>
            <a:spLocks xmlns:a="http://schemas.openxmlformats.org/drawingml/2006/main" noGrp="1"/>
          </p:cNvSpPr>
          <p:nvPr/>
        </p:nvSpPr>
        <p:spPr>
          <a:xfrm xmlns:a="http://schemas.openxmlformats.org/drawingml/2006/main">
            <a:off x="609905" y="6126480"/>
            <a:ext cx="1060704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6:p xmlns:ns16="http://schemas.openxmlformats.org/drawingml/2006/main">
            <ns16:pPr algn="l">
              <ns16:defRPr sz="1800" b="0">
                <ns16:solidFill>
                  <ns16:srgbClr val="ADB8C5"/>
                </ns16:solidFill>
                <ns16:latin typeface="Arial"/>
                <ns16:ea typeface="Arial"/>
                <ns16:cs typeface="Arial"/>
              </ns16:defRPr>
            </ns16:pPr>
            <ns16:r>
              <ns16:rPr sz="1800" b="0">
                <ns16:solidFill>
                  <ns16:srgbClr val="ADB8C5"/>
                </ns16:solidFill>
                <ns16:latin typeface="Arial"/>
                <ns16:ea typeface="Arial"/>
                <ns16:cs typeface="Arial"/>
              </ns16:rPr>
              <ns16:t>Proposed operating models remain hypotheses about this context.</ns16:t>
            </ns16:r>
          </ns16:p>
        </p:txBody>
      </p:sp>
      <p:cxnSp>
        <p:nvCxnSpPr>
          <p:cNvPr id="70" name="DevCon R2 70"/>
          <p:cNvCxnSpPr/>
          <p:nvPr/>
        </p:nvCxnSpPr>
        <p:spPr>
          <a:xfrm xmlns:a="http://schemas.openxmlformats.org/drawingml/2006/main">
            <a:off x="4023360" y="3749040"/>
            <a:ext cx="274320" cy="0"/>
          </a:xfrm>
          <a:prstGeom xmlns:a="http://schemas.openxmlformats.org/drawingml/2006/main" prst="straightConnector1">
            <a:avLst/>
          </a:prstGeom>
          <a:ln xmlns:a="http://schemas.openxmlformats.org/drawingml/2006/main" w="19050">
            <a:solidFill>
              <a:srgbClr val="28C7F7"/>
            </a:solidFill>
            <a:prstDash val="solid"/>
            <a:tailEnd type="triangle" w="sm" len="sm"/>
          </a:ln>
        </p:spPr>
      </p:cxnSp>
      <p:cxnSp>
        <p:nvCxnSpPr>
          <p:cNvPr id="71" name="DevCon R2 71"/>
          <p:cNvCxnSpPr/>
          <p:nvPr/>
        </p:nvCxnSpPr>
        <p:spPr>
          <a:xfrm xmlns:a="http://schemas.openxmlformats.org/drawingml/2006/main">
            <a:off x="7818120" y="3749040"/>
            <a:ext cx="274320" cy="0"/>
          </a:xfrm>
          <a:prstGeom xmlns:a="http://schemas.openxmlformats.org/drawingml/2006/main" prst="straightConnector1">
            <a:avLst/>
          </a:prstGeom>
          <a:ln xmlns:a="http://schemas.openxmlformats.org/drawingml/2006/main" w="19050">
            <a:solidFill>
              <a:srgbClr val="F5B61C"/>
            </a:solidFill>
            <a:prstDash val="solid"/>
            <a:tailEnd type="triangle" w="sm" len="sm"/>
          </a:ln>
        </p:spPr>
      </p:cxnSp>
    </p:spTree>
    <p:extLst>
      <p:ext uri="{BB962C8B-B14F-4D97-AF65-F5344CB8AC3E}">
        <p14:creationId xmlns:p14="http://schemas.microsoft.com/office/powerpoint/2010/main" val="1686489309"/>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13142D7-0D47-4C16-A2B0-6D48E01A688F}"/>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3000" b="1">
                <ns0:solidFill>
                  <ns0:srgbClr val="F4F7FA"/>
                </ns0:solidFill>
                <ns0:latin typeface="Arial"/>
                <ns0:ea typeface="Arial"/>
                <ns0:cs typeface="Arial"/>
              </ns0:defRPr>
            </ns0:pPr>
            <ns0:r>
              <ns0:rPr sz="3000" b="1">
                <ns0:solidFill>
                  <ns0:srgbClr val="F4F7FA"/>
                </ns0:solidFill>
                <ns0:latin typeface="Arial"/>
                <ns0:ea typeface="Arial"/>
                <ns0:cs typeface="Arial"/>
              </ns0:rPr>
              <ns0:t>When Software Starts Thinking</ns0:t>
            </ns0:r>
          </ns0:p>
        </p:txBody>
      </p:sp>
      <p:sp>
        <p:nvSpPr>
          <p:cNvPr id="2" name="">
            <a:extLst xmlns:a="http://schemas.openxmlformats.org/drawingml/2006/main">
              <a:ext uri="{FF2B5EF4-FFF2-40B4-BE49-F238E27FC236}">
                <a16:creationId xmlns:a16="http://schemas.microsoft.com/office/drawing/2014/main" id="{40570848-A269-43BD-9274-8A86C6CF0DDA}"/>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D1A5C5D8-5C54-4BC9-927B-10E60C879394}"/>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2D13C8A-2AA9-4647-95ED-96682A5022D8}"/>
              </a:ext>
            </a:extLst>
          </p:cNvPr>
          <p:cNvSpPr>
            <a:spLocks xmlns:a="http://schemas.openxmlformats.org/drawingml/2006/main" noGrp="1"/>
          </p:cNvSpPr>
          <p:nvPr/>
        </p:nvSpPr>
        <p:spPr>
          <a:xfrm xmlns:a="http://schemas.openxmlformats.org/drawingml/2006/main">
            <a:off x="609905" y="1719072"/>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100" b="1">
                <ns1:solidFill>
                  <ns1:srgbClr val="F4F7FA"/>
                </ns1:solidFill>
                <ns1:latin typeface="Arial"/>
                <ns1:ea typeface="Arial"/>
                <ns1:cs typeface="Arial"/>
              </ns1:defRPr>
            </ns1:pPr>
            <ns1:r>
              <ns1:rPr sz="2100" b="1">
                <ns1:solidFill>
                  <ns1:srgbClr val="F4F7FA"/>
                </ns1:solidFill>
                <ns1:latin typeface="Arial"/>
                <ns1:ea typeface="Arial"/>
                <ns1:cs typeface="Arial"/>
              </ns1:rPr>
              <ns1:t>A system where consequential runtime responsibility</ns1:t>
            </ns1:r>
          </ns1:p>
          <ns2:p xmlns:ns2="http://schemas.openxmlformats.org/drawingml/2006/main">
            <ns2:pPr algn="l">
              <ns2:defRPr sz="2100" b="1">
                <ns2:solidFill>
                  <ns2:srgbClr val="F4F7FA"/>
                </ns2:solidFill>
                <ns2:latin typeface="Arial"/>
                <ns2:ea typeface="Arial"/>
                <ns2:cs typeface="Arial"/>
              </ns2:defRPr>
            </ns2:pPr>
            <ns2:r>
              <ns2:rPr sz="2100" b="1">
                <ns2:solidFill>
                  <ns2:srgbClr val="F4F7FA"/>
                </ns2:solidFill>
                <ns2:latin typeface="Arial"/>
                <ns2:ea typeface="Arial"/>
                <ns2:cs typeface="Arial"/>
              </ns2:rPr>
              <ns2:t>partly depends on probabilistic Model Judgment.</ns2:t>
            </ns2:r>
          </ns2:p>
        </p:txBody>
      </p:sp>
      <p:sp>
        <p:nvSpPr>
          <p:cNvPr id="6" name="">
            <a:extLst xmlns:a="http://schemas.openxmlformats.org/drawingml/2006/main">
              <a:ext uri="{FF2B5EF4-FFF2-40B4-BE49-F238E27FC236}">
                <a16:creationId xmlns:a16="http://schemas.microsoft.com/office/drawing/2014/main" id="{596D99EA-8648-4D63-8A5E-BB1313B8B473}"/>
              </a:ext>
            </a:extLst>
          </p:cNvPr>
          <p:cNvSpPr>
            <a:spLocks xmlns:a="http://schemas.openxmlformats.org/drawingml/2006/main" noGrp="1"/>
          </p:cNvSpPr>
          <p:nvPr/>
        </p:nvSpPr>
        <p:spPr>
          <a:xfrm xmlns:a="http://schemas.openxmlformats.org/drawingml/2006/main">
            <a:off x="609905" y="2724912"/>
            <a:ext cx="40233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1800" b="1">
                <ns3:solidFill>
                  <ns3:srgbClr val="28C7F7"/>
                </ns3:solidFill>
                <ns3:latin typeface="Arial"/>
                <ns3:ea typeface="Arial"/>
                <ns3:cs typeface="Arial"/>
              </ns3:defRPr>
            </ns3:pPr>
            <ns3:r>
              <ns3:rPr sz="1800" b="1">
                <ns3:solidFill>
                  <ns3:srgbClr val="28C7F7"/>
                </ns3:solidFill>
                <ns3:latin typeface="Arial"/>
                <ns3:ea typeface="Arial"/>
                <ns3:cs typeface="Arial"/>
              </ns3:rPr>
              <ns3:t>IT ASSISTANT</ns3:t>
            </ns3:r>
          </ns3:p>
        </p:txBody>
      </p:sp>
      <p:sp>
        <p:nvSpPr>
          <p:cNvPr id="16" name="">
            <a:extLst xmlns:a="http://schemas.openxmlformats.org/drawingml/2006/main">
              <a:ext uri="{FF2B5EF4-FFF2-40B4-BE49-F238E27FC236}">
                <a16:creationId xmlns:a16="http://schemas.microsoft.com/office/drawing/2014/main" id="{FEB487ED-9528-4DBD-901A-690D23294583}"/>
              </a:ext>
            </a:extLst>
          </p:cNvPr>
          <p:cNvSpPr>
            <a:spLocks xmlns:a="http://schemas.openxmlformats.org/drawingml/2006/main" noGrp="1"/>
          </p:cNvSpPr>
          <p:nvPr/>
        </p:nvSpPr>
        <p:spPr>
          <a:xfrm xmlns:a="http://schemas.openxmlformats.org/drawingml/2006/main">
            <a:off x="609905" y="3182112"/>
            <a:ext cx="4023360" cy="1051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700" b="0">
                <ns4:solidFill>
                  <ns4:srgbClr val="F4F7FA"/>
                </ns4:solidFill>
                <ns4:latin typeface="Arial"/>
                <ns4:ea typeface="Arial"/>
                <ns4:cs typeface="Arial"/>
              </ns4:defRPr>
            </ns4:pPr>
            <ns4:r>
              <ns4:rPr sz="2700" b="0">
                <ns4:solidFill>
                  <ns4:srgbClr val="F4F7FA"/>
                </ns4:solidFill>
                <ns4:latin typeface="Arial"/>
                <ns4:ea typeface="Arial"/>
                <ns4:cs typeface="Arial"/>
              </ns4:rPr>
              <ns4:t>“Help employees</ns4:t>
            </ns4:r>
          </ns4:p>
          <ns5:p xmlns:ns5="http://schemas.openxmlformats.org/drawingml/2006/main">
            <ns5:pPr algn="l">
              <ns5:defRPr sz="2700" b="0">
                <ns5:solidFill>
                  <ns5:srgbClr val="F4F7FA"/>
                </ns5:solidFill>
                <ns5:latin typeface="Arial"/>
                <ns5:ea typeface="Arial"/>
                <ns5:cs typeface="Arial"/>
              </ns5:defRPr>
            </ns5:pPr>
            <ns5:r>
              <ns5:rPr sz="2700" b="0">
                <ns5:solidFill>
                  <ns5:srgbClr val="F4F7FA"/>
                </ns5:solidFill>
                <ns5:latin typeface="Arial"/>
                <ns5:ea typeface="Arial"/>
                <ns5:cs typeface="Arial"/>
              </ns5:rPr>
              <ns5:t>recover access.”</ns5:t>
            </ns5:r>
          </ns5:p>
        </p:txBody>
      </p:sp>
      <p:sp>
        <p:nvSpPr>
          <p:cNvPr id="17" name="">
            <a:extLst xmlns:a="http://schemas.openxmlformats.org/drawingml/2006/main">
              <a:ext uri="{FF2B5EF4-FFF2-40B4-BE49-F238E27FC236}">
                <a16:creationId xmlns:a16="http://schemas.microsoft.com/office/drawing/2014/main" id="{1F7534AE-8779-41FE-840F-C6218BB5D250}"/>
              </a:ext>
            </a:extLst>
          </p:cNvPr>
          <p:cNvSpPr>
            <a:spLocks xmlns:a="http://schemas.openxmlformats.org/drawingml/2006/main" noGrp="1"/>
          </p:cNvSpPr>
          <p:nvPr/>
        </p:nvSpPr>
        <p:spPr>
          <a:xfrm xmlns:a="http://schemas.openxmlformats.org/drawingml/2006/main">
            <a:off x="609905" y="4416552"/>
            <a:ext cx="4206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6:p xmlns:ns6="http://schemas.openxmlformats.org/drawingml/2006/main">
            <ns6:pPr algn="l">
              <ns6:defRPr sz="2100" b="0">
                <ns6:solidFill>
                  <ns6:srgbClr val="ADB8C5"/>
                </ns6:solidFill>
                <ns6:latin typeface="Arial"/>
                <ns6:ea typeface="Arial"/>
                <ns6:cs typeface="Arial"/>
              </ns6:defRPr>
            </ns6:pPr>
            <ns6:r>
              <ns6:rPr sz="2100" b="0">
                <ns6:solidFill>
                  <ns6:srgbClr val="ADB8C5"/>
                </ns6:solidFill>
                <ns6:latin typeface="Arial"/>
                <ns6:ea typeface="Arial"/>
                <ns6:cs typeface="Arial"/>
              </ns6:rPr>
              <ns6:t>Approved guidance</ns6:t>
            </ns6:r>
          </ns6:p>
          <ns7:p xmlns:ns7="http://schemas.openxmlformats.org/drawingml/2006/main">
            <ns7:pPr algn="l">
              <ns7:defRPr sz="2100" b="0">
                <ns7:solidFill>
                  <ns7:srgbClr val="ADB8C5"/>
                </ns7:solidFill>
                <ns7:latin typeface="Arial"/>
                <ns7:ea typeface="Arial"/>
                <ns7:cs typeface="Arial"/>
              </ns7:defRPr>
            </ns7:pPr>
            <ns7:r>
              <ns7:rPr sz="2100" b="0">
                <ns7:solidFill>
                  <ns7:srgbClr val="ADB8C5"/>
                </ns7:solidFill>
                <ns7:latin typeface="Arial"/>
                <ns7:ea typeface="Arial"/>
                <ns7:cs typeface="Arial"/>
              </ns7:rPr>
              <ns7:t>and permitted actions</ns7:t>
            </ns7:r>
          </ns7:p>
        </p:txBody>
      </p:sp>
      <p:sp>
        <p:nvSpPr>
          <p:cNvPr id="19" name="">
            <a:extLst xmlns:a="http://schemas.openxmlformats.org/drawingml/2006/main">
              <a:ext uri="{FF2B5EF4-FFF2-40B4-BE49-F238E27FC236}">
                <a16:creationId xmlns:a16="http://schemas.microsoft.com/office/drawing/2014/main" id="{BB6F9419-C26B-4138-BA9D-E6644D5C0749}"/>
              </a:ext>
            </a:extLst>
          </p:cNvPr>
          <p:cNvSpPr>
            <a:spLocks xmlns:a="http://schemas.openxmlformats.org/drawingml/2006/main" noGrp="1"/>
          </p:cNvSpPr>
          <p:nvPr/>
        </p:nvSpPr>
        <p:spPr>
          <a:xfrm xmlns:a="http://schemas.openxmlformats.org/drawingml/2006/main">
            <a:off x="5305349" y="2724912"/>
            <a:ext cx="62773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8:p xmlns:ns8="http://schemas.openxmlformats.org/drawingml/2006/main">
            <ns8:pPr algn="l">
              <ns8:defRPr sz="1650" b="0">
                <ns8:solidFill>
                  <ns8:srgbClr val="F4F7FA"/>
                </ns8:solidFill>
                <ns8:latin typeface="Arial"/>
                <ns8:ea typeface="Arial"/>
                <ns8:cs typeface="Arial"/>
              </ns8:defRPr>
            </ns8:pPr>
            <ns8:r>
              <ns8:rPr sz="1650" b="0">
                <ns8:solidFill>
                  <ns8:srgbClr val="F4F7FA"/>
                </ns8:solidFill>
                <ns8:latin typeface="Arial"/>
                <ns8:ea typeface="Arial"/>
                <ns8:cs typeface="Arial"/>
              </ns8:rPr>
              <ns8:t>Intents · Context · Data · Permissions</ns8:t>
            </ns8:r>
          </ns8:p>
        </p:txBody>
      </p:sp>
      <p:sp>
        <p:nvSpPr>
          <p:cNvPr id="20" name="">
            <a:extLst xmlns:a="http://schemas.openxmlformats.org/drawingml/2006/main">
              <a:ext uri="{FF2B5EF4-FFF2-40B4-BE49-F238E27FC236}">
                <a16:creationId xmlns:a16="http://schemas.microsoft.com/office/drawing/2014/main" id="{3CB91018-0635-46B8-BF0E-390F84092954}"/>
              </a:ext>
            </a:extLst>
          </p:cNvPr>
          <p:cNvSpPr>
            <a:spLocks xmlns:a="http://schemas.openxmlformats.org/drawingml/2006/main" noGrp="1"/>
          </p:cNvSpPr>
          <p:nvPr/>
        </p:nvSpPr>
        <p:spPr>
          <a:xfrm xmlns:a="http://schemas.openxmlformats.org/drawingml/2006/main" flipH="0" flipV="0">
            <a:off x="5305425" y="3698748"/>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1" name="">
            <a:extLst xmlns:a="http://schemas.openxmlformats.org/drawingml/2006/main">
              <a:ext uri="{FF2B5EF4-FFF2-40B4-BE49-F238E27FC236}">
                <a16:creationId xmlns:a16="http://schemas.microsoft.com/office/drawing/2014/main" id="{610C1865-D9F6-4585-AD2D-57A56ED83D14}"/>
              </a:ext>
            </a:extLst>
          </p:cNvPr>
          <p:cNvSpPr>
            <a:spLocks xmlns:a="http://schemas.openxmlformats.org/drawingml/2006/main" noGrp="1"/>
          </p:cNvSpPr>
          <p:nvPr/>
        </p:nvSpPr>
        <p:spPr>
          <a:xfrm xmlns:a="http://schemas.openxmlformats.org/drawingml/2006/main" flipH="0" flipV="0">
            <a:off x="5305425" y="4032123"/>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2" name="">
            <a:extLst xmlns:a="http://schemas.openxmlformats.org/drawingml/2006/main">
              <a:ext uri="{FF2B5EF4-FFF2-40B4-BE49-F238E27FC236}">
                <a16:creationId xmlns:a16="http://schemas.microsoft.com/office/drawing/2014/main" id="{298DF2B7-C07D-42E7-8014-5C9D6EEB0B61}"/>
              </a:ext>
            </a:extLst>
          </p:cNvPr>
          <p:cNvSpPr>
            <a:spLocks xmlns:a="http://schemas.openxmlformats.org/drawingml/2006/main" noGrp="1"/>
          </p:cNvSpPr>
          <p:nvPr/>
        </p:nvSpPr>
        <p:spPr>
          <a:xfrm xmlns:a="http://schemas.openxmlformats.org/drawingml/2006/main" flipH="0" flipV="0">
            <a:off x="5305425" y="4365498"/>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3" name="">
            <a:extLst xmlns:a="http://schemas.openxmlformats.org/drawingml/2006/main">
              <a:ext uri="{FF2B5EF4-FFF2-40B4-BE49-F238E27FC236}">
                <a16:creationId xmlns:a16="http://schemas.microsoft.com/office/drawing/2014/main" id="{D3B3268B-788A-44C9-94F1-DD565411F270}"/>
              </a:ext>
            </a:extLst>
          </p:cNvPr>
          <p:cNvSpPr>
            <a:spLocks xmlns:a="http://schemas.openxmlformats.org/drawingml/2006/main" noGrp="1"/>
          </p:cNvSpPr>
          <p:nvPr/>
        </p:nvSpPr>
        <p:spPr>
          <a:xfrm xmlns:a="http://schemas.openxmlformats.org/drawingml/2006/main" flipH="0" flipV="0">
            <a:off x="5305425" y="4698873"/>
            <a:ext cx="61722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4" name="">
            <a:extLst xmlns:a="http://schemas.openxmlformats.org/drawingml/2006/main">
              <a:ext uri="{FF2B5EF4-FFF2-40B4-BE49-F238E27FC236}">
                <a16:creationId xmlns:a16="http://schemas.microsoft.com/office/drawing/2014/main" id="{2AC5018C-62C3-48AB-A532-6F3DEA693D63}"/>
              </a:ext>
            </a:extLst>
          </p:cNvPr>
          <p:cNvSpPr>
            <a:spLocks xmlns:a="http://schemas.openxmlformats.org/drawingml/2006/main" noGrp="1"/>
          </p:cNvSpPr>
          <p:nvPr/>
        </p:nvSpPr>
        <p:spPr>
          <a:xfrm xmlns:a="http://schemas.openxmlformats.org/drawingml/2006/main" flipH="0" flipV="1">
            <a:off x="53054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5" name="">
            <a:extLst xmlns:a="http://schemas.openxmlformats.org/drawingml/2006/main">
              <a:ext uri="{FF2B5EF4-FFF2-40B4-BE49-F238E27FC236}">
                <a16:creationId xmlns:a16="http://schemas.microsoft.com/office/drawing/2014/main" id="{02388104-2CB3-494E-ABD0-7E73F2D532C4}"/>
              </a:ext>
            </a:extLst>
          </p:cNvPr>
          <p:cNvSpPr>
            <a:spLocks xmlns:a="http://schemas.openxmlformats.org/drawingml/2006/main" noGrp="1"/>
          </p:cNvSpPr>
          <p:nvPr/>
        </p:nvSpPr>
        <p:spPr>
          <a:xfrm xmlns:a="http://schemas.openxmlformats.org/drawingml/2006/main" flipH="0" flipV="1">
            <a:off x="63531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6" name="">
            <a:extLst xmlns:a="http://schemas.openxmlformats.org/drawingml/2006/main">
              <a:ext uri="{FF2B5EF4-FFF2-40B4-BE49-F238E27FC236}">
                <a16:creationId xmlns:a16="http://schemas.microsoft.com/office/drawing/2014/main" id="{A61ED211-690F-48FB-B67D-4EA06772726F}"/>
              </a:ext>
            </a:extLst>
          </p:cNvPr>
          <p:cNvSpPr>
            <a:spLocks xmlns:a="http://schemas.openxmlformats.org/drawingml/2006/main" noGrp="1"/>
          </p:cNvSpPr>
          <p:nvPr/>
        </p:nvSpPr>
        <p:spPr>
          <a:xfrm xmlns:a="http://schemas.openxmlformats.org/drawingml/2006/main" flipH="0" flipV="1">
            <a:off x="74009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7" name="">
            <a:extLst xmlns:a="http://schemas.openxmlformats.org/drawingml/2006/main">
              <a:ext uri="{FF2B5EF4-FFF2-40B4-BE49-F238E27FC236}">
                <a16:creationId xmlns:a16="http://schemas.microsoft.com/office/drawing/2014/main" id="{97E86127-A38E-4B5D-8339-9BFE4072A2ED}"/>
              </a:ext>
            </a:extLst>
          </p:cNvPr>
          <p:cNvSpPr>
            <a:spLocks xmlns:a="http://schemas.openxmlformats.org/drawingml/2006/main" noGrp="1"/>
          </p:cNvSpPr>
          <p:nvPr/>
        </p:nvSpPr>
        <p:spPr>
          <a:xfrm xmlns:a="http://schemas.openxmlformats.org/drawingml/2006/main" flipH="0" flipV="1">
            <a:off x="84486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8" name="">
            <a:extLst xmlns:a="http://schemas.openxmlformats.org/drawingml/2006/main">
              <a:ext uri="{FF2B5EF4-FFF2-40B4-BE49-F238E27FC236}">
                <a16:creationId xmlns:a16="http://schemas.microsoft.com/office/drawing/2014/main" id="{E0126A5C-85D3-45B8-AA01-DB5CE0773A79}"/>
              </a:ext>
            </a:extLst>
          </p:cNvPr>
          <p:cNvSpPr>
            <a:spLocks xmlns:a="http://schemas.openxmlformats.org/drawingml/2006/main" noGrp="1"/>
          </p:cNvSpPr>
          <p:nvPr/>
        </p:nvSpPr>
        <p:spPr>
          <a:xfrm xmlns:a="http://schemas.openxmlformats.org/drawingml/2006/main" flipH="0" flipV="1">
            <a:off x="949642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29" name="">
            <a:extLst xmlns:a="http://schemas.openxmlformats.org/drawingml/2006/main">
              <a:ext uri="{FF2B5EF4-FFF2-40B4-BE49-F238E27FC236}">
                <a16:creationId xmlns:a16="http://schemas.microsoft.com/office/drawing/2014/main" id="{FE159F45-DB5F-47F7-BB7C-A42274DB4F72}"/>
              </a:ext>
            </a:extLst>
          </p:cNvPr>
          <p:cNvSpPr>
            <a:spLocks xmlns:a="http://schemas.openxmlformats.org/drawingml/2006/main" noGrp="1"/>
          </p:cNvSpPr>
          <p:nvPr/>
        </p:nvSpPr>
        <p:spPr>
          <a:xfrm xmlns:a="http://schemas.openxmlformats.org/drawingml/2006/main" flipH="0" flipV="1">
            <a:off x="10544175" y="3565398"/>
            <a:ext cx="457200" cy="121920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0" name="">
            <a:extLst xmlns:a="http://schemas.openxmlformats.org/drawingml/2006/main">
              <a:ext uri="{FF2B5EF4-FFF2-40B4-BE49-F238E27FC236}">
                <a16:creationId xmlns:a16="http://schemas.microsoft.com/office/drawing/2014/main" id="{3DD8BE8D-FFB9-4FCB-9129-263575DD1B9E}"/>
              </a:ext>
            </a:extLst>
          </p:cNvPr>
          <p:cNvSpPr>
            <a:spLocks xmlns:a="http://schemas.openxmlformats.org/drawingml/2006/main" noGrp="1"/>
          </p:cNvSpPr>
          <p:nvPr/>
        </p:nvSpPr>
        <p:spPr>
          <a:xfrm xmlns:a="http://schemas.openxmlformats.org/drawingml/2006/main">
            <a:off x="5810250" y="3593973"/>
            <a:ext cx="4476750" cy="1171575"/>
          </a:xfrm>
          <a:custGeom xmlns:a="http://schemas.openxmlformats.org/drawingml/2006/main">
            <a:pathLst>
              <a:path w="4476750" h="1171575">
                <a:moveTo>
                  <a:pt x="419100" y="0"/>
                </a:moveTo>
                <a:lnTo>
                  <a:pt x="4476750" y="0"/>
                </a:lnTo>
                <a:lnTo>
                  <a:pt x="4057650" y="1171575"/>
                </a:lnTo>
                <a:lnTo>
                  <a:pt x="0" y="1171575"/>
                </a:lnTo>
                <a:close/>
              </a:path>
            </a:pathLst>
          </a:custGeom>
          <a:solidFill xmlns:a="http://schemas.openxmlformats.org/drawingml/2006/main">
            <a:srgbClr val="24231B"/>
          </a:solidFill>
          <a:ln xmlns:a="http://schemas.openxmlformats.org/drawingml/2006/main" w="19050">
            <a:solidFill>
              <a:srgbClr val="F5B61C"/>
            </a:solidFill>
            <a:prstDash val="dash"/>
          </a:ln>
        </p:spPr>
      </p:sp>
      <p:sp>
        <p:nvSpPr>
          <p:cNvPr id="31" name="">
            <a:extLst xmlns:a="http://schemas.openxmlformats.org/drawingml/2006/main">
              <a:ext uri="{FF2B5EF4-FFF2-40B4-BE49-F238E27FC236}">
                <a16:creationId xmlns:a16="http://schemas.microsoft.com/office/drawing/2014/main" id="{F9F98C83-1BD6-4814-AAA2-6DAAE6C29426}"/>
              </a:ext>
            </a:extLst>
          </p:cNvPr>
          <p:cNvSpPr>
            <a:spLocks xmlns:a="http://schemas.openxmlformats.org/drawingml/2006/main" noGrp="1"/>
          </p:cNvSpPr>
          <p:nvPr/>
        </p:nvSpPr>
        <p:spPr>
          <a:xfrm xmlns:a="http://schemas.openxmlformats.org/drawingml/2006/main">
            <a:off x="6515100" y="3841623"/>
            <a:ext cx="3228975" cy="714375"/>
          </a:xfrm>
          <a:custGeom xmlns:a="http://schemas.openxmlformats.org/drawingml/2006/main">
            <a:pathLst>
              <a:path w="3228975" h="714375">
                <a:moveTo>
                  <a:pt x="219075" y="0"/>
                </a:moveTo>
                <a:lnTo>
                  <a:pt x="3228975" y="0"/>
                </a:lnTo>
                <a:lnTo>
                  <a:pt x="3009900" y="714375"/>
                </a:lnTo>
                <a:lnTo>
                  <a:pt x="0" y="714375"/>
                </a:lnTo>
                <a:close/>
              </a:path>
            </a:pathLst>
          </a:custGeom>
          <a:solidFill xmlns:a="http://schemas.openxmlformats.org/drawingml/2006/main">
            <a:srgbClr val="122934"/>
          </a:solidFill>
          <a:ln xmlns:a="http://schemas.openxmlformats.org/drawingml/2006/main" w="19050">
            <a:solidFill>
              <a:srgbClr val="28C7F7"/>
            </a:solidFill>
            <a:prstDash val="dash"/>
          </a:ln>
        </p:spPr>
      </p:sp>
      <p:sp>
        <p:nvSpPr>
          <p:cNvPr id="32" name="">
            <a:extLst xmlns:a="http://schemas.openxmlformats.org/drawingml/2006/main">
              <a:ext uri="{FF2B5EF4-FFF2-40B4-BE49-F238E27FC236}">
                <a16:creationId xmlns:a16="http://schemas.microsoft.com/office/drawing/2014/main" id="{7890D6B4-12D4-41B3-A2CD-E369DF192C42}"/>
              </a:ext>
            </a:extLst>
          </p:cNvPr>
          <p:cNvSpPr>
            <a:spLocks xmlns:a="http://schemas.openxmlformats.org/drawingml/2006/main" noGrp="1"/>
          </p:cNvSpPr>
          <p:nvPr/>
        </p:nvSpPr>
        <p:spPr>
          <a:xfrm xmlns:a="http://schemas.openxmlformats.org/drawingml/2006/main">
            <a:off x="6267450" y="3603498"/>
            <a:ext cx="3743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9:p xmlns:ns9="http://schemas.openxmlformats.org/drawingml/2006/main">
            <ns9:pPr algn="ctr">
              <ns9:defRPr sz="1250" b="0">
                <ns9:solidFill>
                  <ns9:srgbClr val="F5B61C"/>
                </ns9:solidFill>
                <ns9:latin typeface="Arial"/>
                <ns9:ea typeface="Arial"/>
                <ns9:cs typeface="Arial"/>
              </ns9:defRPr>
            </ns9:pPr>
            <ns9:r>
              <ns9:rPr sz="1250" b="0">
                <ns9:solidFill>
                  <ns9:srgbClr val="F5B61C"/>
                </ns9:solidFill>
                <ns9:latin typeface="Arial"/>
                <ns9:ea typeface="Arial"/>
                <ns9:cs typeface="Arial"/>
              </ns9:rPr>
              <ns9:t>Boundary cases need contextual judgment</ns9:t>
            </ns9:r>
          </ns9:p>
        </p:txBody>
      </p:sp>
      <p:sp>
        <p:nvSpPr>
          <p:cNvPr id="33" name="">
            <a:extLst xmlns:a="http://schemas.openxmlformats.org/drawingml/2006/main">
              <a:ext uri="{FF2B5EF4-FFF2-40B4-BE49-F238E27FC236}">
                <a16:creationId xmlns:a16="http://schemas.microsoft.com/office/drawing/2014/main" id="{F6E1B97D-6543-4543-96CD-4E3E8DA95805}"/>
              </a:ext>
            </a:extLst>
          </p:cNvPr>
          <p:cNvSpPr>
            <a:spLocks xmlns:a="http://schemas.openxmlformats.org/drawingml/2006/main" noGrp="1"/>
          </p:cNvSpPr>
          <p:nvPr/>
        </p:nvSpPr>
        <p:spPr>
          <a:xfrm xmlns:a="http://schemas.openxmlformats.org/drawingml/2006/main">
            <a:off x="6753225" y="3889248"/>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28C7F7"/>
                </a:solidFill>
                <a:latin typeface="Arial"/>
                <a:ea typeface="Arial"/>
                <a:cs typeface="Arial"/>
              </a:defRPr>
            </a:pPr>
            <a:r>
              <a:rPr sz="1425" b="1">
                <a:solidFill>
                  <a:srgbClr val="28C7F7"/>
                </a:solidFill>
                <a:latin typeface="Arial"/>
                <a:ea typeface="Arial"/>
                <a:cs typeface="Arial"/>
              </a:rPr>
              <a:t>Acceptable outputs / actions</a:t>
            </a:r>
          </a:p>
        </p:txBody>
      </p:sp>
      <p:sp>
        <p:nvSpPr>
          <p:cNvPr id="34" name="">
            <a:extLst xmlns:a="http://schemas.openxmlformats.org/drawingml/2006/main">
              <a:ext uri="{FF2B5EF4-FFF2-40B4-BE49-F238E27FC236}">
                <a16:creationId xmlns:a16="http://schemas.microsoft.com/office/drawing/2014/main" id="{BE12721F-F688-4806-8649-6115EE96A3F0}"/>
              </a:ext>
            </a:extLst>
          </p:cNvPr>
          <p:cNvSpPr>
            <a:spLocks xmlns:a="http://schemas.openxmlformats.org/drawingml/2006/main" noGrp="1"/>
          </p:cNvSpPr>
          <p:nvPr/>
        </p:nvSpPr>
        <p:spPr>
          <a:xfrm xmlns:a="http://schemas.openxmlformats.org/drawingml/2006/main">
            <a:off x="6829425"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5" name="">
            <a:extLst xmlns:a="http://schemas.openxmlformats.org/drawingml/2006/main">
              <a:ext uri="{FF2B5EF4-FFF2-40B4-BE49-F238E27FC236}">
                <a16:creationId xmlns:a16="http://schemas.microsoft.com/office/drawing/2014/main" id="{CDE4D5A8-806C-49B5-86BA-7164D7EBAC45}"/>
              </a:ext>
            </a:extLst>
          </p:cNvPr>
          <p:cNvSpPr>
            <a:spLocks xmlns:a="http://schemas.openxmlformats.org/drawingml/2006/main" noGrp="1"/>
          </p:cNvSpPr>
          <p:nvPr/>
        </p:nvSpPr>
        <p:spPr>
          <a:xfrm xmlns:a="http://schemas.openxmlformats.org/drawingml/2006/main">
            <a:off x="6905625"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0:p xmlns:ns10="http://schemas.openxmlformats.org/drawingml/2006/main">
            <ns10:pPr algn="l">
              <ns10:defRPr sz="1500" b="0">
                <ns10:solidFill>
                  <ns10:srgbClr val="F4F7FA"/>
                </ns10:solidFill>
                <ns10:latin typeface="Arial"/>
                <ns10:ea typeface="Arial"/>
                <ns10:cs typeface="Arial"/>
              </ns10:defRPr>
            </ns10:pPr>
            <ns10:r>
              <ns10:rPr sz="1500" b="0">
                <ns10:solidFill>
                  <ns10:srgbClr val="F4F7FA"/>
                </ns10:solidFill>
                <ns10:latin typeface="Arial"/>
                <ns10:ea typeface="Arial"/>
                <ns10:cs typeface="Arial"/>
              </ns10:rPr>
              <ns10:t>Answer</ns10:t>
            </ns10:r>
          </ns10:p>
        </p:txBody>
      </p:sp>
      <p:sp>
        <p:nvSpPr>
          <p:cNvPr id="36" name="">
            <a:extLst xmlns:a="http://schemas.openxmlformats.org/drawingml/2006/main">
              <a:ext uri="{FF2B5EF4-FFF2-40B4-BE49-F238E27FC236}">
                <a16:creationId xmlns:a16="http://schemas.microsoft.com/office/drawing/2014/main" id="{A154BDAE-7AEE-424F-922C-9D2A8EF79DFA}"/>
              </a:ext>
            </a:extLst>
          </p:cNvPr>
          <p:cNvSpPr>
            <a:spLocks xmlns:a="http://schemas.openxmlformats.org/drawingml/2006/main" noGrp="1"/>
          </p:cNvSpPr>
          <p:nvPr/>
        </p:nvSpPr>
        <p:spPr>
          <a:xfrm xmlns:a="http://schemas.openxmlformats.org/drawingml/2006/main">
            <a:off x="7772400"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7" name="">
            <a:extLst xmlns:a="http://schemas.openxmlformats.org/drawingml/2006/main">
              <a:ext uri="{FF2B5EF4-FFF2-40B4-BE49-F238E27FC236}">
                <a16:creationId xmlns:a16="http://schemas.microsoft.com/office/drawing/2014/main" id="{12A01D30-7680-4C06-A1E5-EC3E1D09D491}"/>
              </a:ext>
            </a:extLst>
          </p:cNvPr>
          <p:cNvSpPr>
            <a:spLocks xmlns:a="http://schemas.openxmlformats.org/drawingml/2006/main" noGrp="1"/>
          </p:cNvSpPr>
          <p:nvPr/>
        </p:nvSpPr>
        <p:spPr>
          <a:xfrm xmlns:a="http://schemas.openxmlformats.org/drawingml/2006/main">
            <a:off x="7848600"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1:p xmlns:ns11="http://schemas.openxmlformats.org/drawingml/2006/main">
            <ns11:pPr algn="l">
              <ns11:defRPr sz="1500" b="0">
                <ns11:solidFill>
                  <ns11:srgbClr val="F4F7FA"/>
                </ns11:solidFill>
                <ns11:latin typeface="Arial"/>
                <ns11:ea typeface="Arial"/>
                <ns11:cs typeface="Arial"/>
              </ns11:defRPr>
            </ns11:pPr>
            <ns11:r>
              <ns11:rPr sz="1500" b="0">
                <ns11:solidFill>
                  <ns11:srgbClr val="F4F7FA"/>
                </ns11:solidFill>
                <ns11:latin typeface="Arial"/>
                <ns11:ea typeface="Arial"/>
                <ns11:cs typeface="Arial"/>
              </ns11:rPr>
              <ns11:t>Clarify</ns11:t>
            </ns11:r>
          </ns11:p>
        </p:txBody>
      </p:sp>
      <p:sp>
        <p:nvSpPr>
          <p:cNvPr id="38" name="">
            <a:extLst xmlns:a="http://schemas.openxmlformats.org/drawingml/2006/main">
              <a:ext uri="{FF2B5EF4-FFF2-40B4-BE49-F238E27FC236}">
                <a16:creationId xmlns:a16="http://schemas.microsoft.com/office/drawing/2014/main" id="{8DAE10F2-44E0-468F-824C-199D90E454E9}"/>
              </a:ext>
            </a:extLst>
          </p:cNvPr>
          <p:cNvSpPr>
            <a:spLocks xmlns:a="http://schemas.openxmlformats.org/drawingml/2006/main" noGrp="1"/>
          </p:cNvSpPr>
          <p:nvPr/>
        </p:nvSpPr>
        <p:spPr>
          <a:xfrm xmlns:a="http://schemas.openxmlformats.org/drawingml/2006/main">
            <a:off x="8715375" y="4279773"/>
            <a:ext cx="47625" cy="47625"/>
          </a:xfrm>
          <a:prstGeom xmlns:a="http://schemas.openxmlformats.org/drawingml/2006/main" prst="rect">
            <a:avLst/>
          </a:prstGeom>
          <a:solidFill xmlns:a="http://schemas.openxmlformats.org/drawingml/2006/main">
            <a:srgbClr val="28C7F7"/>
          </a:solidFill>
          <a:ln xmlns:a="http://schemas.openxmlformats.org/drawingml/2006/main" w="0">
            <a:solidFill>
              <a:srgbClr val="28C7F7"/>
            </a:solidFill>
            <a:prstDash val="solid"/>
          </a:ln>
        </p:spPr>
      </p:sp>
      <p:sp>
        <p:nvSpPr>
          <p:cNvPr id="39" name="">
            <a:extLst xmlns:a="http://schemas.openxmlformats.org/drawingml/2006/main">
              <a:ext uri="{FF2B5EF4-FFF2-40B4-BE49-F238E27FC236}">
                <a16:creationId xmlns:a16="http://schemas.microsoft.com/office/drawing/2014/main" id="{61B14132-065F-47C8-AFD5-1167F4B4D656}"/>
              </a:ext>
            </a:extLst>
          </p:cNvPr>
          <p:cNvSpPr>
            <a:spLocks xmlns:a="http://schemas.openxmlformats.org/drawingml/2006/main" noGrp="1"/>
          </p:cNvSpPr>
          <p:nvPr/>
        </p:nvSpPr>
        <p:spPr>
          <a:xfrm xmlns:a="http://schemas.openxmlformats.org/drawingml/2006/main">
            <a:off x="8791575" y="4174998"/>
            <a:ext cx="10058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2:p xmlns:ns12="http://schemas.openxmlformats.org/drawingml/2006/main">
            <ns12:pPr algn="l">
              <ns12:defRPr sz="1500" b="0">
                <ns12:solidFill>
                  <ns12:srgbClr val="F4F7FA"/>
                </ns12:solidFill>
                <ns12:latin typeface="Arial"/>
                <ns12:ea typeface="Arial"/>
                <ns12:cs typeface="Arial"/>
              </ns12:defRPr>
            </ns12:pPr>
            <ns12:r>
              <ns12:rPr sz="1500" b="0">
                <ns12:solidFill>
                  <ns12:srgbClr val="F4F7FA"/>
                </ns12:solidFill>
                <ns12:latin typeface="Arial"/>
                <ns12:ea typeface="Arial"/>
                <ns12:cs typeface="Arial"/>
              </ns12:rPr>
              <ns12:t>Escalate</ns12:t>
            </ns12:r>
          </ns12:p>
        </p:txBody>
      </p:sp>
      <p:sp>
        <p:nvSpPr>
          <p:cNvPr id="40" name="">
            <a:extLst xmlns:a="http://schemas.openxmlformats.org/drawingml/2006/main">
              <a:ext uri="{FF2B5EF4-FFF2-40B4-BE49-F238E27FC236}">
                <a16:creationId xmlns:a16="http://schemas.microsoft.com/office/drawing/2014/main" id="{72F4F25C-4284-4B13-A879-00D248839E88}"/>
              </a:ext>
            </a:extLst>
          </p:cNvPr>
          <p:cNvSpPr>
            <a:spLocks xmlns:a="http://schemas.openxmlformats.org/drawingml/2006/main" noGrp="1"/>
          </p:cNvSpPr>
          <p:nvPr/>
        </p:nvSpPr>
        <p:spPr>
          <a:xfrm xmlns:a="http://schemas.openxmlformats.org/drawingml/2006/main">
            <a:off x="11106150" y="3889248"/>
            <a:ext cx="95250" cy="95250"/>
          </a:xfrm>
          <a:prstGeom xmlns:a="http://schemas.openxmlformats.org/drawingml/2006/main" prst="rect">
            <a:avLst/>
          </a:prstGeom>
          <a:solidFill xmlns:a="http://schemas.openxmlformats.org/drawingml/2006/main">
            <a:srgbClr val="FF6B75"/>
          </a:solidFill>
          <a:ln xmlns:a="http://schemas.openxmlformats.org/drawingml/2006/main" w="0">
            <a:solidFill>
              <a:srgbClr val="FF6B75"/>
            </a:solidFill>
            <a:prstDash val="solid"/>
          </a:ln>
        </p:spPr>
      </p:sp>
      <p:sp>
        <p:nvSpPr>
          <p:cNvPr id="41" name="">
            <a:extLst xmlns:a="http://schemas.openxmlformats.org/drawingml/2006/main">
              <a:ext uri="{FF2B5EF4-FFF2-40B4-BE49-F238E27FC236}">
                <a16:creationId xmlns:a16="http://schemas.microsoft.com/office/drawing/2014/main" id="{CD4D5F8A-EDA8-4F2D-97EB-423FD3308B9E}"/>
              </a:ext>
            </a:extLst>
          </p:cNvPr>
          <p:cNvSpPr>
            <a:spLocks xmlns:a="http://schemas.openxmlformats.org/drawingml/2006/main" noGrp="1"/>
          </p:cNvSpPr>
          <p:nvPr/>
        </p:nvSpPr>
        <p:spPr>
          <a:xfrm xmlns:a="http://schemas.openxmlformats.org/drawingml/2006/main">
            <a:off x="10268712" y="4023360"/>
            <a:ext cx="13716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3:p xmlns:ns13="http://schemas.openxmlformats.org/drawingml/2006/main">
            <ns13:pPr algn="ctr">
              <ns13:defRPr sz="1500" b="0">
                <ns13:solidFill>
                  <ns13:srgbClr val="FF6472"/>
                </ns13:solidFill>
                <ns13:latin typeface="Arial"/>
                <ns13:ea typeface="Arial"/>
                <ns13:cs typeface="Arial"/>
              </ns13:defRPr>
            </ns13:pPr>
            <ns13:r>
              <ns13:rPr sz="1500" b="0">
                <ns13:solidFill>
                  <ns13:srgbClr val="FF6472"/>
                </ns13:solidFill>
                <ns13:latin typeface="Arial"/>
                <ns13:ea typeface="Arial"/>
                <ns13:cs typeface="Arial"/>
              </ns13:rPr>
              <ns13:t>Unauthorized</ns13:t>
            </ns13:r>
          </ns13:p>
          <ns14:p xmlns:ns14="http://schemas.openxmlformats.org/drawingml/2006/main">
            <ns14:pPr algn="ctr">
              <ns14:defRPr sz="1500" b="0">
                <ns14:solidFill>
                  <ns14:srgbClr val="FF6472"/>
                </ns14:solidFill>
                <ns14:latin typeface="Arial"/>
                <ns14:ea typeface="Arial"/>
                <ns14:cs typeface="Arial"/>
              </ns14:defRPr>
            </ns14:pPr>
            <ns14:r>
              <ns14:rPr sz="1500" b="0">
                <ns14:solidFill>
                  <ns14:srgbClr val="FF6472"/>
                </ns14:solidFill>
                <ns14:latin typeface="Arial"/>
                <ns14:ea typeface="Arial"/>
                <ns14:cs typeface="Arial"/>
              </ns14:rPr>
              <ns14:t>disclosure</ns14:t>
            </ns14:r>
          </ns14:p>
        </p:txBody>
      </p:sp>
      <p:sp>
        <p:nvSpPr>
          <p:cNvPr id="42" name="">
            <a:extLst xmlns:a="http://schemas.openxmlformats.org/drawingml/2006/main">
              <a:ext uri="{FF2B5EF4-FFF2-40B4-BE49-F238E27FC236}">
                <a16:creationId xmlns:a16="http://schemas.microsoft.com/office/drawing/2014/main" id="{A148C1ED-ADED-4E6A-A461-2B7D65AA2A0A}"/>
              </a:ext>
            </a:extLst>
          </p:cNvPr>
          <p:cNvSpPr>
            <a:spLocks xmlns:a="http://schemas.openxmlformats.org/drawingml/2006/main" noGrp="1"/>
          </p:cNvSpPr>
          <p:nvPr/>
        </p:nvSpPr>
        <p:spPr>
          <a:xfrm xmlns:a="http://schemas.openxmlformats.org/drawingml/2006/main">
            <a:off x="5305349" y="4892040"/>
            <a:ext cx="62773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5:p xmlns:ns15="http://schemas.openxmlformats.org/drawingml/2006/main">
            <ns15:pPr algn="l">
              <ns15:defRPr sz="1700" b="0">
                <ns15:solidFill>
                  <ns15:srgbClr val="F5B61C"/>
                </ns15:solidFill>
                <ns15:latin typeface="Arial"/>
                <ns15:ea typeface="Arial"/>
                <ns15:cs typeface="Arial"/>
              </ns15:defRPr>
            </ns15:pPr>
            <ns15:r>
              <ns15:rPr sz="1700" b="0">
                <ns15:solidFill>
                  <ns15:srgbClr val="F5B61C"/>
                </ns15:solidFill>
                <ns15:latin typeface="Arial"/>
                <ns15:ea typeface="Arial"/>
                <ns15:cs typeface="Arial"/>
              </ns15:rPr>
              <ns15:t>Prohibited: unauthorized disclosure</ns15:t>
            </ns15:r>
          </ns15:p>
        </p:txBody>
      </p:sp>
      <p:sp>
        <p:nvSpPr>
          <p:cNvPr id="43" name="">
            <a:extLst xmlns:a="http://schemas.openxmlformats.org/drawingml/2006/main">
              <a:ext uri="{FF2B5EF4-FFF2-40B4-BE49-F238E27FC236}">
                <a16:creationId xmlns:a16="http://schemas.microsoft.com/office/drawing/2014/main" id="{4F37898C-C8B3-44D0-8C44-2568EA8C3B2F}"/>
              </a:ext>
            </a:extLst>
          </p:cNvPr>
          <p:cNvSpPr>
            <a:spLocks xmlns:a="http://schemas.openxmlformats.org/drawingml/2006/main" noGrp="1"/>
          </p:cNvSpPr>
          <p:nvPr/>
        </p:nvSpPr>
        <p:spPr>
          <a:xfrm xmlns:a="http://schemas.openxmlformats.org/drawingml/2006/main">
            <a:off x="5305349" y="5349240"/>
            <a:ext cx="62773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6:p xmlns:ns16="http://schemas.openxmlformats.org/drawingml/2006/main">
            <ns16:pPr algn="l">
              <ns16:defRPr sz="1350" b="0">
                <ns16:solidFill>
                  <ns16:srgbClr val="ADB8C5"/>
                </ns16:solidFill>
                <ns16:latin typeface="Arial"/>
                <ns16:ea typeface="Arial"/>
                <ns16:cs typeface="Arial"/>
              </ns16:defRPr>
            </ns16:pPr>
            <ns16:r>
              <ns16:rPr sz="1350" b="0">
                <ns16:solidFill>
                  <ns16:srgbClr val="ADB8C5"/>
                </ns16:solidFill>
                <ns16:latin typeface="Arial"/>
                <ns16:ea typeface="Arial"/>
                <ns16:cs typeface="Arial"/>
              </ns16:rPr>
              <ns16:t>Schematic behavioral space; limits are product-specific.</ns16:t>
            </ns16:r>
          </ns16:p>
        </p:txBody>
      </p:sp>
      <p:sp>
        <p:nvSpPr>
          <p:cNvPr id="46" name="">
            <a:extLst xmlns:a="http://schemas.openxmlformats.org/drawingml/2006/main">
              <a:ext uri="{FF2B5EF4-FFF2-40B4-BE49-F238E27FC236}">
                <a16:creationId xmlns:a16="http://schemas.microsoft.com/office/drawing/2014/main" id="{E0088C29-CDF9-4E15-A624-77A1C14C30E6}"/>
              </a:ext>
            </a:extLst>
          </p:cNvPr>
          <p:cNvSpPr>
            <a:spLocks xmlns:a="http://schemas.openxmlformats.org/drawingml/2006/main" noGrp="1"/>
          </p:cNvSpPr>
          <p:nvPr/>
        </p:nvSpPr>
        <p:spPr>
          <a:xfrm xmlns:a="http://schemas.openxmlformats.org/drawingml/2006/main">
            <a:off x="609905" y="598932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7:p xmlns:ns17="http://schemas.openxmlformats.org/drawingml/2006/main">
            <ns17:pPr algn="l">
              <ns17:defRPr sz="2100" b="1">
                <ns17:solidFill>
                  <ns17:srgbClr val="F4F7FA"/>
                </ns17:solidFill>
                <ns17:latin typeface="Arial"/>
                <ns17:ea typeface="Arial"/>
                <ns17:cs typeface="Arial"/>
              </ns17:defRPr>
            </ns17:pPr>
            <ns17:r>
              <ns17:rPr sz="2100" b="1">
                <ns17:solidFill>
                  <ns17:srgbClr val="F4F7FA"/>
                </ns17:solidFill>
                <ns17:latin typeface="Arial"/>
                <ns17:ea typeface="Arial"/>
                <ns17:cs typeface="Arial"/>
              </ns17:rPr>
              <ns17:t>Requirements define acceptable behavior and prohibited effects.</ns17:t>
            </ns17:r>
          </ns17:p>
        </p:txBody>
      </p:sp>
    </p:spTree>
    <p:extLst>
      <p:ext uri="{BB962C8B-B14F-4D97-AF65-F5344CB8AC3E}">
        <p14:creationId xmlns:p14="http://schemas.microsoft.com/office/powerpoint/2010/main" val="697095126"/>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C311F6-0BA4-4BE3-8BFD-0368004EF02D}"/>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3000" b="1">
                <ns0:solidFill>
                  <ns0:srgbClr val="F4F7FA"/>
                </ns0:solidFill>
                <ns0:latin typeface="Arial"/>
                <ns0:ea typeface="Arial"/>
                <ns0:cs typeface="Arial"/>
              </ns0:defRPr>
            </ns0:pPr>
            <ns0:r>
              <ns0:rPr sz="3000" b="1">
                <ns0:solidFill>
                  <ns0:srgbClr val="F4F7FA"/>
                </ns0:solidFill>
                <ns0:latin typeface="Arial"/>
                <ns0:ea typeface="Arial"/>
                <ns0:cs typeface="Arial"/>
              </ns0:rPr>
              <ns0:t>Delegation Changes the Sociotechnical System</ns0:t>
            </ns0:r>
          </ns0:p>
        </p:txBody>
      </p:sp>
      <p:sp>
        <p:nvSpPr>
          <p:cNvPr id="2" name="">
            <a:extLst xmlns:a="http://schemas.openxmlformats.org/drawingml/2006/main">
              <a:ext uri="{FF2B5EF4-FFF2-40B4-BE49-F238E27FC236}">
                <a16:creationId xmlns:a16="http://schemas.microsoft.com/office/drawing/2014/main" id="{0ABB76D7-AF86-4672-A7DE-07D96532901C}"/>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7980B3B9-F68D-4C71-8B4C-B4F3D65C79A5}"/>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8F8D421-0997-4034-9E75-C9B1CFEDEBAE}"/>
              </a:ext>
            </a:extLst>
          </p:cNvPr>
          <p:cNvSpPr>
            <a:spLocks xmlns:a="http://schemas.openxmlformats.org/drawingml/2006/main" noGrp="1"/>
          </p:cNvSpPr>
          <p:nvPr/>
        </p:nvSpPr>
        <p:spPr>
          <a:xfrm xmlns:a="http://schemas.openxmlformats.org/drawingml/2006/main">
            <a:off x="609905" y="1746504"/>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100" b="1">
                <ns1:solidFill>
                  <ns1:srgbClr val="F4F7FA"/>
                </ns1:solidFill>
                <ns1:latin typeface="Arial"/>
                <ns1:ea typeface="Arial"/>
                <ns1:cs typeface="Arial"/>
              </ns1:defRPr>
            </ns1:pPr>
            <ns1:r>
              <ns1:rPr sz="2100" b="1">
                <ns1:solidFill>
                  <ns1:srgbClr val="F4F7FA"/>
                </ns1:solidFill>
                <ns1:latin typeface="Arial"/>
                <ns1:ea typeface="Arial"/>
                <ns1:cs typeface="Arial"/>
              </ns1:rPr>
              <ns1:t>Evidence, authority and human capability connect both sides.</ns1:t>
            </ns1:r>
          </ns1:p>
        </p:txBody>
      </p:sp>
      <p:graphicFrame>
        <p:nvGraphicFramePr>
          <p:cNvPr id="26" name=""/>
          <p:cNvGraphicFramePr/>
          <p:nvPr/>
        </p:nvGraphicFramePr>
        <p:xfrm>
          <a:off xmlns:a="http://schemas.openxmlformats.org/drawingml/2006/main" x="609905" y="2441448"/>
          <a:ext xmlns:a="http://schemas.openxmlformats.org/drawingml/2006/main" cx="10972800" cy="2459736"/>
        </p:xfrm>
        <a:graphic xmlns:a="http://schemas.openxmlformats.org/drawingml/2006/main">
          <a:graphicData uri="http://schemas.openxmlformats.org/drawingml/2006/table">
            <a:tbl>
              <a:tblPr/>
              <a:tblGrid>
                <a:gridCol w="5486400"/>
                <a:gridCol w="5486400"/>
              </a:tblGrid>
              <a:tr h="457200">
                <a:tc>
                  <a:txBody>
                    <a:bodyPr lIns="171450" tIns="66675" rIns="171450" bIns="66675">
                      <a:noAutofit/>
                    </a:bodyPr>
                    <a:lstStyle/>
                    <a:p>
                      <a:pPr>
                        <a:defRPr sz="2100" b="1">
                          <a:solidFill>
                            <a:srgbClr val="F4F7FA"/>
                          </a:solidFill>
                          <a:latin typeface="Arial"/>
                          <a:ea typeface="Arial"/>
                          <a:cs typeface="Arial"/>
                        </a:defRPr>
                      </a:pPr>
                      <a:r>
                        <a:rPr sz="2100" b="1">
                          <a:solidFill>
                            <a:srgbClr val="F4F7FA"/>
                          </a:solidFill>
                          <a:latin typeface="Arial"/>
                          <a:ea typeface="Arial"/>
                          <a:cs typeface="Arial"/>
                        </a:rPr>
                        <a:t>HOW WE BUILD</a:t>
                      </a:r>
                    </a:p>
                  </a:txBody>
                  <a:tcPr marL="91440" marR="91440" marT="45720" marB="45720" anchor="ctr">
                    <a:solidFill>
                      <a:srgbClr val="1A2734"/>
                    </a:solidFill>
                  </a:tcPr>
                </a:tc>
                <a:tc>
                  <a:txBody>
                    <a:bodyPr lIns="171450" tIns="66675" rIns="171450" bIns="66675">
                      <a:noAutofit/>
                    </a:bodyPr>
                    <a:lstStyle/>
                    <a:p>
                      <a:pPr>
                        <a:defRPr sz="2100" b="1">
                          <a:solidFill>
                            <a:srgbClr val="28C7F7"/>
                          </a:solidFill>
                          <a:latin typeface="Arial"/>
                          <a:ea typeface="Arial"/>
                          <a:cs typeface="Arial"/>
                        </a:defRPr>
                      </a:pPr>
                      <a:r>
                        <a:rPr sz="2100" b="1">
                          <a:solidFill>
                            <a:srgbClr val="28C7F7"/>
                          </a:solidFill>
                          <a:latin typeface="Arial"/>
                          <a:ea typeface="Arial"/>
                          <a:cs typeface="Arial"/>
                        </a:rPr>
                        <a:t>WHAT WE BUILD</a:t>
                      </a:r>
                    </a:p>
                  </a:txBody>
                  <a:tcPr marL="91440" marR="91440" marT="45720" marB="45720" anchor="ctr">
                    <a:solidFill>
                      <a:srgbClr val="1A273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Review + integration capacity</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Evaluation + response capacity</a:t>
                      </a:r>
                    </a:p>
                  </a:txBody>
                  <a:tcPr marL="91440" marR="91440" marT="45720" marB="45720" anchor="ctr">
                    <a:solidFill>
                      <a:srgbClr val="0B0F1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Understanding + recovery</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Behavioral criteria + authority</a:t>
                      </a:r>
                    </a:p>
                  </a:txBody>
                  <a:tcPr marL="91440" marR="91440" marT="45720" marB="45720" anchor="ctr">
                    <a:solidFill>
                      <a:srgbClr val="0B0F14"/>
                    </a:solidFill>
                  </a:tcPr>
                </a:tc>
              </a:tr>
              <a:tr h="667512">
                <a:tc>
                  <a:txBody>
                    <a:bodyPr lIns="171450" tIns="66675" rIns="171450" bIns="66675">
                      <a:noAutofit/>
                    </a:bodyPr>
                    <a:lstStyle/>
                    <a:p>
                      <a:pPr>
                        <a:defRPr sz="2100" b="0">
                          <a:solidFill>
                            <a:srgbClr val="F4F7FA"/>
                          </a:solidFill>
                          <a:latin typeface="Arial"/>
                          <a:ea typeface="Arial"/>
                          <a:cs typeface="Arial"/>
                        </a:defRPr>
                      </a:pPr>
                      <a:r>
                        <a:rPr sz="2100" b="0">
                          <a:solidFill>
                            <a:srgbClr val="F4F7FA"/>
                          </a:solidFill>
                          <a:latin typeface="Arial"/>
                          <a:ea typeface="Arial"/>
                          <a:cs typeface="Arial"/>
                        </a:rPr>
                        <a:t>Delivery feedback</a:t>
                      </a:r>
                    </a:p>
                  </a:txBody>
                  <a:tcPr marL="91440" marR="91440" marT="45720" marB="45720" anchor="ctr">
                    <a:solidFill>
                      <a:srgbClr val="0B0F14"/>
                    </a:solidFill>
                  </a:tcPr>
                </a:tc>
                <a:tc>
                  <a:txBody>
                    <a:bodyPr lIns="171450" tIns="66675" rIns="171450" bIns="66675">
                      <a:noAutofit/>
                    </a:bodyPr>
                    <a:lstStyle/>
                    <a:p>
                      <a:pPr>
                        <a:defRPr sz="2100" b="0">
                          <a:solidFill>
                            <a:srgbClr val="28C7F7"/>
                          </a:solidFill>
                          <a:latin typeface="Arial"/>
                          <a:ea typeface="Arial"/>
                          <a:cs typeface="Arial"/>
                        </a:defRPr>
                      </a:pPr>
                      <a:r>
                        <a:rPr sz="2100" b="0">
                          <a:solidFill>
                            <a:srgbClr val="28C7F7"/>
                          </a:solidFill>
                          <a:latin typeface="Arial"/>
                          <a:ea typeface="Arial"/>
                          <a:cs typeface="Arial"/>
                        </a:rPr>
                        <a:t>Outcome + incident feedback</a:t>
                      </a:r>
                    </a:p>
                  </a:txBody>
                  <a:tcPr marL="91440" marR="91440" marT="45720" marB="45720" anchor="ctr">
                    <a:solidFill>
                      <a:srgbClr val="0B0F14"/>
                    </a:solidFill>
                  </a:tcPr>
                </a:tc>
              </a:tr>
            </a:tbl>
          </a:graphicData>
        </a:graphic>
      </p:graphicFrame>
      <p:sp>
        <p:nvSpPr>
          <p:cNvPr id="7" name="">
            <a:extLst xmlns:a="http://schemas.openxmlformats.org/drawingml/2006/main">
              <a:ext uri="{FF2B5EF4-FFF2-40B4-BE49-F238E27FC236}">
                <a16:creationId xmlns:a16="http://schemas.microsoft.com/office/drawing/2014/main" id="{CE34AF63-3AA9-42F3-B48D-161CF23461AB}"/>
              </a:ext>
            </a:extLst>
          </p:cNvPr>
          <p:cNvSpPr>
            <a:spLocks xmlns:a="http://schemas.openxmlformats.org/drawingml/2006/main" noGrp="1"/>
          </p:cNvSpPr>
          <p:nvPr/>
        </p:nvSpPr>
        <p:spPr>
          <a:xfrm xmlns:a="http://schemas.openxmlformats.org/drawingml/2006/main">
            <a:off x="609905" y="5157216"/>
            <a:ext cx="109728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1800" b="1">
                <ns1:solidFill>
                  <ns1:srgbClr val="F5B61C"/>
                </ns1:solidFill>
                <ns1:latin typeface="Arial"/>
                <ns1:ea typeface="Arial"/>
                <ns1:cs typeface="Arial"/>
              </ns1:defRPr>
            </ns1:pPr>
            <ns1:r>
              <ns1:rPr sz="1800" b="1">
                <ns1:solidFill>
                  <ns1:srgbClr val="F5B61C"/>
                </ns1:solidFill>
                <ns1:latin typeface="Arial"/>
                <ns1:ea typeface="Arial"/>
                <ns1:cs typeface="Arial"/>
              </ns1:rPr>
              <ns1:t>SHARED DEPENDENCIES</ns1:t>
            </ns1:r>
          </ns1:p>
        </p:txBody>
      </p:sp>
      <p:sp>
        <p:nvSpPr>
          <p:cNvPr id="8" name="">
            <a:extLst xmlns:a="http://schemas.openxmlformats.org/drawingml/2006/main">
              <a:ext uri="{FF2B5EF4-FFF2-40B4-BE49-F238E27FC236}">
                <a16:creationId xmlns:a16="http://schemas.microsoft.com/office/drawing/2014/main" id="{3ED478DE-AF82-4005-8009-5B26A939291E}"/>
              </a:ext>
            </a:extLst>
          </p:cNvPr>
          <p:cNvSpPr>
            <a:spLocks xmlns:a="http://schemas.openxmlformats.org/drawingml/2006/main" noGrp="1"/>
          </p:cNvSpPr>
          <p:nvPr/>
        </p:nvSpPr>
        <p:spPr>
          <a:xfrm xmlns:a="http://schemas.openxmlformats.org/drawingml/2006/main">
            <a:off x="609905" y="5577840"/>
            <a:ext cx="109728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300" b="0">
                <ns2:solidFill>
                  <ns2:srgbClr val="F4F7FA"/>
                </ns2:solidFill>
                <ns2:latin typeface="Arial"/>
                <ns2:ea typeface="Arial"/>
                <ns2:cs typeface="Arial"/>
              </ns2:defRPr>
            </ns2:pPr>
            <ns2:r>
              <ns2:rPr sz="2300" b="0">
                <ns2:solidFill>
                  <ns2:srgbClr val="F4F7FA"/>
                </ns2:solidFill>
                <ns2:latin typeface="Arial"/>
                <ns2:ea typeface="Arial"/>
                <ns2:cs typeface="Arial"/>
              </ns2:rPr>
              <ns2:t>Knowledge · Decision rights · Time and capacity · Feedback</ns2:t>
            </ns2:r>
          </ns2:p>
        </p:txBody>
      </p:sp>
      <p:sp>
        <p:nvSpPr>
          <p:cNvPr id="18" name="">
            <a:extLst xmlns:a="http://schemas.openxmlformats.org/drawingml/2006/main">
              <a:ext uri="{FF2B5EF4-FFF2-40B4-BE49-F238E27FC236}">
                <a16:creationId xmlns:a16="http://schemas.microsoft.com/office/drawing/2014/main" id="{AD4DB840-6821-4523-B67F-74E0B7CFE352}"/>
              </a:ext>
            </a:extLst>
          </p:cNvPr>
          <p:cNvSpPr>
            <a:spLocks xmlns:a="http://schemas.openxmlformats.org/drawingml/2006/main" noGrp="1"/>
          </p:cNvSpPr>
          <p:nvPr/>
        </p:nvSpPr>
        <p:spPr>
          <a:xfrm xmlns:a="http://schemas.openxmlformats.org/drawingml/2006/main">
            <a:off x="609905" y="6345936"/>
            <a:ext cx="1065276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1700" b="0">
                <ns2:solidFill>
                  <ns2:srgbClr val="ADB8C5"/>
                </ns2:solidFill>
                <ns2:latin typeface="Arial"/>
                <ns2:ea typeface="Arial"/>
                <ns2:cs typeface="Arial"/>
              </ns2:defRPr>
            </ns2:pPr>
            <ns2:r>
              <ns2:rPr sz="1700" b="0">
                <ns2:solidFill>
                  <ns2:srgbClr val="ADB8C5"/>
                </ns2:solidFill>
                <ns2:latin typeface="Arial"/>
                <ns2:ea typeface="Arial"/>
                <ns2:cs typeface="Arial"/>
              </ns2:rPr>
              <ns2:t>People need the expertise, decision rights and capacity to intervene.</ns2:t>
            </ns2:r>
          </ns2:p>
        </p:txBody>
      </p:sp>
    </p:spTree>
    <p:extLst>
      <p:ext uri="{BB962C8B-B14F-4D97-AF65-F5344CB8AC3E}">
        <p14:creationId xmlns:p14="http://schemas.microsoft.com/office/powerpoint/2010/main" val="553218717"/>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70182DE-530E-46E1-A769-307D97B3E529}"/>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Engineering Rigor Moves —</a:t>
            </a:r>
          </a:p>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It Doesn’t Disappear</a:t>
            </a:r>
          </a:p>
        </p:txBody>
      </p:sp>
      <p:sp>
        <p:nvSpPr>
          <p:cNvPr id="2" name="">
            <a:extLst xmlns:a="http://schemas.openxmlformats.org/drawingml/2006/main">
              <a:ext uri="{FF2B5EF4-FFF2-40B4-BE49-F238E27FC236}">
                <a16:creationId xmlns:a16="http://schemas.microsoft.com/office/drawing/2014/main" id="{809C3BD0-D33A-47CD-AFEC-A63F6DFBC99F}"/>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3FF54B52-FD18-4D14-938F-A25C3104C4C1}"/>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06453C83-A82F-42D2-9144-A43D3BA6316E}"/>
              </a:ext>
            </a:extLst>
          </p:cNvPr>
          <p:cNvSpPr>
            <a:spLocks xmlns:a="http://schemas.openxmlformats.org/drawingml/2006/main" noGrp="1"/>
          </p:cNvSpPr>
          <p:nvPr/>
        </p:nvSpPr>
        <p:spPr>
          <a:xfrm xmlns:a="http://schemas.openxmlformats.org/drawingml/2006/main">
            <a:off x="609905" y="1773936"/>
            <a:ext cx="109728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0:p xmlns:ns0="http://schemas.openxmlformats.org/drawingml/2006/main">
            <ns0:pPr algn="l">
              <ns0:defRPr sz="1800" b="1">
                <ns0:solidFill>
                  <ns0:srgbClr val="28C7F7"/>
                </ns0:solidFill>
                <ns0:latin typeface="Arial"/>
                <ns0:ea typeface="Arial"/>
                <ns0:cs typeface="Arial"/>
              </ns0:defRPr>
            </ns0:pPr>
            <ns0:r>
              <ns0:rPr sz="1800" b="1">
                <ns0:solidFill>
                  <ns0:srgbClr val="28C7F7"/>
                </ns0:solidFill>
                <ns0:latin typeface="Arial"/>
                <ns0:ea typeface="Arial"/>
                <ns0:cs typeface="Arial"/>
              </ns0:rPr>
              <ns0:t>QUESTIONS FOR A WORKING HYPOTHESIS</ns0:t>
            </ns0:r>
          </ns0:p>
        </p:txBody>
      </p:sp>
      <p:sp>
        <p:nvSpPr>
          <p:cNvPr id="25" name="">
            <a:extLst xmlns:a="http://schemas.openxmlformats.org/drawingml/2006/main">
              <a:ext uri="{FF2B5EF4-FFF2-40B4-BE49-F238E27FC236}">
                <a16:creationId xmlns:a16="http://schemas.microsoft.com/office/drawing/2014/main" id="{E3ADD602-0879-482D-BBCB-CC4002E57463}"/>
              </a:ext>
            </a:extLst>
          </p:cNvPr>
          <p:cNvSpPr>
            <a:spLocks xmlns:a="http://schemas.openxmlformats.org/drawingml/2006/main" noGrp="1"/>
          </p:cNvSpPr>
          <p:nvPr/>
        </p:nvSpPr>
        <p:spPr>
          <a:xfrm xmlns:a="http://schemas.openxmlformats.org/drawingml/2006/main">
            <a:off x="609905" y="2487168"/>
            <a:ext cx="109728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1:p xmlns:ns1="http://schemas.openxmlformats.org/drawingml/2006/main">
            <ns1:pPr algn="l">
              <ns1:defRPr sz="2800" b="0">
                <ns1:solidFill>
                  <ns1:srgbClr val="F4F7FA"/>
                </ns1:solidFill>
                <ns1:latin typeface="Arial"/>
                <ns1:ea typeface="Arial"/>
                <ns1:cs typeface="Arial"/>
              </ns1:defRPr>
            </ns1:pPr>
            <ns1:r>
              <ns1:rPr sz="2800" b="0">
                <ns1:solidFill>
                  <ns1:srgbClr val="F4F7FA"/>
                </ns1:solidFill>
                <ns1:latin typeface="Arial"/>
                <ns1:ea typeface="Arial"/>
                <ns1:cs typeface="Arial"/>
              </ns1:rPr>
              <ns1:t>Which imbalance does this approach address?</ns1:t>
            </ns1:r>
          </ns1:p>
        </p:txBody>
      </p:sp>
      <p:sp>
        <p:nvSpPr>
          <p:cNvPr id="27" name="">
            <a:extLst xmlns:a="http://schemas.openxmlformats.org/drawingml/2006/main">
              <a:ext uri="{FF2B5EF4-FFF2-40B4-BE49-F238E27FC236}">
                <a16:creationId xmlns:a16="http://schemas.microsoft.com/office/drawing/2014/main" id="{66169787-6371-45E6-8F30-594FDC4D97BF}"/>
              </a:ext>
            </a:extLst>
          </p:cNvPr>
          <p:cNvSpPr>
            <a:spLocks xmlns:a="http://schemas.openxmlformats.org/drawingml/2006/main" noGrp="1"/>
          </p:cNvSpPr>
          <p:nvPr/>
        </p:nvSpPr>
        <p:spPr>
          <a:xfrm xmlns:a="http://schemas.openxmlformats.org/drawingml/2006/main">
            <a:off x="609905" y="3300984"/>
            <a:ext cx="109728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l">
              <ns2:defRPr sz="2800" b="0">
                <ns2:solidFill>
                  <ns2:srgbClr val="F4F7FA"/>
                </ns2:solidFill>
                <ns2:latin typeface="Arial"/>
                <ns2:ea typeface="Arial"/>
                <ns2:cs typeface="Arial"/>
              </ns2:defRPr>
            </ns2:pPr>
            <ns2:r>
              <ns2:rPr sz="2800" b="0">
                <ns2:solidFill>
                  <ns2:srgbClr val="F4F7FA"/>
                </ns2:solidFill>
                <ns2:latin typeface="Arial"/>
                <ns2:ea typeface="Arial"/>
                <ns2:cs typeface="Arial"/>
              </ns2:rPr>
              <ns2:t>By what mechanism should it improve the whole system?</ns2:t>
            </ns2:r>
          </ns2:p>
        </p:txBody>
      </p:sp>
      <p:sp>
        <p:nvSpPr>
          <p:cNvPr id="29" name="">
            <a:extLst xmlns:a="http://schemas.openxmlformats.org/drawingml/2006/main">
              <a:ext uri="{FF2B5EF4-FFF2-40B4-BE49-F238E27FC236}">
                <a16:creationId xmlns:a16="http://schemas.microsoft.com/office/drawing/2014/main" id="{6D363AF3-EF7A-45A2-96AB-271BCD1373BD}"/>
              </a:ext>
            </a:extLst>
          </p:cNvPr>
          <p:cNvSpPr>
            <a:spLocks xmlns:a="http://schemas.openxmlformats.org/drawingml/2006/main" noGrp="1"/>
          </p:cNvSpPr>
          <p:nvPr/>
        </p:nvSpPr>
        <p:spPr>
          <a:xfrm xmlns:a="http://schemas.openxmlformats.org/drawingml/2006/main">
            <a:off x="609905" y="4114800"/>
            <a:ext cx="1097280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l">
              <ns3:defRPr sz="2800" b="0">
                <ns3:solidFill>
                  <ns3:srgbClr val="F4F7FA"/>
                </ns3:solidFill>
                <ns3:latin typeface="Arial"/>
                <ns3:ea typeface="Arial"/>
                <ns3:cs typeface="Arial"/>
              </ns3:defRPr>
            </ns3:pPr>
            <ns3:r>
              <ns3:rPr sz="2800" b="0">
                <ns3:solidFill>
                  <ns3:srgbClr val="F4F7FA"/>
                </ns3:solidFill>
                <ns3:latin typeface="Arial"/>
                <ns3:ea typeface="Arial"/>
                <ns3:cs typeface="Arial"/>
              </ns3:rPr>
              <ns3:t>What evidence would demonstrate that improvement?</ns3:t>
            </ns3:r>
          </ns3:p>
        </p:txBody>
      </p:sp>
      <p:sp>
        <p:nvSpPr>
          <p:cNvPr id="31" name="">
            <a:extLst xmlns:a="http://schemas.openxmlformats.org/drawingml/2006/main">
              <a:ext uri="{FF2B5EF4-FFF2-40B4-BE49-F238E27FC236}">
                <a16:creationId xmlns:a16="http://schemas.microsoft.com/office/drawing/2014/main" id="{12433076-78FC-4165-A25B-ADAD3BBBFD75}"/>
              </a:ext>
            </a:extLst>
          </p:cNvPr>
          <p:cNvSpPr>
            <a:spLocks xmlns:a="http://schemas.openxmlformats.org/drawingml/2006/main" noGrp="1"/>
          </p:cNvSpPr>
          <p:nvPr/>
        </p:nvSpPr>
        <p:spPr>
          <a:xfrm xmlns:a="http://schemas.openxmlformats.org/drawingml/2006/main">
            <a:off x="609905" y="4937760"/>
            <a:ext cx="1097280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4:p xmlns:ns4="http://schemas.openxmlformats.org/drawingml/2006/main">
            <ns4:pPr algn="l">
              <ns4:defRPr sz="2800" b="0">
                <ns4:solidFill>
                  <ns4:srgbClr val="F4F7FA"/>
                </ns4:solidFill>
                <ns4:latin typeface="Arial"/>
                <ns4:ea typeface="Arial"/>
                <ns4:cs typeface="Arial"/>
              </ns4:defRPr>
            </ns4:pPr>
            <ns4:r>
              <ns4:rPr sz="2800" b="0">
                <ns4:solidFill>
                  <ns4:srgbClr val="F4F7FA"/>
                </ns4:solidFill>
                <ns4:latin typeface="Arial"/>
                <ns4:ea typeface="Arial"/>
                <ns4:cs typeface="Arial"/>
              </ns4:rPr>
              <ns4:t>What would make us revise the hypothesis</ns4:t>
            </ns4:r>
          </ns4:p>
          <ns5:p xmlns:ns5="http://schemas.openxmlformats.org/drawingml/2006/main">
            <ns5:pPr algn="l">
              <ns5:defRPr sz="2800" b="0">
                <ns5:solidFill>
                  <ns5:srgbClr val="F4F7FA"/>
                </ns5:solidFill>
                <ns5:latin typeface="Arial"/>
                <ns5:ea typeface="Arial"/>
                <ns5:cs typeface="Arial"/>
              </ns5:defRPr>
            </ns5:pPr>
            <ns5:r>
              <ns5:rPr sz="2800" b="0">
                <ns5:solidFill>
                  <ns5:srgbClr val="F4F7FA"/>
                </ns5:solidFill>
                <ns5:latin typeface="Arial"/>
                <ns5:ea typeface="Arial"/>
                <ns5:cs typeface="Arial"/>
              </ns5:rPr>
              <ns5:t>or change what we delegate?</ns5:t>
            </ns5:r>
          </ns5:p>
        </p:txBody>
      </p:sp>
      <p:sp>
        <p:nvSpPr>
          <p:cNvPr id="42" name="">
            <a:extLst xmlns:a="http://schemas.openxmlformats.org/drawingml/2006/main">
              <a:ext uri="{FF2B5EF4-FFF2-40B4-BE49-F238E27FC236}">
                <a16:creationId xmlns:a16="http://schemas.microsoft.com/office/drawing/2014/main" id="{F8660A65-DBF8-4C32-94F5-81D3AE131B96}"/>
              </a:ext>
            </a:extLst>
          </p:cNvPr>
          <p:cNvSpPr>
            <a:spLocks xmlns:a="http://schemas.openxmlformats.org/drawingml/2006/main" noGrp="1"/>
          </p:cNvSpPr>
          <p:nvPr/>
        </p:nvSpPr>
        <p:spPr>
          <a:xfrm xmlns:a="http://schemas.openxmlformats.org/drawingml/2006/main">
            <a:off x="609905" y="6382512"/>
            <a:ext cx="10652760"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1:p xmlns:ns21="http://schemas.openxmlformats.org/drawingml/2006/main">
            <ns21:pPr algn="l">
              <ns21:defRPr sz="1800" b="1">
                <ns21:solidFill>
                  <ns21:srgbClr val="28C7F7"/>
                </ns21:solidFill>
                <ns21:latin typeface="Arial"/>
                <ns21:ea typeface="Arial"/>
                <ns21:cs typeface="Arial"/>
              </ns21:defRPr>
            </ns21:pPr>
            <ns21:r>
              <ns21:rPr sz="1800" b="1">
                <ns21:solidFill>
                  <ns21:srgbClr val="28C7F7"/>
                </ns21:solidFill>
                <ns21:latin typeface="Arial"/>
                <ns21:ea typeface="Arial"/>
                <ns21:cs typeface="Arial"/>
              </ns21:rPr>
              <ns21:t>More capability still requires engineering responsibility.</ns21:t>
            </ns21:r>
          </ns21:p>
        </p:txBody>
      </p:sp>
    </p:spTree>
    <p:extLst>
      <p:ext uri="{BB962C8B-B14F-4D97-AF65-F5344CB8AC3E}">
        <p14:creationId xmlns:p14="http://schemas.microsoft.com/office/powerpoint/2010/main" val="48240125"/>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22D4994-5BB9-45EF-AFFE-3A5A43E81545}"/>
              </a:ext>
            </a:extLst>
          </p:cNvPr>
          <p:cNvSpPr>
            <a:spLocks xmlns:a="http://schemas.openxmlformats.org/drawingml/2006/main" noGrp="1"/>
          </p:cNvSpPr>
          <p:nvPr/>
        </p:nvSpPr>
        <p:spPr>
          <a:xfrm xmlns:a="http://schemas.openxmlformats.org/drawingml/2006/main">
            <a:off x="609600" y="323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4F7FA"/>
                </a:solidFill>
                <a:latin typeface="Arial"/>
                <a:ea typeface="Arial"/>
                <a:cs typeface="Arial"/>
              </a:defRPr>
            </a:pPr>
            <a:r>
              <a:rPr sz="3000" b="1">
                <a:solidFill>
                  <a:srgbClr val="F4F7FA"/>
                </a:solidFill>
                <a:latin typeface="Arial"/>
                <a:ea typeface="Arial"/>
                <a:cs typeface="Arial"/>
              </a:rPr>
              <a:t>Continue the Conversation</a:t>
            </a:r>
          </a:p>
        </p:txBody>
      </p:sp>
      <p:sp>
        <p:nvSpPr>
          <p:cNvPr id="2" name="">
            <a:extLst xmlns:a="http://schemas.openxmlformats.org/drawingml/2006/main">
              <a:ext uri="{FF2B5EF4-FFF2-40B4-BE49-F238E27FC236}">
                <a16:creationId xmlns:a16="http://schemas.microsoft.com/office/drawing/2014/main" id="{DA8479BD-1E68-4753-9355-3C00FEF0571B}"/>
              </a:ext>
            </a:extLst>
          </p:cNvPr>
          <p:cNvSpPr>
            <a:spLocks xmlns:a="http://schemas.openxmlformats.org/drawingml/2006/main" noGrp="1"/>
          </p:cNvSpPr>
          <p:nvPr/>
        </p:nvSpPr>
        <p:spPr>
          <a:xfrm xmlns:a="http://schemas.openxmlformats.org/drawingml/2006/main" flipH="0" flipV="0">
            <a:off x="609600" y="1524000"/>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3" name="">
            <a:extLst xmlns:a="http://schemas.openxmlformats.org/drawingml/2006/main">
              <a:ext uri="{FF2B5EF4-FFF2-40B4-BE49-F238E27FC236}">
                <a16:creationId xmlns:a16="http://schemas.microsoft.com/office/drawing/2014/main" id="{B1EB4E2C-8CC5-4308-B10C-F8DF93C928C9}"/>
              </a:ext>
            </a:extLst>
          </p:cNvPr>
          <p:cNvSpPr>
            <a:spLocks xmlns:a="http://schemas.openxmlformats.org/drawingml/2006/main" noGrp="1"/>
          </p:cNvSpPr>
          <p:nvPr/>
        </p:nvSpPr>
        <p:spPr>
          <a:xfrm xmlns:a="http://schemas.openxmlformats.org/drawingml/2006/main">
            <a:off x="11239500" y="6572250"/>
            <a:ext cx="342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DB8C5"/>
                </a:solidFill>
                <a:latin typeface="Arial"/>
                <a:ea typeface="Arial"/>
                <a:cs typeface="Arial"/>
              </a:defRPr>
            </a:pPr>
            <a:r>
              <a:rPr sz="1200" b="0">
                <a:solidFill>
                  <a:srgbClr val="ADB8C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2EF4D987-4D33-4C15-A7CA-E836FF277D83}"/>
              </a:ext>
            </a:extLst>
          </p:cNvPr>
          <p:cNvSpPr>
            <a:spLocks xmlns:a="http://schemas.openxmlformats.org/drawingml/2006/main" noGrp="1"/>
          </p:cNvSpPr>
          <p:nvPr/>
        </p:nvSpPr>
        <p:spPr>
          <a:xfrm xmlns:a="http://schemas.openxmlformats.org/drawingml/2006/main">
            <a:off x="609905" y="5074920"/>
            <a:ext cx="109728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2:p xmlns:ns2="http://schemas.openxmlformats.org/drawingml/2006/main">
            <ns2:pPr algn="ctr">
              <ns2:defRPr sz="3000" b="1">
                <ns2:solidFill>
                  <ns2:srgbClr val="28C7F7"/>
                </ns2:solidFill>
                <ns2:latin typeface="Arial"/>
                <ns2:ea typeface="Arial"/>
                <ns2:cs typeface="Arial"/>
              </ns2:defRPr>
            </ns2:pPr>
            <ns2:r>
              <ns2:rPr sz="3000" b="1">
                <ns2:solidFill>
                  <ns2:srgbClr val="28C7F7"/>
                </ns2:solidFill>
                <ns2:latin typeface="Arial"/>
                <ns2:ea typeface="Arial"/>
                <ns2:cs typeface="Arial"/>
              </ns2:rPr>
              <ns2:t>vitaliioborskyi.ai</ns2:t>
            </ns2:r>
          </ns2:p>
        </p:txBody>
      </p:sp>
      <p:sp>
        <p:nvSpPr>
          <p:cNvPr id="6" name="">
            <a:extLst xmlns:a="http://schemas.openxmlformats.org/drawingml/2006/main">
              <a:ext uri="{FF2B5EF4-FFF2-40B4-BE49-F238E27FC236}">
                <a16:creationId xmlns:a16="http://schemas.microsoft.com/office/drawing/2014/main" id="{6C8F24D6-3C08-42B7-9DE3-C7A27327DE83}"/>
              </a:ext>
            </a:extLst>
          </p:cNvPr>
          <p:cNvSpPr>
            <a:spLocks xmlns:a="http://schemas.openxmlformats.org/drawingml/2006/main" noGrp="1"/>
          </p:cNvSpPr>
          <p:nvPr/>
        </p:nvSpPr>
        <p:spPr>
          <a:xfrm xmlns:a="http://schemas.openxmlformats.org/drawingml/2006/main">
            <a:off x="609905" y="5724144"/>
            <a:ext cx="109728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ns3:p xmlns:ns3="http://schemas.openxmlformats.org/drawingml/2006/main">
            <ns3:pPr algn="ctr">
              <ns3:defRPr sz="2100" b="0">
                <ns3:solidFill>
                  <ns3:srgbClr val="F4F7FA"/>
                </ns3:solidFill>
                <ns3:latin typeface="Arial"/>
                <ns3:ea typeface="Arial"/>
                <ns3:cs typeface="Arial"/>
              </ns3:defRPr>
            </ns3:pPr>
            <ns3:r>
              <ns3:rPr sz="2100" b="0">
                <ns3:solidFill>
                  <ns3:srgbClr val="F4F7FA"/>
                </ns3:solidFill>
                <ns3:latin typeface="Arial"/>
                <ns3:ea typeface="Arial"/>
                <ns3:cs typeface="Arial"/>
              </ns3:rPr>
              <ns3:t>Research · Articles · Talks</ns3:t>
            </ns3:r>
          </ns3:p>
        </p:txBody>
      </p:sp>
      <p:pic>
        <p:nvPicPr>
          <p:cNvPr id="27" name="" descr="QR code to https://vitaliioborskyi.ai/">
            <ns0:hlinkClick xmlns:ns0="http://schemas.openxmlformats.org/drawingml/2006/main" xmlns:ns1="http://schemas.openxmlformats.org/officeDocument/2006/relationships" ns1:id="rIdDevconWebsite"/>
          </p:cNvPr>
          <p:cNvPicPr>
            <a:picLocks xmlns:a="http://schemas.openxmlformats.org/drawingml/2006/main" noChangeAspect="1"/>
          </p:cNvPicPr>
          <p:nvPr/>
        </p:nvPicPr>
        <p:blipFill>
          <a:blip xmlns:r="http://schemas.openxmlformats.org/officeDocument/2006/relationships" xmlns:a="http://schemas.openxmlformats.org/drawingml/2006/main" r:embed="rIdDevconWebsiteQr"/>
          <a:stretch xmlns:a="http://schemas.openxmlformats.org/drawingml/2006/main"/>
        </p:blipFill>
        <p:spPr>
          <a:xfrm xmlns:a="http://schemas.openxmlformats.org/drawingml/2006/main">
            <a:off x="4610405" y="1828800"/>
            <a:ext cx="2971800" cy="29718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1B9CDE1-C775-423E-917C-B094A8C52CA8}"/>
              </a:ext>
            </a:extLst>
          </p:cNvPr>
          <p:cNvSpPr>
            <a:spLocks xmlns:a="http://schemas.openxmlformats.org/drawingml/2006/main" noGrp="1"/>
          </p:cNvSpPr>
          <p:nvPr/>
        </p:nvSpPr>
        <p:spPr>
          <a:xfrm xmlns:a="http://schemas.openxmlformats.org/drawingml/2006/main" flipH="0" flipV="0">
            <a:off x="609600" y="6219825"/>
            <a:ext cx="10972800" cy="0"/>
          </a:xfrm>
          <a:prstGeom xmlns:a="http://schemas.openxmlformats.org/drawingml/2006/main" prst="line">
            <a:avLst/>
          </a:prstGeom>
          <a:noFill xmlns:a="http://schemas.openxmlformats.org/drawingml/2006/main"/>
          <a:ln xmlns:a="http://schemas.openxmlformats.org/drawingml/2006/main" w="19050">
            <a:solidFill>
              <a:srgbClr val="344454"/>
            </a:solidFill>
            <a:prstDash val="solid"/>
          </a:ln>
        </p:spPr>
      </p:sp>
      <p:sp>
        <p:nvSpPr>
          <p:cNvPr id="18" name="">
            <a:extLst xmlns:a="http://schemas.openxmlformats.org/drawingml/2006/main">
              <a:ext uri="{FF2B5EF4-FFF2-40B4-BE49-F238E27FC236}">
                <a16:creationId xmlns:a16="http://schemas.microsoft.com/office/drawing/2014/main" id="{63625B3D-CEFC-4685-A7A7-2427885A1D0C}"/>
              </a:ext>
            </a:extLst>
          </p:cNvPr>
          <p:cNvSpPr>
            <a:spLocks xmlns:a="http://schemas.openxmlformats.org/drawingml/2006/main" noGrp="1"/>
          </p:cNvSpPr>
          <p:nvPr/>
        </p:nvSpPr>
        <p:spPr>
          <a:xfrm xmlns:a="http://schemas.openxmlformats.org/drawingml/2006/main">
            <a:off x="609600" y="6353175"/>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4F7FA"/>
                </a:solidFill>
                <a:latin typeface="Arial"/>
                <a:ea typeface="Arial"/>
                <a:cs typeface="Arial"/>
              </a:defRPr>
            </a:pPr>
            <a:r>
              <a:rPr sz="1575" b="1">
                <a:solidFill>
                  <a:srgbClr val="F4F7FA"/>
                </a:solidFill>
                <a:latin typeface="Arial"/>
                <a:ea typeface="Arial"/>
                <a:cs typeface="Arial"/>
              </a:rPr>
              <a:t>Vitalii Oborskyi</a:t>
            </a:r>
          </a:p>
        </p:txBody>
      </p:sp>
      <p:sp>
        <p:nvSpPr>
          <p:cNvPr id="19" name="">
            <a:extLst xmlns:a="http://schemas.openxmlformats.org/drawingml/2006/main">
              <a:ext uri="{FF2B5EF4-FFF2-40B4-BE49-F238E27FC236}">
                <a16:creationId xmlns:a16="http://schemas.microsoft.com/office/drawing/2014/main" id="{305933A6-58D7-4A58-A021-6150F51AC716}"/>
              </a:ext>
            </a:extLst>
          </p:cNvPr>
          <p:cNvSpPr>
            <a:spLocks xmlns:a="http://schemas.openxmlformats.org/drawingml/2006/main" noGrp="1"/>
          </p:cNvSpPr>
          <p:nvPr/>
        </p:nvSpPr>
        <p:spPr>
          <a:xfrm xmlns:a="http://schemas.openxmlformats.org/drawingml/2006/main">
            <a:off x="3000375" y="63531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8C7F7"/>
                </a:solidFill>
                <a:latin typeface="Arial"/>
                <a:ea typeface="Arial"/>
                <a:cs typeface="Arial"/>
              </a:defRPr>
            </a:pPr>
            <a:r>
              <a:rPr sz="1350" b="0">
                <a:solidFill>
                  <a:srgbClr val="28C7F7"/>
                </a:solidFill>
                <a:latin typeface="Arial"/>
                <a:ea typeface="Arial"/>
                <a:cs typeface="Arial"/>
                <a:hlinkClick xmlns:r="http://schemas.openxmlformats.org/officeDocument/2006/relationships" r:id="Raeb7bbae3b19404f"/>
              </a:rPr>
              <a:t>oborskyivitalii@gmail.com</a:t>
            </a:r>
          </a:p>
        </p:txBody>
      </p:sp>
      <p:sp>
        <p:nvSpPr>
          <p:cNvPr id="20" name="">
            <a:extLst xmlns:a="http://schemas.openxmlformats.org/drawingml/2006/main">
              <a:ext uri="{FF2B5EF4-FFF2-40B4-BE49-F238E27FC236}">
                <a16:creationId xmlns:a16="http://schemas.microsoft.com/office/drawing/2014/main" id="{A839D3FE-64D5-45D8-B2DD-43186EF6E9F0}"/>
              </a:ext>
            </a:extLst>
          </p:cNvPr>
          <p:cNvSpPr>
            <a:spLocks xmlns:a="http://schemas.openxmlformats.org/drawingml/2006/main" noGrp="1"/>
          </p:cNvSpPr>
          <p:nvPr/>
        </p:nvSpPr>
        <p:spPr>
          <a:xfrm xmlns:a="http://schemas.openxmlformats.org/drawingml/2006/main">
            <a:off x="6438900" y="6353175"/>
            <a:ext cx="4552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28C7F7"/>
                </a:solidFill>
                <a:latin typeface="Arial"/>
                <a:ea typeface="Arial"/>
                <a:cs typeface="Arial"/>
              </a:defRPr>
            </a:pPr>
            <a:r>
              <a:rPr sz="1275" b="0">
                <a:solidFill>
                  <a:srgbClr val="28C7F7"/>
                </a:solidFill>
                <a:latin typeface="Arial"/>
                <a:ea typeface="Arial"/>
                <a:cs typeface="Arial"/>
                <a:hlinkClick xmlns:r="http://schemas.openxmlformats.org/officeDocument/2006/relationships" r:id="R9df8d43fee184339"/>
              </a:rPr>
              <a:t>https://www.linkedin.com/in/vitaliioborskyi/</a:t>
            </a:r>
          </a:p>
        </p:txBody>
      </p:sp>
    </p:spTree>
    <p:extLst>
      <p:ext uri="{BB962C8B-B14F-4D97-AF65-F5344CB8AC3E}">
        <p14:creationId xmlns:p14="http://schemas.microsoft.com/office/powerpoint/2010/main" val="1796911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9</ap:Slides>
  <ap:Notes>9</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2026-10-01T11:27:35.0340000Z</dcterms:created>
  <dcterms:modified xsi:type="dcterms:W3CDTF">2026-10-01T11:27:35.0340000Z</dcterms:modified>
</coreProperties>
</file>